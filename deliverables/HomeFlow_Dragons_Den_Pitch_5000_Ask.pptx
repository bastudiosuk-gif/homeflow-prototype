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afe1a9b7924aca" /><Relationship Type="http://schemas.openxmlformats.org/officeDocument/2006/relationships/extended-properties" Target="/docProps/app.xml" Id="R1c6647acd6534751" /><Relationship Type="http://schemas.openxmlformats.org/officeDocument/2006/relationships/officeDocument" Target="/ppt/presentation.xml" Id="R63d46e5835744d8c" /></Relationships>
</file>

<file path=ppt/presentation.xml><?xml version="1.0" encoding="utf-8"?>
<p:presentation xmlns:p="http://schemas.openxmlformats.org/presentationml/2006/main">
  <p:sldMasterIdLst>
    <p:sldMasterId xmlns:r="http://schemas.openxmlformats.org/officeDocument/2006/relationships" id="2147483648" r:id="R2d851b32582b4ce3"/>
  </p:sldMasterIdLst>
  <p:notesMasterIdLst>
    <p:notesMasterId xmlns:r="http://schemas.openxmlformats.org/officeDocument/2006/relationships" r:id="R709e6f53adda4123"/>
  </p:notesMasterIdLst>
  <p:sldIdLst>
    <p:sldId xmlns:r="http://schemas.openxmlformats.org/officeDocument/2006/relationships" id="256" r:id="Ra6f727b020744d30"/>
    <p:sldId xmlns:r="http://schemas.openxmlformats.org/officeDocument/2006/relationships" id="257" r:id="R2d0ec1f9035b4c57"/>
    <p:sldId xmlns:r="http://schemas.openxmlformats.org/officeDocument/2006/relationships" id="258" r:id="R0728823ffeef4291"/>
    <p:sldId xmlns:r="http://schemas.openxmlformats.org/officeDocument/2006/relationships" id="259" r:id="R95d5865494ab48b5"/>
    <p:sldId xmlns:r="http://schemas.openxmlformats.org/officeDocument/2006/relationships" id="260" r:id="Rf6ce06de4d5d42fc"/>
    <p:sldId xmlns:r="http://schemas.openxmlformats.org/officeDocument/2006/relationships" id="261" r:id="R2ee01fecfe4c4d99"/>
    <p:sldId xmlns:r="http://schemas.openxmlformats.org/officeDocument/2006/relationships" id="262" r:id="R0e91a236afa441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bc2783fd0a45d0" /><Relationship Type="http://schemas.openxmlformats.org/officeDocument/2006/relationships/slideMaster" Target="/ppt/slideMasters/slideMaster1.xml" Id="R2d851b32582b4ce3" /><Relationship Type="http://schemas.openxmlformats.org/officeDocument/2006/relationships/notesMaster" Target="/ppt/notesMasters/notesMaster1.xml" Id="R709e6f53adda4123" /><Relationship Type="http://schemas.openxmlformats.org/officeDocument/2006/relationships/presProps" Target="/ppt/presProps.xml" Id="Rce71121f3ccd4c67" /><Relationship Type="http://schemas.openxmlformats.org/officeDocument/2006/relationships/tableStyles" Target="/ppt/tableStyles.xml" Id="R7b0579a56cc84693" /><Relationship Type="http://schemas.openxmlformats.org/officeDocument/2006/relationships/slide" Target="/ppt/slides/slide1.xml" Id="Ra6f727b020744d30" /><Relationship Type="http://schemas.openxmlformats.org/officeDocument/2006/relationships/slide" Target="/ppt/slides/slide2.xml" Id="R2d0ec1f9035b4c57" /><Relationship Type="http://schemas.openxmlformats.org/officeDocument/2006/relationships/slide" Target="/ppt/slides/slide3.xml" Id="R0728823ffeef4291" /><Relationship Type="http://schemas.openxmlformats.org/officeDocument/2006/relationships/slide" Target="/ppt/slides/slide4.xml" Id="R95d5865494ab48b5" /><Relationship Type="http://schemas.openxmlformats.org/officeDocument/2006/relationships/slide" Target="/ppt/slides/slide5.xml" Id="Rf6ce06de4d5d42fc" /><Relationship Type="http://schemas.openxmlformats.org/officeDocument/2006/relationships/slide" Target="/ppt/slides/slide6.xml" Id="R2ee01fecfe4c4d99" /><Relationship Type="http://schemas.openxmlformats.org/officeDocument/2006/relationships/slide" Target="/ppt/slides/slide7.xml" Id="R0e91a236afa441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15e993bfe648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ba99caa3124e40" /><Relationship Type="http://schemas.openxmlformats.org/officeDocument/2006/relationships/notesMaster" Target="/ppt/notesMasters/notesMaster1.xml" Id="R0e2c3779f61743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827538527a443a" /><Relationship Type="http://schemas.openxmlformats.org/officeDocument/2006/relationships/notesMaster" Target="/ppt/notesMasters/notesMaster1.xml" Id="Rfb3f320eaa0746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e86e4be4e046b5" /><Relationship Type="http://schemas.openxmlformats.org/officeDocument/2006/relationships/notesMaster" Target="/ppt/notesMasters/notesMaster1.xml" Id="R2ee757ea52574d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6f6f4f3bd143ff" /><Relationship Type="http://schemas.openxmlformats.org/officeDocument/2006/relationships/notesMaster" Target="/ppt/notesMasters/notesMaster1.xml" Id="R4f59102b96b847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d2da184949415e" /><Relationship Type="http://schemas.openxmlformats.org/officeDocument/2006/relationships/notesMaster" Target="/ppt/notesMasters/notesMaster1.xml" Id="Ra09ecd99f61c47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448d8034ec4b65" /><Relationship Type="http://schemas.openxmlformats.org/officeDocument/2006/relationships/notesMaster" Target="/ppt/notesMasters/notesMaster1.xml" Id="R61bf8dea002d48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9c0fff381147bf" /><Relationship Type="http://schemas.openxmlformats.org/officeDocument/2006/relationships/notesMaster" Target="/ppt/notesMasters/notesMaster1.xml" Id="R7092486129fb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HomeFlow focuses on a simple discharge problem. A patient can be medically ready, but the ward may still be waiting for medication, transport, equipment, or a family collection plan. HomeFlow proposes one clear coordination view so the patient, ward team and family prepare together. Everything shown is a prototype using fictional demonstration data. I am not presenting HomeFlow as an existing Trust product or claiming that these integrations already 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simply whether someone is medically fit. Discharge depends on several practical actions completing at the right time. A medication task can be overdue, transport may be booked for later, or the family may not know when to prepare. Teams already work hard to manage these details, but the information does not always appear together in one clear view. The Amber patient shown here illustrates the gap: we can see the barrier, owner, target time and family readiness together, rather than discovering each issue in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 is to create one shared coordination view around the discharge journey. Staff can see the current status, the main barrier, who owns the action, the deadline and whether the family can collect or needs support. HomeFlow should not ask teams to re-enter information that already exists in OPTICA or the patient record. Its genuinely new contribution is the family readiness signal and a simplified presentation that makes dependencies easier to act on. In the prototype, updating an action also changes the ward board and the separate ward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HomeFlow should build on capability already available to the Trust. TrakCare, PAS or the EPR can provide patient and ward information. OPTICA already supports discharge status, barriers, tasks and ownership. DrDoctor could potentially deliver approved patient or family messages, and Power BI or Microsoft Fabric could support evaluation. Those connections are proposals, not current HomeFlow integrations. Health Call and Northumbria Digital Services could advise on development and architecture, but their role would need formal agreement alongside Information Governance, clinical safety and supplier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Families often receive certainty only when the ward is almost ready. The HomeFlow concept introduces staged communication. An early message says discharge is likely, a second asks the family to prepare, and a final message confirms that the patient is ready for collection. The family can confirm or say they may need help, so the ward sees readiness before it becomes a delay. DrDoctor is a potential delivery route because it offers established communication capability, but inpatient discharge alerts and interactive responses would need workflow, consent, supplier and Trust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ward display is a separate, privacy-safe interface for a large monitor. It shows expected discharges, the current barrier, who owns it, the target time and family readiness. It deliberately avoids full patient names and uses fictional bed numbers and demo identifiers in this prototype. The display updates when the presenter changes a patient in the main app, so the team sees the same information without refreshing manually. In a real pilot, OPTICA could provide discharge status and barriers while HomeFlow contributes the family readiness signal, subject to technical and governance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funding request is £5,000 for a small HomeFlow pilot on one ward over eight to twelve weeks. This is an indicative budget rather than a supplier quote. I would allocate £2,000 to digital development and prototype configuration, £1,250 to staff release, training and user testing, £1,000 to evaluation, data analysis and quality improvement support, and £750 to governance, clinical safety work and contingency. We would use existing Trust technology wherever possible to keep the request proportionate. The pilot would measure discharge-ready to leaving time, delayed discharges, time of day, common barriers, family readiness and staff feedback. The aim is to establish whether HomeFlow creates enough operational value to justify a larger development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580f9e790849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18160afefe4751" /><Relationship Type="http://schemas.openxmlformats.org/officeDocument/2006/relationships/slideLayout" Target="/ppt/slideLayouts/slideLayout1.xml" Id="R77ccb5339d7844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ccb5339d7844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bd6f9e552f4290" /><Relationship Type="http://schemas.openxmlformats.org/officeDocument/2006/relationships/image" Target="/ppt/media/image.png" Id="R4268aeb4f55541f3" /><Relationship Type="http://schemas.openxmlformats.org/officeDocument/2006/relationships/notesSlide" Target="/ppt/notesSlides/notesSlide1.xml" Id="R02f3326b4b9444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8100936d894fb5" /><Relationship Type="http://schemas.openxmlformats.org/officeDocument/2006/relationships/image" Target="/ppt/media/image2.png" Id="Rbaea59a7aad444bb" /><Relationship Type="http://schemas.openxmlformats.org/officeDocument/2006/relationships/notesSlide" Target="/ppt/notesSlides/notesSlide2.xml" Id="Rfc6a9d8428d247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a4f065e8d14621" /><Relationship Type="http://schemas.openxmlformats.org/officeDocument/2006/relationships/image" Target="/ppt/media/image3.png" Id="Raec898cd52984ce3" /><Relationship Type="http://schemas.openxmlformats.org/officeDocument/2006/relationships/notesSlide" Target="/ppt/notesSlides/notesSlide3.xml" Id="R4277a4293ef24f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464c4374434f43" /><Relationship Type="http://schemas.openxmlformats.org/officeDocument/2006/relationships/image" Target="/ppt/media/image4.png" Id="Rc33f49e7c5344576" /><Relationship Type="http://schemas.openxmlformats.org/officeDocument/2006/relationships/notesSlide" Target="/ppt/notesSlides/notesSlide4.xml" Id="R1dd77f5962464c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10fafd1e3c4c99" /><Relationship Type="http://schemas.openxmlformats.org/officeDocument/2006/relationships/image" Target="/ppt/media/image5.png" Id="Re86532fa2a2f4735" /><Relationship Type="http://schemas.openxmlformats.org/officeDocument/2006/relationships/notesSlide" Target="/ppt/notesSlides/notesSlide5.xml" Id="Rec79ffd498da4d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39c794d79c486f" /><Relationship Type="http://schemas.openxmlformats.org/officeDocument/2006/relationships/image" Target="/ppt/media/image6.png" Id="R63a6e4b706504b3a" /><Relationship Type="http://schemas.openxmlformats.org/officeDocument/2006/relationships/notesSlide" Target="/ppt/notesSlides/notesSlide6.xml" Id="Rd760dd8da4a04c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3e6135740140f5" /><Relationship Type="http://schemas.openxmlformats.org/officeDocument/2006/relationships/image" Target="/ppt/media/image7.png" Id="Rda9e2abc89814cb6" /><Relationship Type="http://schemas.openxmlformats.org/officeDocument/2006/relationships/notesSlide" Target="/ppt/notesSlides/notesSlide7.xml" Id="R327eb7a6f8d84b78"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14A67D-0131-4A1E-B128-6C1626F96F14}"/>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1230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45980F-7711-41D6-8179-6CB3DD9F0A46}"/>
              </a:ext>
            </a:extLst>
          </p:cNvPr>
          <p:cNvSpPr>
            <a:spLocks xmlns:a="http://schemas.openxmlformats.org/drawingml/2006/main" noGrp="1"/>
          </p:cNvSpPr>
          <p:nvPr/>
        </p:nvSpPr>
        <p:spPr>
          <a:xfrm xmlns:a="http://schemas.openxmlformats.org/drawingml/2006/main">
            <a:off x="4953000" y="0"/>
            <a:ext cx="7239000" cy="6858000"/>
          </a:xfrm>
          <a:prstGeom xmlns:a="http://schemas.openxmlformats.org/drawingml/2006/main" prst="rect">
            <a:avLst/>
          </a:prstGeom>
          <a:solidFill xmlns:a="http://schemas.openxmlformats.org/drawingml/2006/main">
            <a:srgbClr val="F1F6F9"/>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268aeb4f55541f3"/>
          <a:srcRect xmlns:a="http://schemas.openxmlformats.org/drawingml/2006/main" l="6626" t="0" r="6626" b="0"/>
          <a:stretch xmlns:a="http://schemas.openxmlformats.org/drawingml/2006/main">
            <a:fillRect l="0" t="0" r="0" b="0"/>
          </a:stretch>
        </p:blipFill>
        <p:spPr>
          <a:xfrm xmlns:a="http://schemas.openxmlformats.org/drawingml/2006/main">
            <a:off x="5286375" y="514350"/>
            <a:ext cx="6619875" cy="5829300"/>
          </a:xfrm>
          <a:prstGeom xmlns:a="http://schemas.openxmlformats.org/drawingml/2006/main" prst="roundRect">
            <a:avLst>
              <a:gd name="adj" fmla="val 2941"/>
            </a:avLst>
          </a:prstGeom>
        </p:spPr>
      </p:pic>
      <p:sp>
        <p:nvSpPr>
          <p:cNvPr id="4" name="">
            <a:extLst xmlns:a="http://schemas.openxmlformats.org/drawingml/2006/main">
              <a:ext uri="{FF2B5EF4-FFF2-40B4-BE49-F238E27FC236}">
                <a16:creationId xmlns:a16="http://schemas.microsoft.com/office/drawing/2014/main" id="{2600F16D-1771-41E6-953F-182BD12FA2BF}"/>
              </a:ext>
            </a:extLst>
          </p:cNvPr>
          <p:cNvSpPr>
            <a:spLocks xmlns:a="http://schemas.openxmlformats.org/drawingml/2006/main" noGrp="1"/>
          </p:cNvSpPr>
          <p:nvPr/>
        </p:nvSpPr>
        <p:spPr>
          <a:xfrm xmlns:a="http://schemas.openxmlformats.org/drawingml/2006/main">
            <a:off x="552450" y="7810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9B7A0"/>
                </a:solidFill>
                <a:latin typeface="Arial"/>
                <a:ea typeface="Arial"/>
                <a:cs typeface="Arial"/>
              </a:defRPr>
            </a:pPr>
            <a:r>
              <a:rPr sz="1125" b="1">
                <a:solidFill>
                  <a:srgbClr val="39B7A0"/>
                </a:solidFill>
                <a:latin typeface="Arial"/>
                <a:ea typeface="Arial"/>
                <a:cs typeface="Arial"/>
              </a:rPr>
              <a:t>HOMEFLOW: REDUCING DISCHARGE DELAYS</a:t>
            </a:r>
          </a:p>
        </p:txBody>
      </p:sp>
      <p:sp>
        <p:nvSpPr>
          <p:cNvPr id="5" name="">
            <a:extLst xmlns:a="http://schemas.openxmlformats.org/drawingml/2006/main">
              <a:ext uri="{FF2B5EF4-FFF2-40B4-BE49-F238E27FC236}">
                <a16:creationId xmlns:a16="http://schemas.microsoft.com/office/drawing/2014/main" id="{ED901294-1D4B-47AE-9040-520736D41F5C}"/>
              </a:ext>
            </a:extLst>
          </p:cNvPr>
          <p:cNvSpPr>
            <a:spLocks xmlns:a="http://schemas.openxmlformats.org/drawingml/2006/main" noGrp="1"/>
          </p:cNvSpPr>
          <p:nvPr/>
        </p:nvSpPr>
        <p:spPr>
          <a:xfrm xmlns:a="http://schemas.openxmlformats.org/drawingml/2006/main">
            <a:off x="552450" y="1428750"/>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HomeFlow</a:t>
            </a:r>
          </a:p>
        </p:txBody>
      </p:sp>
      <p:sp>
        <p:nvSpPr>
          <p:cNvPr id="6" name="">
            <a:extLst xmlns:a="http://schemas.openxmlformats.org/drawingml/2006/main">
              <a:ext uri="{FF2B5EF4-FFF2-40B4-BE49-F238E27FC236}">
                <a16:creationId xmlns:a16="http://schemas.microsoft.com/office/drawing/2014/main" id="{A35394B2-DBBC-47DA-AFEB-5D58469B5ACD}"/>
              </a:ext>
            </a:extLst>
          </p:cNvPr>
          <p:cNvSpPr>
            <a:spLocks xmlns:a="http://schemas.openxmlformats.org/drawingml/2006/main" noGrp="1"/>
          </p:cNvSpPr>
          <p:nvPr/>
        </p:nvSpPr>
        <p:spPr>
          <a:xfrm xmlns:a="http://schemas.openxmlformats.org/drawingml/2006/main">
            <a:off x="552450" y="2343150"/>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Preparing the patient, the ward and the family for discharge</a:t>
            </a:r>
          </a:p>
        </p:txBody>
      </p:sp>
      <p:sp>
        <p:nvSpPr>
          <p:cNvPr id="7" name="">
            <a:extLst xmlns:a="http://schemas.openxmlformats.org/drawingml/2006/main">
              <a:ext uri="{FF2B5EF4-FFF2-40B4-BE49-F238E27FC236}">
                <a16:creationId xmlns:a16="http://schemas.microsoft.com/office/drawing/2014/main" id="{B4F3E7A7-A901-4CB9-A977-94FC075EDA24}"/>
              </a:ext>
            </a:extLst>
          </p:cNvPr>
          <p:cNvSpPr>
            <a:spLocks xmlns:a="http://schemas.openxmlformats.org/drawingml/2006/main" noGrp="1"/>
          </p:cNvSpPr>
          <p:nvPr/>
        </p:nvSpPr>
        <p:spPr>
          <a:xfrm xmlns:a="http://schemas.openxmlformats.org/drawingml/2006/main">
            <a:off x="552450" y="406717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4D9E6"/>
                </a:solidFill>
                <a:latin typeface="Arial"/>
                <a:ea typeface="Arial"/>
                <a:cs typeface="Arial"/>
              </a:defRPr>
            </a:pPr>
            <a:r>
              <a:rPr sz="1350" b="0">
                <a:solidFill>
                  <a:srgbClr val="C4D9E6"/>
                </a:solidFill>
                <a:latin typeface="Arial"/>
                <a:ea typeface="Arial"/>
                <a:cs typeface="Arial"/>
              </a:rPr>
              <a:t>A proposed coordination and family readiness layer</a:t>
            </a:r>
          </a:p>
        </p:txBody>
      </p:sp>
      <p:sp>
        <p:nvSpPr>
          <p:cNvPr id="8" name="">
            <a:extLst xmlns:a="http://schemas.openxmlformats.org/drawingml/2006/main">
              <a:ext uri="{FF2B5EF4-FFF2-40B4-BE49-F238E27FC236}">
                <a16:creationId xmlns:a16="http://schemas.microsoft.com/office/drawing/2014/main" id="{878460EC-9E77-4748-A350-163476B696CF}"/>
              </a:ext>
            </a:extLst>
          </p:cNvPr>
          <p:cNvSpPr>
            <a:spLocks xmlns:a="http://schemas.openxmlformats.org/drawingml/2006/main" noGrp="1"/>
          </p:cNvSpPr>
          <p:nvPr/>
        </p:nvSpPr>
        <p:spPr>
          <a:xfrm xmlns:a="http://schemas.openxmlformats.org/drawingml/2006/main">
            <a:off x="552450" y="5095875"/>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9" name="">
            <a:extLst xmlns:a="http://schemas.openxmlformats.org/drawingml/2006/main">
              <a:ext uri="{FF2B5EF4-FFF2-40B4-BE49-F238E27FC236}">
                <a16:creationId xmlns:a16="http://schemas.microsoft.com/office/drawing/2014/main" id="{5538A673-A6F2-4D3B-893F-665B88F4495B}"/>
              </a:ext>
            </a:extLst>
          </p:cNvPr>
          <p:cNvSpPr>
            <a:spLocks xmlns:a="http://schemas.openxmlformats.org/drawingml/2006/main" noGrp="1"/>
          </p:cNvSpPr>
          <p:nvPr/>
        </p:nvSpPr>
        <p:spPr>
          <a:xfrm xmlns:a="http://schemas.openxmlformats.org/drawingml/2006/main">
            <a:off x="552450" y="6096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DC4D8"/>
                </a:solidFill>
                <a:latin typeface="Arial"/>
                <a:ea typeface="Arial"/>
                <a:cs typeface="Arial"/>
              </a:defRPr>
            </a:pPr>
            <a:r>
              <a:rPr sz="900" b="1">
                <a:solidFill>
                  <a:srgbClr val="9DC4D8"/>
                </a:solidFill>
                <a:latin typeface="Arial"/>
                <a:ea typeface="Arial"/>
                <a:cs typeface="Arial"/>
              </a:rPr>
              <a:t>DRAGONS’ DEN 2026</a:t>
            </a:r>
          </a:p>
        </p:txBody>
      </p:sp>
    </p:spTree>
    <p:extLst>
      <p:ext uri="{BB962C8B-B14F-4D97-AF65-F5344CB8AC3E}">
        <p14:creationId xmlns:p14="http://schemas.microsoft.com/office/powerpoint/2010/main" val="154331373"/>
      </p:ext>
    </p:extLst>
  </p:cSld>
</p:sld>
</file>

<file path=ppt/slides/slide2.xml><?xml version="1.0" encoding="utf-8"?>
<p:sld xmlns:p="http://schemas.openxmlformats.org/presentationml/2006/main">
  <p:cSld>
    <p:bg>
      <p:bgPr>
        <a:solidFill xmlns:a="http://schemas.openxmlformats.org/drawingml/2006/main">
          <a:srgbClr val="F1F6F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BCFC9C7-07E0-438E-A3DF-32E2F5A032F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893BB6-D3CD-4F13-A6A5-089E355B3C54}"/>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B5FA9E9-2CA9-467C-9191-772C37193149}"/>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The discharge visibility gap</a:t>
            </a:r>
          </a:p>
        </p:txBody>
      </p:sp>
      <p:sp>
        <p:nvSpPr>
          <p:cNvPr id="4" name="">
            <a:extLst xmlns:a="http://schemas.openxmlformats.org/drawingml/2006/main">
              <a:ext uri="{FF2B5EF4-FFF2-40B4-BE49-F238E27FC236}">
                <a16:creationId xmlns:a16="http://schemas.microsoft.com/office/drawing/2014/main" id="{8BB3E9E7-A0E0-482C-A24C-BAD47021A4A6}"/>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Clinical readiness can arrive before practical readiness</a:t>
            </a:r>
          </a:p>
        </p:txBody>
      </p:sp>
      <p:sp>
        <p:nvSpPr>
          <p:cNvPr id="5" name="">
            <a:extLst xmlns:a="http://schemas.openxmlformats.org/drawingml/2006/main">
              <a:ext uri="{FF2B5EF4-FFF2-40B4-BE49-F238E27FC236}">
                <a16:creationId xmlns:a16="http://schemas.microsoft.com/office/drawing/2014/main" id="{6A40B07C-3AD5-4E66-B954-123D613612D9}"/>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4BC892A1-2AF6-4A2E-8A74-4A32954B19E1}"/>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57F11B7A-0EA1-42AF-B7E8-38DF09F3C2CF}"/>
              </a:ext>
            </a:extLst>
          </p:cNvPr>
          <p:cNvSpPr>
            <a:spLocks xmlns:a="http://schemas.openxmlformats.org/drawingml/2006/main" noGrp="1"/>
          </p:cNvSpPr>
          <p:nvPr/>
        </p:nvSpPr>
        <p:spPr>
          <a:xfrm xmlns:a="http://schemas.openxmlformats.org/drawingml/2006/main">
            <a:off x="552450" y="1581150"/>
            <a:ext cx="371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2304A"/>
                </a:solidFill>
                <a:latin typeface="Arial"/>
                <a:ea typeface="Arial"/>
                <a:cs typeface="Arial"/>
              </a:defRPr>
            </a:pPr>
            <a:r>
              <a:rPr sz="2250" b="1">
                <a:solidFill>
                  <a:srgbClr val="12304A"/>
                </a:solidFill>
                <a:latin typeface="Arial"/>
                <a:ea typeface="Arial"/>
                <a:cs typeface="Arial"/>
              </a:rPr>
              <a:t>A patient can be ready for discharge and still wait.</a:t>
            </a:r>
          </a:p>
        </p:txBody>
      </p:sp>
      <p:sp>
        <p:nvSpPr>
          <p:cNvPr id="8" name="">
            <a:extLst xmlns:a="http://schemas.openxmlformats.org/drawingml/2006/main">
              <a:ext uri="{FF2B5EF4-FFF2-40B4-BE49-F238E27FC236}">
                <a16:creationId xmlns:a16="http://schemas.microsoft.com/office/drawing/2014/main" id="{6F6C9021-1D00-4E22-B85F-5CB005826CCF}"/>
              </a:ext>
            </a:extLst>
          </p:cNvPr>
          <p:cNvSpPr>
            <a:spLocks xmlns:a="http://schemas.openxmlformats.org/drawingml/2006/main" noGrp="1"/>
          </p:cNvSpPr>
          <p:nvPr/>
        </p:nvSpPr>
        <p:spPr>
          <a:xfrm xmlns:a="http://schemas.openxmlformats.org/drawingml/2006/main">
            <a:off x="590550" y="282892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86D5F2F-48DB-49A6-AFAE-F978B396E477}"/>
              </a:ext>
            </a:extLst>
          </p:cNvPr>
          <p:cNvSpPr>
            <a:spLocks xmlns:a="http://schemas.openxmlformats.org/drawingml/2006/main" noGrp="1"/>
          </p:cNvSpPr>
          <p:nvPr/>
        </p:nvSpPr>
        <p:spPr>
          <a:xfrm xmlns:a="http://schemas.openxmlformats.org/drawingml/2006/main">
            <a:off x="819150" y="2762250"/>
            <a:ext cx="3486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63247"/>
                </a:solidFill>
                <a:latin typeface="Arial"/>
                <a:ea typeface="Arial"/>
                <a:cs typeface="Arial"/>
              </a:defRPr>
            </a:pPr>
            <a:r>
              <a:rPr sz="1350" b="0">
                <a:solidFill>
                  <a:srgbClr val="163247"/>
                </a:solidFill>
                <a:latin typeface="Arial"/>
                <a:ea typeface="Arial"/>
                <a:cs typeface="Arial"/>
              </a:rPr>
              <a:t>The next barrier is not visible to everyone</a:t>
            </a:r>
          </a:p>
        </p:txBody>
      </p:sp>
      <p:sp>
        <p:nvSpPr>
          <p:cNvPr id="10" name="">
            <a:extLst xmlns:a="http://schemas.openxmlformats.org/drawingml/2006/main">
              <a:ext uri="{FF2B5EF4-FFF2-40B4-BE49-F238E27FC236}">
                <a16:creationId xmlns:a16="http://schemas.microsoft.com/office/drawing/2014/main" id="{E848E5B8-8249-4DAA-BB8A-BE676A302A18}"/>
              </a:ext>
            </a:extLst>
          </p:cNvPr>
          <p:cNvSpPr>
            <a:spLocks xmlns:a="http://schemas.openxmlformats.org/drawingml/2006/main" noGrp="1"/>
          </p:cNvSpPr>
          <p:nvPr/>
        </p:nvSpPr>
        <p:spPr>
          <a:xfrm xmlns:a="http://schemas.openxmlformats.org/drawingml/2006/main">
            <a:off x="590550" y="338137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F6B3EC-0B52-4240-A1C8-3A02DBE20037}"/>
              </a:ext>
            </a:extLst>
          </p:cNvPr>
          <p:cNvSpPr>
            <a:spLocks xmlns:a="http://schemas.openxmlformats.org/drawingml/2006/main" noGrp="1"/>
          </p:cNvSpPr>
          <p:nvPr/>
        </p:nvSpPr>
        <p:spPr>
          <a:xfrm xmlns:a="http://schemas.openxmlformats.org/drawingml/2006/main">
            <a:off x="819150" y="3314700"/>
            <a:ext cx="3486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63247"/>
                </a:solidFill>
                <a:latin typeface="Arial"/>
                <a:ea typeface="Arial"/>
                <a:cs typeface="Arial"/>
              </a:defRPr>
            </a:pPr>
            <a:r>
              <a:rPr sz="1350" b="0">
                <a:solidFill>
                  <a:srgbClr val="163247"/>
                </a:solidFill>
                <a:latin typeface="Arial"/>
                <a:ea typeface="Arial"/>
                <a:cs typeface="Arial"/>
              </a:rPr>
              <a:t>Ownership and target times are easy to miss</a:t>
            </a:r>
          </a:p>
        </p:txBody>
      </p:sp>
      <p:sp>
        <p:nvSpPr>
          <p:cNvPr id="12" name="">
            <a:extLst xmlns:a="http://schemas.openxmlformats.org/drawingml/2006/main">
              <a:ext uri="{FF2B5EF4-FFF2-40B4-BE49-F238E27FC236}">
                <a16:creationId xmlns:a16="http://schemas.microsoft.com/office/drawing/2014/main" id="{8721C937-8823-4287-A744-638A08B7435D}"/>
              </a:ext>
            </a:extLst>
          </p:cNvPr>
          <p:cNvSpPr>
            <a:spLocks xmlns:a="http://schemas.openxmlformats.org/drawingml/2006/main" noGrp="1"/>
          </p:cNvSpPr>
          <p:nvPr/>
        </p:nvSpPr>
        <p:spPr>
          <a:xfrm xmlns:a="http://schemas.openxmlformats.org/drawingml/2006/main">
            <a:off x="590550" y="393382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6AAC271-B31B-475B-8EB8-E65A5376795D}"/>
              </a:ext>
            </a:extLst>
          </p:cNvPr>
          <p:cNvSpPr>
            <a:spLocks xmlns:a="http://schemas.openxmlformats.org/drawingml/2006/main" noGrp="1"/>
          </p:cNvSpPr>
          <p:nvPr/>
        </p:nvSpPr>
        <p:spPr>
          <a:xfrm xmlns:a="http://schemas.openxmlformats.org/drawingml/2006/main">
            <a:off x="819150" y="3867150"/>
            <a:ext cx="3486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63247"/>
                </a:solidFill>
                <a:latin typeface="Arial"/>
                <a:ea typeface="Arial"/>
                <a:cs typeface="Arial"/>
              </a:defRPr>
            </a:pPr>
            <a:r>
              <a:rPr sz="1350" b="0">
                <a:solidFill>
                  <a:srgbClr val="163247"/>
                </a:solidFill>
                <a:latin typeface="Arial"/>
                <a:ea typeface="Arial"/>
                <a:cs typeface="Arial"/>
              </a:rPr>
              <a:t>Family readiness may only surface late</a:t>
            </a:r>
          </a:p>
        </p:txBody>
      </p:sp>
      <p:sp>
        <p:nvSpPr>
          <p:cNvPr id="14" name="">
            <a:extLst xmlns:a="http://schemas.openxmlformats.org/drawingml/2006/main">
              <a:ext uri="{FF2B5EF4-FFF2-40B4-BE49-F238E27FC236}">
                <a16:creationId xmlns:a16="http://schemas.microsoft.com/office/drawing/2014/main" id="{579C808E-806B-4C28-B056-FE9F1C576743}"/>
              </a:ext>
            </a:extLst>
          </p:cNvPr>
          <p:cNvSpPr>
            <a:spLocks xmlns:a="http://schemas.openxmlformats.org/drawingml/2006/main" noGrp="1"/>
          </p:cNvSpPr>
          <p:nvPr/>
        </p:nvSpPr>
        <p:spPr>
          <a:xfrm xmlns:a="http://schemas.openxmlformats.org/drawingml/2006/main">
            <a:off x="552450" y="4933950"/>
            <a:ext cx="3714750" cy="914400"/>
          </a:xfrm>
          <a:prstGeom xmlns:a="http://schemas.openxmlformats.org/drawingml/2006/main" prst="roundRect">
            <a:avLst>
              <a:gd name="adj" fmla="val 12500"/>
            </a:avLst>
          </a:prstGeom>
          <a:solidFill xmlns:a="http://schemas.openxmlformats.org/drawingml/2006/main">
            <a:srgbClr val="1230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429C51A-C217-49AA-9634-819547C9F81B}"/>
              </a:ext>
            </a:extLst>
          </p:cNvPr>
          <p:cNvSpPr>
            <a:spLocks xmlns:a="http://schemas.openxmlformats.org/drawingml/2006/main" noGrp="1"/>
          </p:cNvSpPr>
          <p:nvPr/>
        </p:nvSpPr>
        <p:spPr>
          <a:xfrm xmlns:a="http://schemas.openxmlformats.org/drawingml/2006/main">
            <a:off x="781050" y="513397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39B7A0"/>
                </a:solidFill>
                <a:latin typeface="Arial"/>
                <a:ea typeface="Arial"/>
                <a:cs typeface="Arial"/>
              </a:defRPr>
            </a:pPr>
            <a:r>
              <a:rPr sz="975" b="1">
                <a:solidFill>
                  <a:srgbClr val="39B7A0"/>
                </a:solidFill>
                <a:latin typeface="Arial"/>
                <a:ea typeface="Arial"/>
                <a:cs typeface="Arial"/>
              </a:rPr>
              <a:t>The result</a:t>
            </a:r>
          </a:p>
        </p:txBody>
      </p:sp>
      <p:sp>
        <p:nvSpPr>
          <p:cNvPr id="16" name="">
            <a:extLst xmlns:a="http://schemas.openxmlformats.org/drawingml/2006/main">
              <a:ext uri="{FF2B5EF4-FFF2-40B4-BE49-F238E27FC236}">
                <a16:creationId xmlns:a16="http://schemas.microsoft.com/office/drawing/2014/main" id="{DBA3F96A-76FD-4C7B-AC50-A02E8441DFB4}"/>
              </a:ext>
            </a:extLst>
          </p:cNvPr>
          <p:cNvSpPr>
            <a:spLocks xmlns:a="http://schemas.openxmlformats.org/drawingml/2006/main" noGrp="1"/>
          </p:cNvSpPr>
          <p:nvPr/>
        </p:nvSpPr>
        <p:spPr>
          <a:xfrm xmlns:a="http://schemas.openxmlformats.org/drawingml/2006/main">
            <a:off x="781050" y="5391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127"/>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avoidable waiting after the clinical decision</a:t>
            </a:r>
          </a:p>
        </p:txBody>
      </p:sp>
      <p:sp>
        <p:nvSpPr>
          <p:cNvPr id="17" name="">
            <a:extLst xmlns:a="http://schemas.openxmlformats.org/drawingml/2006/main">
              <a:ext uri="{FF2B5EF4-FFF2-40B4-BE49-F238E27FC236}">
                <a16:creationId xmlns:a16="http://schemas.microsoft.com/office/drawing/2014/main" id="{10A2EC8C-4AD1-4D21-B921-23BE7BC8C505}"/>
              </a:ext>
            </a:extLst>
          </p:cNvPr>
          <p:cNvSpPr>
            <a:spLocks xmlns:a="http://schemas.openxmlformats.org/drawingml/2006/main" noGrp="1"/>
          </p:cNvSpPr>
          <p:nvPr/>
        </p:nvSpPr>
        <p:spPr>
          <a:xfrm xmlns:a="http://schemas.openxmlformats.org/drawingml/2006/main">
            <a:off x="4610100" y="1390650"/>
            <a:ext cx="7143750" cy="4762500"/>
          </a:xfrm>
          <a:prstGeom xmlns:a="http://schemas.openxmlformats.org/drawingml/2006/main" prst="roundRect">
            <a:avLst>
              <a:gd name="adj" fmla="val 3600"/>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aea59a7aad444bb"/>
          <a:srcRect xmlns:a="http://schemas.openxmlformats.org/drawingml/2006/main" l="0" t="6839" r="0" b="6839"/>
          <a:stretch xmlns:a="http://schemas.openxmlformats.org/drawingml/2006/main">
            <a:fillRect l="0" t="0" r="0" b="0"/>
          </a:stretch>
        </p:blipFill>
        <p:spPr>
          <a:xfrm xmlns:a="http://schemas.openxmlformats.org/drawingml/2006/main">
            <a:off x="4686300" y="1466850"/>
            <a:ext cx="6991350" cy="4610100"/>
          </a:xfrm>
          <a:prstGeom xmlns:a="http://schemas.openxmlformats.org/drawingml/2006/main" prst="roundRect">
            <a:avLst>
              <a:gd name="adj" fmla="val 2479"/>
            </a:avLst>
          </a:prstGeom>
        </p:spPr>
      </p:pic>
      <p:sp>
        <p:nvSpPr>
          <p:cNvPr id="19" name="">
            <a:extLst xmlns:a="http://schemas.openxmlformats.org/drawingml/2006/main">
              <a:ext uri="{FF2B5EF4-FFF2-40B4-BE49-F238E27FC236}">
                <a16:creationId xmlns:a16="http://schemas.microsoft.com/office/drawing/2014/main" id="{A9E30DDF-8BF6-46F1-8A88-F97FF8AC672F}"/>
              </a:ext>
            </a:extLst>
          </p:cNvPr>
          <p:cNvSpPr>
            <a:spLocks xmlns:a="http://schemas.openxmlformats.org/drawingml/2006/main" noGrp="1"/>
          </p:cNvSpPr>
          <p:nvPr/>
        </p:nvSpPr>
        <p:spPr>
          <a:xfrm xmlns:a="http://schemas.openxmlformats.org/drawingml/2006/main">
            <a:off x="9763125" y="5553075"/>
            <a:ext cx="1543050" cy="266700"/>
          </a:xfrm>
          <a:prstGeom xmlns:a="http://schemas.openxmlformats.org/drawingml/2006/main" prst="roundRect">
            <a:avLst>
              <a:gd name="adj" fmla="val 28571"/>
            </a:avLst>
          </a:prstGeom>
          <a:solidFill xmlns:a="http://schemas.openxmlformats.org/drawingml/2006/main">
            <a:srgbClr val="EEF1F3"/>
          </a:solidFill>
          <a:ln xmlns:a="http://schemas.openxmlformats.org/drawingml/2006/main" w="9525">
            <a:solidFill>
              <a:srgbClr val="B8C1C7"/>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6F7E88"/>
                </a:solidFill>
                <a:latin typeface="Arial"/>
                <a:ea typeface="Arial"/>
                <a:cs typeface="Arial"/>
              </a:defRPr>
            </a:pPr>
            <a:r>
              <a:rPr sz="788" b="1">
                <a:solidFill>
                  <a:srgbClr val="6F7E88"/>
                </a:solidFill>
                <a:latin typeface="Arial"/>
                <a:ea typeface="Arial"/>
                <a:cs typeface="Arial"/>
              </a:rPr>
              <a:t>AMBER BARRIER</a:t>
            </a:r>
          </a:p>
        </p:txBody>
      </p:sp>
      <p:sp>
        <p:nvSpPr>
          <p:cNvPr id="20" name="">
            <a:extLst xmlns:a="http://schemas.openxmlformats.org/drawingml/2006/main">
              <a:ext uri="{FF2B5EF4-FFF2-40B4-BE49-F238E27FC236}">
                <a16:creationId xmlns:a16="http://schemas.microsoft.com/office/drawing/2014/main" id="{0AAA5638-032C-4326-870A-BDA0A3583BB4}"/>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21" name="">
            <a:extLst xmlns:a="http://schemas.openxmlformats.org/drawingml/2006/main">
              <a:ext uri="{FF2B5EF4-FFF2-40B4-BE49-F238E27FC236}">
                <a16:creationId xmlns:a16="http://schemas.microsoft.com/office/drawing/2014/main" id="{C091200D-B4E7-4A9C-B196-F9DCF0041EC5}"/>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22" name="">
            <a:extLst xmlns:a="http://schemas.openxmlformats.org/drawingml/2006/main">
              <a:ext uri="{FF2B5EF4-FFF2-40B4-BE49-F238E27FC236}">
                <a16:creationId xmlns:a16="http://schemas.microsoft.com/office/drawing/2014/main" id="{BAB27964-5F5F-4E58-8729-D14ECB3F50C2}"/>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23" name="">
            <a:extLst xmlns:a="http://schemas.openxmlformats.org/drawingml/2006/main">
              <a:ext uri="{FF2B5EF4-FFF2-40B4-BE49-F238E27FC236}">
                <a16:creationId xmlns:a16="http://schemas.microsoft.com/office/drawing/2014/main" id="{9B107D6D-00AF-41C4-8550-4DDCA03AD52B}"/>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02</a:t>
            </a:r>
          </a:p>
        </p:txBody>
      </p:sp>
    </p:spTree>
    <p:extLst>
      <p:ext uri="{BB962C8B-B14F-4D97-AF65-F5344CB8AC3E}">
        <p14:creationId xmlns:p14="http://schemas.microsoft.com/office/powerpoint/2010/main" val="11007125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E08A659-D140-4E3B-BDEA-A45D3164CF8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2143C7-278D-45E3-8879-9C851E7CB57C}"/>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8A5A360-6BD5-4808-88E5-56BED2C077AC}"/>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The HomeFlow idea</a:t>
            </a:r>
          </a:p>
        </p:txBody>
      </p:sp>
      <p:sp>
        <p:nvSpPr>
          <p:cNvPr id="4" name="">
            <a:extLst xmlns:a="http://schemas.openxmlformats.org/drawingml/2006/main">
              <a:ext uri="{FF2B5EF4-FFF2-40B4-BE49-F238E27FC236}">
                <a16:creationId xmlns:a16="http://schemas.microsoft.com/office/drawing/2014/main" id="{6AA9EB36-074A-4CCA-B4C8-74FEEA97FD4A}"/>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A shared view of the next action and what it depends on</a:t>
            </a:r>
          </a:p>
        </p:txBody>
      </p:sp>
      <p:sp>
        <p:nvSpPr>
          <p:cNvPr id="5" name="">
            <a:extLst xmlns:a="http://schemas.openxmlformats.org/drawingml/2006/main">
              <a:ext uri="{FF2B5EF4-FFF2-40B4-BE49-F238E27FC236}">
                <a16:creationId xmlns:a16="http://schemas.microsoft.com/office/drawing/2014/main" id="{829D3AB6-D8D2-427F-B02A-FFA70145824D}"/>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489F9C13-6D90-45F3-BF47-13CB5844AD41}"/>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B170E1E2-1504-431E-809B-C6AC9D0FF164}"/>
              </a:ext>
            </a:extLst>
          </p:cNvPr>
          <p:cNvSpPr>
            <a:spLocks xmlns:a="http://schemas.openxmlformats.org/drawingml/2006/main" noGrp="1"/>
          </p:cNvSpPr>
          <p:nvPr/>
        </p:nvSpPr>
        <p:spPr>
          <a:xfrm xmlns:a="http://schemas.openxmlformats.org/drawingml/2006/main">
            <a:off x="438150" y="1352550"/>
            <a:ext cx="7334250" cy="4838700"/>
          </a:xfrm>
          <a:prstGeom xmlns:a="http://schemas.openxmlformats.org/drawingml/2006/main" prst="roundRect">
            <a:avLst>
              <a:gd name="adj" fmla="val 3543"/>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ec898cd52984ce3"/>
          <a:srcRect xmlns:a="http://schemas.openxmlformats.org/drawingml/2006/main" l="0" t="7290" r="0" b="7290"/>
          <a:stretch xmlns:a="http://schemas.openxmlformats.org/drawingml/2006/main">
            <a:fillRect l="0" t="0" r="0" b="0"/>
          </a:stretch>
        </p:blipFill>
        <p:spPr>
          <a:xfrm xmlns:a="http://schemas.openxmlformats.org/drawingml/2006/main">
            <a:off x="514350" y="1428750"/>
            <a:ext cx="7181850" cy="4686300"/>
          </a:xfrm>
          <a:prstGeom xmlns:a="http://schemas.openxmlformats.org/drawingml/2006/main" prst="roundRect">
            <a:avLst>
              <a:gd name="adj" fmla="val 2439"/>
            </a:avLst>
          </a:prstGeom>
        </p:spPr>
      </p:pic>
      <p:sp>
        <p:nvSpPr>
          <p:cNvPr id="9" name="">
            <a:extLst xmlns:a="http://schemas.openxmlformats.org/drawingml/2006/main">
              <a:ext uri="{FF2B5EF4-FFF2-40B4-BE49-F238E27FC236}">
                <a16:creationId xmlns:a16="http://schemas.microsoft.com/office/drawing/2014/main" id="{17C089C4-6429-450C-843B-8930D32F0E5C}"/>
              </a:ext>
            </a:extLst>
          </p:cNvPr>
          <p:cNvSpPr>
            <a:spLocks xmlns:a="http://schemas.openxmlformats.org/drawingml/2006/main" noGrp="1"/>
          </p:cNvSpPr>
          <p:nvPr/>
        </p:nvSpPr>
        <p:spPr>
          <a:xfrm xmlns:a="http://schemas.openxmlformats.org/drawingml/2006/main">
            <a:off x="8191500" y="16002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304A"/>
                </a:solidFill>
                <a:latin typeface="Arial"/>
                <a:ea typeface="Arial"/>
                <a:cs typeface="Arial"/>
              </a:defRPr>
            </a:pPr>
            <a:r>
              <a:rPr sz="2025" b="1">
                <a:solidFill>
                  <a:srgbClr val="12304A"/>
                </a:solidFill>
                <a:latin typeface="Arial"/>
                <a:ea typeface="Arial"/>
                <a:cs typeface="Arial"/>
              </a:rPr>
              <a:t>One coordination view</a:t>
            </a:r>
          </a:p>
        </p:txBody>
      </p:sp>
      <p:sp>
        <p:nvSpPr>
          <p:cNvPr id="10" name="">
            <a:extLst xmlns:a="http://schemas.openxmlformats.org/drawingml/2006/main">
              <a:ext uri="{FF2B5EF4-FFF2-40B4-BE49-F238E27FC236}">
                <a16:creationId xmlns:a16="http://schemas.microsoft.com/office/drawing/2014/main" id="{D02CD396-54E5-43D3-A337-E3F1CFB7F8CE}"/>
              </a:ext>
            </a:extLst>
          </p:cNvPr>
          <p:cNvSpPr>
            <a:spLocks xmlns:a="http://schemas.openxmlformats.org/drawingml/2006/main" noGrp="1"/>
          </p:cNvSpPr>
          <p:nvPr/>
        </p:nvSpPr>
        <p:spPr>
          <a:xfrm xmlns:a="http://schemas.openxmlformats.org/drawingml/2006/main">
            <a:off x="8267700" y="23336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A49051-5FF8-4379-8EDF-91DA38EDC0D1}"/>
              </a:ext>
            </a:extLst>
          </p:cNvPr>
          <p:cNvSpPr>
            <a:spLocks xmlns:a="http://schemas.openxmlformats.org/drawingml/2006/main" noGrp="1"/>
          </p:cNvSpPr>
          <p:nvPr/>
        </p:nvSpPr>
        <p:spPr>
          <a:xfrm xmlns:a="http://schemas.openxmlformats.org/drawingml/2006/main">
            <a:off x="8496300" y="226695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Discharge status</a:t>
            </a:r>
          </a:p>
        </p:txBody>
      </p:sp>
      <p:sp>
        <p:nvSpPr>
          <p:cNvPr id="12" name="">
            <a:extLst xmlns:a="http://schemas.openxmlformats.org/drawingml/2006/main">
              <a:ext uri="{FF2B5EF4-FFF2-40B4-BE49-F238E27FC236}">
                <a16:creationId xmlns:a16="http://schemas.microsoft.com/office/drawing/2014/main" id="{D00FDBEB-0EF8-4772-9C2E-CCBEA1CA40D9}"/>
              </a:ext>
            </a:extLst>
          </p:cNvPr>
          <p:cNvSpPr>
            <a:spLocks xmlns:a="http://schemas.openxmlformats.org/drawingml/2006/main" noGrp="1"/>
          </p:cNvSpPr>
          <p:nvPr/>
        </p:nvSpPr>
        <p:spPr>
          <a:xfrm xmlns:a="http://schemas.openxmlformats.org/drawingml/2006/main">
            <a:off x="8267700" y="2914650"/>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0A6EF3-27D0-4E27-9496-6F41CE3D91B6}"/>
              </a:ext>
            </a:extLst>
          </p:cNvPr>
          <p:cNvSpPr>
            <a:spLocks xmlns:a="http://schemas.openxmlformats.org/drawingml/2006/main" noGrp="1"/>
          </p:cNvSpPr>
          <p:nvPr/>
        </p:nvSpPr>
        <p:spPr>
          <a:xfrm xmlns:a="http://schemas.openxmlformats.org/drawingml/2006/main">
            <a:off x="8496300" y="2847975"/>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Outstanding barrier</a:t>
            </a:r>
          </a:p>
        </p:txBody>
      </p:sp>
      <p:sp>
        <p:nvSpPr>
          <p:cNvPr id="14" name="">
            <a:extLst xmlns:a="http://schemas.openxmlformats.org/drawingml/2006/main">
              <a:ext uri="{FF2B5EF4-FFF2-40B4-BE49-F238E27FC236}">
                <a16:creationId xmlns:a16="http://schemas.microsoft.com/office/drawing/2014/main" id="{529FAE44-5345-46F1-BAE9-62F2E29B6061}"/>
              </a:ext>
            </a:extLst>
          </p:cNvPr>
          <p:cNvSpPr>
            <a:spLocks xmlns:a="http://schemas.openxmlformats.org/drawingml/2006/main" noGrp="1"/>
          </p:cNvSpPr>
          <p:nvPr/>
        </p:nvSpPr>
        <p:spPr>
          <a:xfrm xmlns:a="http://schemas.openxmlformats.org/drawingml/2006/main">
            <a:off x="8267700" y="349567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D44A98E-0950-4D82-8925-78430EE15907}"/>
              </a:ext>
            </a:extLst>
          </p:cNvPr>
          <p:cNvSpPr>
            <a:spLocks xmlns:a="http://schemas.openxmlformats.org/drawingml/2006/main" noGrp="1"/>
          </p:cNvSpPr>
          <p:nvPr/>
        </p:nvSpPr>
        <p:spPr>
          <a:xfrm xmlns:a="http://schemas.openxmlformats.org/drawingml/2006/main">
            <a:off x="8496300" y="3429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Named owner and deadline</a:t>
            </a:r>
          </a:p>
        </p:txBody>
      </p:sp>
      <p:sp>
        <p:nvSpPr>
          <p:cNvPr id="16" name="">
            <a:extLst xmlns:a="http://schemas.openxmlformats.org/drawingml/2006/main">
              <a:ext uri="{FF2B5EF4-FFF2-40B4-BE49-F238E27FC236}">
                <a16:creationId xmlns:a16="http://schemas.microsoft.com/office/drawing/2014/main" id="{3401B2E5-C74C-47FB-A1D5-868B5BEEF5BF}"/>
              </a:ext>
            </a:extLst>
          </p:cNvPr>
          <p:cNvSpPr>
            <a:spLocks xmlns:a="http://schemas.openxmlformats.org/drawingml/2006/main" noGrp="1"/>
          </p:cNvSpPr>
          <p:nvPr/>
        </p:nvSpPr>
        <p:spPr>
          <a:xfrm xmlns:a="http://schemas.openxmlformats.org/drawingml/2006/main">
            <a:off x="8267700" y="4076700"/>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2F17886-FA76-4C44-A3E0-DF504ABAD631}"/>
              </a:ext>
            </a:extLst>
          </p:cNvPr>
          <p:cNvSpPr>
            <a:spLocks xmlns:a="http://schemas.openxmlformats.org/drawingml/2006/main" noGrp="1"/>
          </p:cNvSpPr>
          <p:nvPr/>
        </p:nvSpPr>
        <p:spPr>
          <a:xfrm xmlns:a="http://schemas.openxmlformats.org/drawingml/2006/main">
            <a:off x="8496300" y="4010025"/>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Family readiness</a:t>
            </a:r>
          </a:p>
        </p:txBody>
      </p:sp>
      <p:sp>
        <p:nvSpPr>
          <p:cNvPr id="18" name="">
            <a:extLst xmlns:a="http://schemas.openxmlformats.org/drawingml/2006/main">
              <a:ext uri="{FF2B5EF4-FFF2-40B4-BE49-F238E27FC236}">
                <a16:creationId xmlns:a16="http://schemas.microsoft.com/office/drawing/2014/main" id="{DC8903BD-A214-447B-8678-F46C2B7DD75D}"/>
              </a:ext>
            </a:extLst>
          </p:cNvPr>
          <p:cNvSpPr>
            <a:spLocks xmlns:a="http://schemas.openxmlformats.org/drawingml/2006/main" noGrp="1"/>
          </p:cNvSpPr>
          <p:nvPr/>
        </p:nvSpPr>
        <p:spPr>
          <a:xfrm xmlns:a="http://schemas.openxmlformats.org/drawingml/2006/main">
            <a:off x="8267700" y="5010150"/>
            <a:ext cx="1752600" cy="285750"/>
          </a:xfrm>
          <a:prstGeom xmlns:a="http://schemas.openxmlformats.org/drawingml/2006/main" prst="roundRect">
            <a:avLst>
              <a:gd name="adj" fmla="val 26667"/>
            </a:avLst>
          </a:prstGeom>
          <a:solidFill xmlns:a="http://schemas.openxmlformats.org/drawingml/2006/main">
            <a:srgbClr val="E7F5EF"/>
          </a:solidFill>
          <a:ln xmlns:a="http://schemas.openxmlformats.org/drawingml/2006/main" w="9525">
            <a:solidFill>
              <a:srgbClr val="8BC9B2"/>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14845F"/>
                </a:solidFill>
                <a:latin typeface="Arial"/>
                <a:ea typeface="Arial"/>
                <a:cs typeface="Arial"/>
              </a:defRPr>
            </a:pPr>
            <a:r>
              <a:rPr sz="788" b="1">
                <a:solidFill>
                  <a:srgbClr val="14845F"/>
                </a:solidFill>
                <a:latin typeface="Arial"/>
                <a:ea typeface="Arial"/>
                <a:cs typeface="Arial"/>
              </a:rPr>
              <a:t>HOMEFLOW ADDITION</a:t>
            </a:r>
          </a:p>
        </p:txBody>
      </p:sp>
      <p:sp>
        <p:nvSpPr>
          <p:cNvPr id="19" name="">
            <a:extLst xmlns:a="http://schemas.openxmlformats.org/drawingml/2006/main">
              <a:ext uri="{FF2B5EF4-FFF2-40B4-BE49-F238E27FC236}">
                <a16:creationId xmlns:a16="http://schemas.microsoft.com/office/drawing/2014/main" id="{6B73BC33-BEA2-421A-9217-792DE5B2E26F}"/>
              </a:ext>
            </a:extLst>
          </p:cNvPr>
          <p:cNvSpPr>
            <a:spLocks xmlns:a="http://schemas.openxmlformats.org/drawingml/2006/main" noGrp="1"/>
          </p:cNvSpPr>
          <p:nvPr/>
        </p:nvSpPr>
        <p:spPr>
          <a:xfrm xmlns:a="http://schemas.openxmlformats.org/drawingml/2006/main">
            <a:off x="8267700" y="54102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Family readiness sits beside the existing discharge workflow.</a:t>
            </a:r>
          </a:p>
        </p:txBody>
      </p:sp>
      <p:sp>
        <p:nvSpPr>
          <p:cNvPr id="20" name="">
            <a:extLst xmlns:a="http://schemas.openxmlformats.org/drawingml/2006/main">
              <a:ext uri="{FF2B5EF4-FFF2-40B4-BE49-F238E27FC236}">
                <a16:creationId xmlns:a16="http://schemas.microsoft.com/office/drawing/2014/main" id="{25B5B5F7-0D00-43D2-9F4A-2D5B30C4F5BF}"/>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21" name="">
            <a:extLst xmlns:a="http://schemas.openxmlformats.org/drawingml/2006/main">
              <a:ext uri="{FF2B5EF4-FFF2-40B4-BE49-F238E27FC236}">
                <a16:creationId xmlns:a16="http://schemas.microsoft.com/office/drawing/2014/main" id="{4F47DDD5-9963-4EDA-A616-4290460269BF}"/>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22" name="">
            <a:extLst xmlns:a="http://schemas.openxmlformats.org/drawingml/2006/main">
              <a:ext uri="{FF2B5EF4-FFF2-40B4-BE49-F238E27FC236}">
                <a16:creationId xmlns:a16="http://schemas.microsoft.com/office/drawing/2014/main" id="{09CDDF0B-2664-413F-B4F2-D31D95260AAB}"/>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23" name="">
            <a:extLst xmlns:a="http://schemas.openxmlformats.org/drawingml/2006/main">
              <a:ext uri="{FF2B5EF4-FFF2-40B4-BE49-F238E27FC236}">
                <a16:creationId xmlns:a16="http://schemas.microsoft.com/office/drawing/2014/main" id="{E2F4A8F7-7EFC-4C44-9CE2-E838A0544E5A}"/>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03</a:t>
            </a:r>
          </a:p>
        </p:txBody>
      </p:sp>
    </p:spTree>
    <p:extLst>
      <p:ext uri="{BB962C8B-B14F-4D97-AF65-F5344CB8AC3E}">
        <p14:creationId xmlns:p14="http://schemas.microsoft.com/office/powerpoint/2010/main" val="1926207859"/>
      </p:ext>
    </p:extLst>
  </p:cSld>
</p:sld>
</file>

<file path=ppt/slides/slide4.xml><?xml version="1.0" encoding="utf-8"?>
<p:sld xmlns:p="http://schemas.openxmlformats.org/presentationml/2006/main">
  <p:cSld>
    <p:bg>
      <p:bgPr>
        <a:solidFill xmlns:a="http://schemas.openxmlformats.org/drawingml/2006/main">
          <a:srgbClr val="F1F6F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CBE2C2C-830D-4BA2-B03B-264C2916D7B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6D3227-D3A5-4BD5-A1A5-AF5BAC96AEB5}"/>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2C22EEE-A497-465F-850C-5B9ED8927F6B}"/>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We are not starting from scratch</a:t>
            </a:r>
          </a:p>
        </p:txBody>
      </p:sp>
      <p:sp>
        <p:nvSpPr>
          <p:cNvPr id="4" name="">
            <a:extLst xmlns:a="http://schemas.openxmlformats.org/drawingml/2006/main">
              <a:ext uri="{FF2B5EF4-FFF2-40B4-BE49-F238E27FC236}">
                <a16:creationId xmlns:a16="http://schemas.microsoft.com/office/drawing/2014/main" id="{80DD353C-2B75-44D9-91B4-C8E42F472225}"/>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HomeFlow is designed around existing Trust capability</a:t>
            </a:r>
          </a:p>
        </p:txBody>
      </p:sp>
      <p:sp>
        <p:nvSpPr>
          <p:cNvPr id="5" name="">
            <a:extLst xmlns:a="http://schemas.openxmlformats.org/drawingml/2006/main">
              <a:ext uri="{FF2B5EF4-FFF2-40B4-BE49-F238E27FC236}">
                <a16:creationId xmlns:a16="http://schemas.microsoft.com/office/drawing/2014/main" id="{11C04FA9-1D7A-4A35-98BE-D4CEA252D754}"/>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683CC2A9-8146-46FD-8A77-90AB55262ADC}"/>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B3250F93-FAB7-4ACD-AF58-C613FD4A4C6C}"/>
              </a:ext>
            </a:extLst>
          </p:cNvPr>
          <p:cNvSpPr>
            <a:spLocks xmlns:a="http://schemas.openxmlformats.org/drawingml/2006/main" noGrp="1"/>
          </p:cNvSpPr>
          <p:nvPr/>
        </p:nvSpPr>
        <p:spPr>
          <a:xfrm xmlns:a="http://schemas.openxmlformats.org/drawingml/2006/main">
            <a:off x="438150" y="1314450"/>
            <a:ext cx="11315700" cy="4610100"/>
          </a:xfrm>
          <a:prstGeom xmlns:a="http://schemas.openxmlformats.org/drawingml/2006/main" prst="roundRect">
            <a:avLst>
              <a:gd name="adj" fmla="val 3719"/>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33f49e7c5344576"/>
          <a:srcRect xmlns:a="http://schemas.openxmlformats.org/drawingml/2006/main" l="0" t="23863" r="0" b="23863"/>
          <a:stretch xmlns:a="http://schemas.openxmlformats.org/drawingml/2006/main">
            <a:fillRect l="0" t="0" r="0" b="0"/>
          </a:stretch>
        </p:blipFill>
        <p:spPr>
          <a:xfrm xmlns:a="http://schemas.openxmlformats.org/drawingml/2006/main">
            <a:off x="514350" y="1390650"/>
            <a:ext cx="11163300" cy="4457700"/>
          </a:xfrm>
          <a:prstGeom xmlns:a="http://schemas.openxmlformats.org/drawingml/2006/main" prst="roundRect">
            <a:avLst>
              <a:gd name="adj" fmla="val 2564"/>
            </a:avLst>
          </a:prstGeom>
        </p:spPr>
      </p:pic>
      <p:sp>
        <p:nvSpPr>
          <p:cNvPr id="9" name="">
            <a:extLst xmlns:a="http://schemas.openxmlformats.org/drawingml/2006/main">
              <a:ext uri="{FF2B5EF4-FFF2-40B4-BE49-F238E27FC236}">
                <a16:creationId xmlns:a16="http://schemas.microsoft.com/office/drawing/2014/main" id="{94A62B9A-35BE-4EDD-9B99-43E2C7D9BC48}"/>
              </a:ext>
            </a:extLst>
          </p:cNvPr>
          <p:cNvSpPr>
            <a:spLocks xmlns:a="http://schemas.openxmlformats.org/drawingml/2006/main" noGrp="1"/>
          </p:cNvSpPr>
          <p:nvPr/>
        </p:nvSpPr>
        <p:spPr>
          <a:xfrm xmlns:a="http://schemas.openxmlformats.org/drawingml/2006/main">
            <a:off x="704850" y="5981700"/>
            <a:ext cx="1562100" cy="266700"/>
          </a:xfrm>
          <a:prstGeom xmlns:a="http://schemas.openxmlformats.org/drawingml/2006/main" prst="roundRect">
            <a:avLst>
              <a:gd name="adj" fmla="val 28571"/>
            </a:avLst>
          </a:prstGeom>
          <a:solidFill xmlns:a="http://schemas.openxmlformats.org/drawingml/2006/main">
            <a:srgbClr val="EAF4FB"/>
          </a:solidFill>
          <a:ln xmlns:a="http://schemas.openxmlformats.org/drawingml/2006/main" w="9525">
            <a:solidFill>
              <a:srgbClr val="8DBCDC"/>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005EB8"/>
                </a:solidFill>
                <a:latin typeface="Arial"/>
                <a:ea typeface="Arial"/>
                <a:cs typeface="Arial"/>
              </a:defRPr>
            </a:pPr>
            <a:r>
              <a:rPr sz="788" b="1">
                <a:solidFill>
                  <a:srgbClr val="005EB8"/>
                </a:solidFill>
                <a:latin typeface="Arial"/>
                <a:ea typeface="Arial"/>
                <a:cs typeface="Arial"/>
              </a:rPr>
              <a:t>EXISTING CAPABILITY</a:t>
            </a:r>
          </a:p>
        </p:txBody>
      </p:sp>
      <p:sp>
        <p:nvSpPr>
          <p:cNvPr id="10" name="">
            <a:extLst xmlns:a="http://schemas.openxmlformats.org/drawingml/2006/main">
              <a:ext uri="{FF2B5EF4-FFF2-40B4-BE49-F238E27FC236}">
                <a16:creationId xmlns:a16="http://schemas.microsoft.com/office/drawing/2014/main" id="{80731A9A-058C-4B23-B212-7A2C7411994D}"/>
              </a:ext>
            </a:extLst>
          </p:cNvPr>
          <p:cNvSpPr>
            <a:spLocks xmlns:a="http://schemas.openxmlformats.org/drawingml/2006/main" noGrp="1"/>
          </p:cNvSpPr>
          <p:nvPr/>
        </p:nvSpPr>
        <p:spPr>
          <a:xfrm xmlns:a="http://schemas.openxmlformats.org/drawingml/2006/main">
            <a:off x="2400300" y="5981700"/>
            <a:ext cx="1657350" cy="266700"/>
          </a:xfrm>
          <a:prstGeom xmlns:a="http://schemas.openxmlformats.org/drawingml/2006/main" prst="roundRect">
            <a:avLst>
              <a:gd name="adj" fmla="val 28571"/>
            </a:avLst>
          </a:prstGeom>
          <a:solidFill xmlns:a="http://schemas.openxmlformats.org/drawingml/2006/main">
            <a:srgbClr val="F2ECF8"/>
          </a:solidFill>
          <a:ln xmlns:a="http://schemas.openxmlformats.org/drawingml/2006/main" w="9525">
            <a:solidFill>
              <a:srgbClr val="B59BD1"/>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7656A2"/>
                </a:solidFill>
                <a:latin typeface="Arial"/>
                <a:ea typeface="Arial"/>
                <a:cs typeface="Arial"/>
              </a:defRPr>
            </a:pPr>
            <a:r>
              <a:rPr sz="788" b="1">
                <a:solidFill>
                  <a:srgbClr val="7656A2"/>
                </a:solidFill>
                <a:latin typeface="Arial"/>
                <a:ea typeface="Arial"/>
                <a:cs typeface="Arial"/>
              </a:rPr>
              <a:t>PROPOSED INTEGRATION</a:t>
            </a:r>
          </a:p>
        </p:txBody>
      </p:sp>
      <p:sp>
        <p:nvSpPr>
          <p:cNvPr id="11" name="">
            <a:extLst xmlns:a="http://schemas.openxmlformats.org/drawingml/2006/main">
              <a:ext uri="{FF2B5EF4-FFF2-40B4-BE49-F238E27FC236}">
                <a16:creationId xmlns:a16="http://schemas.microsoft.com/office/drawing/2014/main" id="{560E1F9D-627C-4BB9-B289-7558C9A589F9}"/>
              </a:ext>
            </a:extLst>
          </p:cNvPr>
          <p:cNvSpPr>
            <a:spLocks xmlns:a="http://schemas.openxmlformats.org/drawingml/2006/main" noGrp="1"/>
          </p:cNvSpPr>
          <p:nvPr/>
        </p:nvSpPr>
        <p:spPr>
          <a:xfrm xmlns:a="http://schemas.openxmlformats.org/drawingml/2006/main">
            <a:off x="4191000" y="5981700"/>
            <a:ext cx="1581150" cy="266700"/>
          </a:xfrm>
          <a:prstGeom xmlns:a="http://schemas.openxmlformats.org/drawingml/2006/main" prst="roundRect">
            <a:avLst>
              <a:gd name="adj" fmla="val 28571"/>
            </a:avLst>
          </a:prstGeom>
          <a:solidFill xmlns:a="http://schemas.openxmlformats.org/drawingml/2006/main">
            <a:srgbClr val="E7F5EF"/>
          </a:solidFill>
          <a:ln xmlns:a="http://schemas.openxmlformats.org/drawingml/2006/main" w="9525">
            <a:solidFill>
              <a:srgbClr val="8BC9B2"/>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14845F"/>
                </a:solidFill>
                <a:latin typeface="Arial"/>
                <a:ea typeface="Arial"/>
                <a:cs typeface="Arial"/>
              </a:defRPr>
            </a:pPr>
            <a:r>
              <a:rPr sz="788" b="1">
                <a:solidFill>
                  <a:srgbClr val="14845F"/>
                </a:solidFill>
                <a:latin typeface="Arial"/>
                <a:ea typeface="Arial"/>
                <a:cs typeface="Arial"/>
              </a:rPr>
              <a:t>HOMEFLOW ADDITION</a:t>
            </a:r>
          </a:p>
        </p:txBody>
      </p:sp>
      <p:sp>
        <p:nvSpPr>
          <p:cNvPr id="12" name="">
            <a:extLst xmlns:a="http://schemas.openxmlformats.org/drawingml/2006/main">
              <a:ext uri="{FF2B5EF4-FFF2-40B4-BE49-F238E27FC236}">
                <a16:creationId xmlns:a16="http://schemas.microsoft.com/office/drawing/2014/main" id="{EA1D16DD-0147-4497-935E-EFDD8AD65A6B}"/>
              </a:ext>
            </a:extLst>
          </p:cNvPr>
          <p:cNvSpPr>
            <a:spLocks xmlns:a="http://schemas.openxmlformats.org/drawingml/2006/main" noGrp="1"/>
          </p:cNvSpPr>
          <p:nvPr/>
        </p:nvSpPr>
        <p:spPr>
          <a:xfrm xmlns:a="http://schemas.openxmlformats.org/drawingml/2006/main">
            <a:off x="5905500" y="5981700"/>
            <a:ext cx="1771650" cy="266700"/>
          </a:xfrm>
          <a:prstGeom xmlns:a="http://schemas.openxmlformats.org/drawingml/2006/main" prst="roundRect">
            <a:avLst>
              <a:gd name="adj" fmla="val 28571"/>
            </a:avLst>
          </a:prstGeom>
          <a:solidFill xmlns:a="http://schemas.openxmlformats.org/drawingml/2006/main">
            <a:srgbClr val="EEF1F3"/>
          </a:solidFill>
          <a:ln xmlns:a="http://schemas.openxmlformats.org/drawingml/2006/main" w="9525">
            <a:solidFill>
              <a:srgbClr val="B8C1C7"/>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6F7E88"/>
                </a:solidFill>
                <a:latin typeface="Arial"/>
                <a:ea typeface="Arial"/>
                <a:cs typeface="Arial"/>
              </a:defRPr>
            </a:pPr>
            <a:r>
              <a:rPr sz="788" b="1">
                <a:solidFill>
                  <a:srgbClr val="6F7E88"/>
                </a:solidFill>
                <a:latin typeface="Arial"/>
                <a:ea typeface="Arial"/>
                <a:cs typeface="Arial"/>
              </a:rPr>
              <a:t>REQUIRES CONFIRMATION</a:t>
            </a:r>
          </a:p>
        </p:txBody>
      </p:sp>
      <p:sp>
        <p:nvSpPr>
          <p:cNvPr id="13" name="">
            <a:extLst xmlns:a="http://schemas.openxmlformats.org/drawingml/2006/main">
              <a:ext uri="{FF2B5EF4-FFF2-40B4-BE49-F238E27FC236}">
                <a16:creationId xmlns:a16="http://schemas.microsoft.com/office/drawing/2014/main" id="{F27B44D7-D13B-4275-B21B-8ADAC1B4B514}"/>
              </a:ext>
            </a:extLst>
          </p:cNvPr>
          <p:cNvSpPr>
            <a:spLocks xmlns:a="http://schemas.openxmlformats.org/drawingml/2006/main" noGrp="1"/>
          </p:cNvSpPr>
          <p:nvPr/>
        </p:nvSpPr>
        <p:spPr>
          <a:xfrm xmlns:a="http://schemas.openxmlformats.org/drawingml/2006/main">
            <a:off x="7934325" y="59817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47"/>
          </a:bodyPr>
          <a:lstStyle xmlns:a="http://schemas.openxmlformats.org/drawingml/2006/main"/>
          <a:p xmlns:a="http://schemas.openxmlformats.org/drawingml/2006/main">
            <a:pPr algn="r">
              <a:defRPr sz="938" b="0">
                <a:solidFill>
                  <a:srgbClr val="61788A"/>
                </a:solidFill>
                <a:latin typeface="Arial"/>
                <a:ea typeface="Arial"/>
                <a:cs typeface="Arial"/>
              </a:defRPr>
            </a:pPr>
            <a:r>
              <a:rPr sz="938" b="0">
                <a:solidFill>
                  <a:srgbClr val="61788A"/>
                </a:solidFill>
                <a:latin typeface="Arial"/>
                <a:ea typeface="Arial"/>
                <a:cs typeface="Arial"/>
              </a:rPr>
              <a:t>Health Call and Digital Services: potential development support subject to Trust review</a:t>
            </a:r>
          </a:p>
        </p:txBody>
      </p:sp>
      <p:sp>
        <p:nvSpPr>
          <p:cNvPr id="14" name="">
            <a:extLst xmlns:a="http://schemas.openxmlformats.org/drawingml/2006/main">
              <a:ext uri="{FF2B5EF4-FFF2-40B4-BE49-F238E27FC236}">
                <a16:creationId xmlns:a16="http://schemas.microsoft.com/office/drawing/2014/main" id="{EF7A3715-D056-47F1-9D17-B70615ECD0AC}"/>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15" name="">
            <a:extLst xmlns:a="http://schemas.openxmlformats.org/drawingml/2006/main">
              <a:ext uri="{FF2B5EF4-FFF2-40B4-BE49-F238E27FC236}">
                <a16:creationId xmlns:a16="http://schemas.microsoft.com/office/drawing/2014/main" id="{1B6A500F-2B0E-4CF6-96FC-49C00B40AC4A}"/>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16" name="">
            <a:extLst xmlns:a="http://schemas.openxmlformats.org/drawingml/2006/main">
              <a:ext uri="{FF2B5EF4-FFF2-40B4-BE49-F238E27FC236}">
                <a16:creationId xmlns:a16="http://schemas.microsoft.com/office/drawing/2014/main" id="{1F5F7560-AFF4-4283-955E-38861ED1F82A}"/>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17" name="">
            <a:extLst xmlns:a="http://schemas.openxmlformats.org/drawingml/2006/main">
              <a:ext uri="{FF2B5EF4-FFF2-40B4-BE49-F238E27FC236}">
                <a16:creationId xmlns:a16="http://schemas.microsoft.com/office/drawing/2014/main" id="{A758334F-D9DE-4A77-A4A1-CBD1A4EC133B}"/>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04</a:t>
            </a:r>
          </a:p>
        </p:txBody>
      </p:sp>
    </p:spTree>
    <p:extLst>
      <p:ext uri="{BB962C8B-B14F-4D97-AF65-F5344CB8AC3E}">
        <p14:creationId xmlns:p14="http://schemas.microsoft.com/office/powerpoint/2010/main" val="13019330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F432012-B1AC-40D0-BE9C-AD402FEF29A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94AB53-ECBF-47AB-B46B-41C1D18963E7}"/>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80E8815-73D6-426B-86A4-64A8F3DB1F12}"/>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Family readiness alerts</a:t>
            </a:r>
          </a:p>
        </p:txBody>
      </p:sp>
      <p:sp>
        <p:nvSpPr>
          <p:cNvPr id="4" name="">
            <a:extLst xmlns:a="http://schemas.openxmlformats.org/drawingml/2006/main">
              <a:ext uri="{FF2B5EF4-FFF2-40B4-BE49-F238E27FC236}">
                <a16:creationId xmlns:a16="http://schemas.microsoft.com/office/drawing/2014/main" id="{D0662439-4FCC-4276-B05B-5CE11EBE0936}"/>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Earlier notice gives families more time to prepare</a:t>
            </a:r>
          </a:p>
        </p:txBody>
      </p:sp>
      <p:sp>
        <p:nvSpPr>
          <p:cNvPr id="5" name="">
            <a:extLst xmlns:a="http://schemas.openxmlformats.org/drawingml/2006/main">
              <a:ext uri="{FF2B5EF4-FFF2-40B4-BE49-F238E27FC236}">
                <a16:creationId xmlns:a16="http://schemas.microsoft.com/office/drawing/2014/main" id="{F3267DD5-F56B-4676-9D54-DAB3839ECE36}"/>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32823E7F-0864-486B-BBF2-DBC17295A716}"/>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A5FCBA80-9A24-4C77-B493-69C730699CC0}"/>
              </a:ext>
            </a:extLst>
          </p:cNvPr>
          <p:cNvSpPr>
            <a:spLocks xmlns:a="http://schemas.openxmlformats.org/drawingml/2006/main" noGrp="1"/>
          </p:cNvSpPr>
          <p:nvPr/>
        </p:nvSpPr>
        <p:spPr>
          <a:xfrm xmlns:a="http://schemas.openxmlformats.org/drawingml/2006/main">
            <a:off x="438150" y="1333500"/>
            <a:ext cx="7181850" cy="4962525"/>
          </a:xfrm>
          <a:prstGeom xmlns:a="http://schemas.openxmlformats.org/drawingml/2006/main" prst="roundRect">
            <a:avLst>
              <a:gd name="adj" fmla="val 3455"/>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86532fa2a2f4735"/>
          <a:srcRect xmlns:a="http://schemas.openxmlformats.org/drawingml/2006/main" l="0" t="5211" r="0" b="5211"/>
          <a:stretch xmlns:a="http://schemas.openxmlformats.org/drawingml/2006/main">
            <a:fillRect l="0" t="0" r="0" b="0"/>
          </a:stretch>
        </p:blipFill>
        <p:spPr>
          <a:xfrm xmlns:a="http://schemas.openxmlformats.org/drawingml/2006/main">
            <a:off x="514350" y="1409700"/>
            <a:ext cx="7029450" cy="4810125"/>
          </a:xfrm>
          <a:prstGeom xmlns:a="http://schemas.openxmlformats.org/drawingml/2006/main" prst="roundRect">
            <a:avLst>
              <a:gd name="adj" fmla="val 2376"/>
            </a:avLst>
          </a:prstGeom>
        </p:spPr>
      </p:pic>
      <p:sp>
        <p:nvSpPr>
          <p:cNvPr id="9" name="">
            <a:extLst xmlns:a="http://schemas.openxmlformats.org/drawingml/2006/main">
              <a:ext uri="{FF2B5EF4-FFF2-40B4-BE49-F238E27FC236}">
                <a16:creationId xmlns:a16="http://schemas.microsoft.com/office/drawing/2014/main" id="{D7A952FF-9D74-4A5F-9149-6DA1B22906BA}"/>
              </a:ext>
            </a:extLst>
          </p:cNvPr>
          <p:cNvSpPr>
            <a:spLocks xmlns:a="http://schemas.openxmlformats.org/drawingml/2006/main" noGrp="1"/>
          </p:cNvSpPr>
          <p:nvPr/>
        </p:nvSpPr>
        <p:spPr>
          <a:xfrm xmlns:a="http://schemas.openxmlformats.org/drawingml/2006/main">
            <a:off x="8096250" y="1562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304A"/>
                </a:solidFill>
                <a:latin typeface="Arial"/>
                <a:ea typeface="Arial"/>
                <a:cs typeface="Arial"/>
              </a:defRPr>
            </a:pPr>
            <a:r>
              <a:rPr sz="2025" b="1">
                <a:solidFill>
                  <a:srgbClr val="12304A"/>
                </a:solidFill>
                <a:latin typeface="Arial"/>
                <a:ea typeface="Arial"/>
                <a:cs typeface="Arial"/>
              </a:rPr>
              <a:t>A staged conversation</a:t>
            </a:r>
          </a:p>
        </p:txBody>
      </p:sp>
      <p:sp>
        <p:nvSpPr>
          <p:cNvPr id="10" name="">
            <a:extLst xmlns:a="http://schemas.openxmlformats.org/drawingml/2006/main">
              <a:ext uri="{FF2B5EF4-FFF2-40B4-BE49-F238E27FC236}">
                <a16:creationId xmlns:a16="http://schemas.microsoft.com/office/drawing/2014/main" id="{96BD7049-9549-4FA4-B267-0224E90F7EBA}"/>
              </a:ext>
            </a:extLst>
          </p:cNvPr>
          <p:cNvSpPr>
            <a:spLocks xmlns:a="http://schemas.openxmlformats.org/drawingml/2006/main" noGrp="1"/>
          </p:cNvSpPr>
          <p:nvPr/>
        </p:nvSpPr>
        <p:spPr>
          <a:xfrm xmlns:a="http://schemas.openxmlformats.org/drawingml/2006/main">
            <a:off x="8115300" y="21336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EEA1846-9097-41A7-B349-0B46506A5978}"/>
              </a:ext>
            </a:extLst>
          </p:cNvPr>
          <p:cNvSpPr>
            <a:spLocks xmlns:a="http://schemas.openxmlformats.org/drawingml/2006/main" noGrp="1"/>
          </p:cNvSpPr>
          <p:nvPr/>
        </p:nvSpPr>
        <p:spPr>
          <a:xfrm xmlns:a="http://schemas.openxmlformats.org/drawingml/2006/main">
            <a:off x="8648700" y="21145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Likely discharge</a:t>
            </a:r>
          </a:p>
        </p:txBody>
      </p:sp>
      <p:sp>
        <p:nvSpPr>
          <p:cNvPr id="12" name="">
            <a:extLst xmlns:a="http://schemas.openxmlformats.org/drawingml/2006/main">
              <a:ext uri="{FF2B5EF4-FFF2-40B4-BE49-F238E27FC236}">
                <a16:creationId xmlns:a16="http://schemas.microsoft.com/office/drawing/2014/main" id="{37C36676-1EA0-4FC0-8376-CE59A2BEE874}"/>
              </a:ext>
            </a:extLst>
          </p:cNvPr>
          <p:cNvSpPr>
            <a:spLocks xmlns:a="http://schemas.openxmlformats.org/drawingml/2006/main" noGrp="1"/>
          </p:cNvSpPr>
          <p:nvPr/>
        </p:nvSpPr>
        <p:spPr>
          <a:xfrm xmlns:a="http://schemas.openxmlformats.org/drawingml/2006/main">
            <a:off x="8648700" y="24003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Begin planning</a:t>
            </a:r>
          </a:p>
        </p:txBody>
      </p:sp>
      <p:sp>
        <p:nvSpPr>
          <p:cNvPr id="13" name="">
            <a:extLst xmlns:a="http://schemas.openxmlformats.org/drawingml/2006/main">
              <a:ext uri="{FF2B5EF4-FFF2-40B4-BE49-F238E27FC236}">
                <a16:creationId xmlns:a16="http://schemas.microsoft.com/office/drawing/2014/main" id="{B1A9F7CC-8E10-421A-8834-F1AB857041B7}"/>
              </a:ext>
            </a:extLst>
          </p:cNvPr>
          <p:cNvSpPr>
            <a:spLocks xmlns:a="http://schemas.openxmlformats.org/drawingml/2006/main" noGrp="1"/>
          </p:cNvSpPr>
          <p:nvPr/>
        </p:nvSpPr>
        <p:spPr>
          <a:xfrm xmlns:a="http://schemas.openxmlformats.org/drawingml/2006/main">
            <a:off x="8315325" y="2457450"/>
            <a:ext cx="0" cy="523875"/>
          </a:xfrm>
          <a:prstGeom xmlns:a="http://schemas.openxmlformats.org/drawingml/2006/main" prst="line">
            <a:avLst/>
          </a:prstGeom>
          <a:noFill xmlns:a="http://schemas.openxmlformats.org/drawingml/2006/main"/>
          <a:ln xmlns:a="http://schemas.openxmlformats.org/drawingml/2006/main" w="19050">
            <a:solidFill>
              <a:srgbClr val="D4E0E7"/>
            </a:solidFill>
          </a:ln>
        </p:spPr>
      </p:sp>
      <p:sp>
        <p:nvSpPr>
          <p:cNvPr id="14" name="">
            <a:extLst xmlns:a="http://schemas.openxmlformats.org/drawingml/2006/main">
              <a:ext uri="{FF2B5EF4-FFF2-40B4-BE49-F238E27FC236}">
                <a16:creationId xmlns:a16="http://schemas.microsoft.com/office/drawing/2014/main" id="{5B62FBD7-22BB-4CA7-8197-3368727658A5}"/>
              </a:ext>
            </a:extLst>
          </p:cNvPr>
          <p:cNvSpPr>
            <a:spLocks xmlns:a="http://schemas.openxmlformats.org/drawingml/2006/main" noGrp="1"/>
          </p:cNvSpPr>
          <p:nvPr/>
        </p:nvSpPr>
        <p:spPr>
          <a:xfrm xmlns:a="http://schemas.openxmlformats.org/drawingml/2006/main">
            <a:off x="8115300" y="2933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F2FFF9EC-2BE3-43DC-B14F-30ABB8A2BBBE}"/>
              </a:ext>
            </a:extLst>
          </p:cNvPr>
          <p:cNvSpPr>
            <a:spLocks xmlns:a="http://schemas.openxmlformats.org/drawingml/2006/main" noGrp="1"/>
          </p:cNvSpPr>
          <p:nvPr/>
        </p:nvSpPr>
        <p:spPr>
          <a:xfrm xmlns:a="http://schemas.openxmlformats.org/drawingml/2006/main">
            <a:off x="8648700" y="29146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Prepare for collection</a:t>
            </a:r>
          </a:p>
        </p:txBody>
      </p:sp>
      <p:sp>
        <p:nvSpPr>
          <p:cNvPr id="16" name="">
            <a:extLst xmlns:a="http://schemas.openxmlformats.org/drawingml/2006/main">
              <a:ext uri="{FF2B5EF4-FFF2-40B4-BE49-F238E27FC236}">
                <a16:creationId xmlns:a16="http://schemas.microsoft.com/office/drawing/2014/main" id="{9C756891-4694-4B40-9794-0A92F47FE4D4}"/>
              </a:ext>
            </a:extLst>
          </p:cNvPr>
          <p:cNvSpPr>
            <a:spLocks xmlns:a="http://schemas.openxmlformats.org/drawingml/2006/main" noGrp="1"/>
          </p:cNvSpPr>
          <p:nvPr/>
        </p:nvSpPr>
        <p:spPr>
          <a:xfrm xmlns:a="http://schemas.openxmlformats.org/drawingml/2006/main">
            <a:off x="8648700" y="32004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Check availability</a:t>
            </a:r>
          </a:p>
        </p:txBody>
      </p:sp>
      <p:sp>
        <p:nvSpPr>
          <p:cNvPr id="17" name="">
            <a:extLst xmlns:a="http://schemas.openxmlformats.org/drawingml/2006/main">
              <a:ext uri="{FF2B5EF4-FFF2-40B4-BE49-F238E27FC236}">
                <a16:creationId xmlns:a16="http://schemas.microsoft.com/office/drawing/2014/main" id="{9175FDBB-8460-453D-BD99-A2C5A772BD4B}"/>
              </a:ext>
            </a:extLst>
          </p:cNvPr>
          <p:cNvSpPr>
            <a:spLocks xmlns:a="http://schemas.openxmlformats.org/drawingml/2006/main" noGrp="1"/>
          </p:cNvSpPr>
          <p:nvPr/>
        </p:nvSpPr>
        <p:spPr>
          <a:xfrm xmlns:a="http://schemas.openxmlformats.org/drawingml/2006/main">
            <a:off x="8315325" y="3257550"/>
            <a:ext cx="0" cy="523875"/>
          </a:xfrm>
          <a:prstGeom xmlns:a="http://schemas.openxmlformats.org/drawingml/2006/main" prst="line">
            <a:avLst/>
          </a:prstGeom>
          <a:noFill xmlns:a="http://schemas.openxmlformats.org/drawingml/2006/main"/>
          <a:ln xmlns:a="http://schemas.openxmlformats.org/drawingml/2006/main" w="19050">
            <a:solidFill>
              <a:srgbClr val="D4E0E7"/>
            </a:solidFill>
          </a:ln>
        </p:spPr>
      </p:sp>
      <p:sp>
        <p:nvSpPr>
          <p:cNvPr id="18" name="">
            <a:extLst xmlns:a="http://schemas.openxmlformats.org/drawingml/2006/main">
              <a:ext uri="{FF2B5EF4-FFF2-40B4-BE49-F238E27FC236}">
                <a16:creationId xmlns:a16="http://schemas.microsoft.com/office/drawing/2014/main" id="{42CDA572-1BD6-4130-AAE3-EA2822849DE2}"/>
              </a:ext>
            </a:extLst>
          </p:cNvPr>
          <p:cNvSpPr>
            <a:spLocks xmlns:a="http://schemas.openxmlformats.org/drawingml/2006/main" noGrp="1"/>
          </p:cNvSpPr>
          <p:nvPr/>
        </p:nvSpPr>
        <p:spPr>
          <a:xfrm xmlns:a="http://schemas.openxmlformats.org/drawingml/2006/main">
            <a:off x="8115300" y="37338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7AE8D1FD-7C66-40D0-9392-52ABEAA62A46}"/>
              </a:ext>
            </a:extLst>
          </p:cNvPr>
          <p:cNvSpPr>
            <a:spLocks xmlns:a="http://schemas.openxmlformats.org/drawingml/2006/main" noGrp="1"/>
          </p:cNvSpPr>
          <p:nvPr/>
        </p:nvSpPr>
        <p:spPr>
          <a:xfrm xmlns:a="http://schemas.openxmlformats.org/drawingml/2006/main">
            <a:off x="8648700" y="3714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Ready for collection</a:t>
            </a:r>
          </a:p>
        </p:txBody>
      </p:sp>
      <p:sp>
        <p:nvSpPr>
          <p:cNvPr id="20" name="">
            <a:extLst xmlns:a="http://schemas.openxmlformats.org/drawingml/2006/main">
              <a:ext uri="{FF2B5EF4-FFF2-40B4-BE49-F238E27FC236}">
                <a16:creationId xmlns:a16="http://schemas.microsoft.com/office/drawing/2014/main" id="{107D8D0C-4B35-4F14-8BED-F8B0CA190EEF}"/>
              </a:ext>
            </a:extLst>
          </p:cNvPr>
          <p:cNvSpPr>
            <a:spLocks xmlns:a="http://schemas.openxmlformats.org/drawingml/2006/main" noGrp="1"/>
          </p:cNvSpPr>
          <p:nvPr/>
        </p:nvSpPr>
        <p:spPr>
          <a:xfrm xmlns:a="http://schemas.openxmlformats.org/drawingml/2006/main">
            <a:off x="8648700" y="40005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Confirm arrangements</a:t>
            </a:r>
          </a:p>
        </p:txBody>
      </p:sp>
      <p:sp>
        <p:nvSpPr>
          <p:cNvPr id="21" name="">
            <a:extLst xmlns:a="http://schemas.openxmlformats.org/drawingml/2006/main">
              <a:ext uri="{FF2B5EF4-FFF2-40B4-BE49-F238E27FC236}">
                <a16:creationId xmlns:a16="http://schemas.microsoft.com/office/drawing/2014/main" id="{1FE92E9E-A744-4A27-AB8C-598B2B6705B9}"/>
              </a:ext>
            </a:extLst>
          </p:cNvPr>
          <p:cNvSpPr>
            <a:spLocks xmlns:a="http://schemas.openxmlformats.org/drawingml/2006/main" noGrp="1"/>
          </p:cNvSpPr>
          <p:nvPr/>
        </p:nvSpPr>
        <p:spPr>
          <a:xfrm xmlns:a="http://schemas.openxmlformats.org/drawingml/2006/main">
            <a:off x="8315325" y="4057650"/>
            <a:ext cx="0" cy="523875"/>
          </a:xfrm>
          <a:prstGeom xmlns:a="http://schemas.openxmlformats.org/drawingml/2006/main" prst="line">
            <a:avLst/>
          </a:prstGeom>
          <a:noFill xmlns:a="http://schemas.openxmlformats.org/drawingml/2006/main"/>
          <a:ln xmlns:a="http://schemas.openxmlformats.org/drawingml/2006/main" w="19050">
            <a:solidFill>
              <a:srgbClr val="D4E0E7"/>
            </a:solidFill>
          </a:ln>
        </p:spPr>
      </p:sp>
      <p:sp>
        <p:nvSpPr>
          <p:cNvPr id="22" name="">
            <a:extLst xmlns:a="http://schemas.openxmlformats.org/drawingml/2006/main">
              <a:ext uri="{FF2B5EF4-FFF2-40B4-BE49-F238E27FC236}">
                <a16:creationId xmlns:a16="http://schemas.microsoft.com/office/drawing/2014/main" id="{F7145818-6BCD-498A-AD60-5D97C76F8D93}"/>
              </a:ext>
            </a:extLst>
          </p:cNvPr>
          <p:cNvSpPr>
            <a:spLocks xmlns:a="http://schemas.openxmlformats.org/drawingml/2006/main" noGrp="1"/>
          </p:cNvSpPr>
          <p:nvPr/>
        </p:nvSpPr>
        <p:spPr>
          <a:xfrm xmlns:a="http://schemas.openxmlformats.org/drawingml/2006/main">
            <a:off x="8115300" y="45339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797DF2E-B619-455B-A211-16055FBA11BB}"/>
              </a:ext>
            </a:extLst>
          </p:cNvPr>
          <p:cNvSpPr>
            <a:spLocks xmlns:a="http://schemas.openxmlformats.org/drawingml/2006/main" noGrp="1"/>
          </p:cNvSpPr>
          <p:nvPr/>
        </p:nvSpPr>
        <p:spPr>
          <a:xfrm xmlns:a="http://schemas.openxmlformats.org/drawingml/2006/main">
            <a:off x="8648700" y="45148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Family response</a:t>
            </a:r>
          </a:p>
        </p:txBody>
      </p:sp>
      <p:sp>
        <p:nvSpPr>
          <p:cNvPr id="24" name="">
            <a:extLst xmlns:a="http://schemas.openxmlformats.org/drawingml/2006/main">
              <a:ext uri="{FF2B5EF4-FFF2-40B4-BE49-F238E27FC236}">
                <a16:creationId xmlns:a16="http://schemas.microsoft.com/office/drawing/2014/main" id="{50A8D4EB-83D4-4912-9AAD-67430A524806}"/>
              </a:ext>
            </a:extLst>
          </p:cNvPr>
          <p:cNvSpPr>
            <a:spLocks xmlns:a="http://schemas.openxmlformats.org/drawingml/2006/main" noGrp="1"/>
          </p:cNvSpPr>
          <p:nvPr/>
        </p:nvSpPr>
        <p:spPr>
          <a:xfrm xmlns:a="http://schemas.openxmlformats.org/drawingml/2006/main">
            <a:off x="8648700" y="48006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Confirm or request support</a:t>
            </a:r>
          </a:p>
        </p:txBody>
      </p:sp>
      <p:sp>
        <p:nvSpPr>
          <p:cNvPr id="25" name="">
            <a:extLst xmlns:a="http://schemas.openxmlformats.org/drawingml/2006/main">
              <a:ext uri="{FF2B5EF4-FFF2-40B4-BE49-F238E27FC236}">
                <a16:creationId xmlns:a16="http://schemas.microsoft.com/office/drawing/2014/main" id="{A83ACD24-14A7-42C3-A6C4-198D73C51FE6}"/>
              </a:ext>
            </a:extLst>
          </p:cNvPr>
          <p:cNvSpPr>
            <a:spLocks xmlns:a="http://schemas.openxmlformats.org/drawingml/2006/main" noGrp="1"/>
          </p:cNvSpPr>
          <p:nvPr/>
        </p:nvSpPr>
        <p:spPr>
          <a:xfrm xmlns:a="http://schemas.openxmlformats.org/drawingml/2006/main">
            <a:off x="8115300" y="5457825"/>
            <a:ext cx="1600200" cy="285750"/>
          </a:xfrm>
          <a:prstGeom xmlns:a="http://schemas.openxmlformats.org/drawingml/2006/main" prst="roundRect">
            <a:avLst>
              <a:gd name="adj" fmla="val 26667"/>
            </a:avLst>
          </a:prstGeom>
          <a:solidFill xmlns:a="http://schemas.openxmlformats.org/drawingml/2006/main">
            <a:srgbClr val="E7F5EF"/>
          </a:solidFill>
          <a:ln xmlns:a="http://schemas.openxmlformats.org/drawingml/2006/main" w="9525">
            <a:solidFill>
              <a:srgbClr val="8BC9B2"/>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14845F"/>
                </a:solidFill>
                <a:latin typeface="Arial"/>
                <a:ea typeface="Arial"/>
                <a:cs typeface="Arial"/>
              </a:defRPr>
            </a:pPr>
            <a:r>
              <a:rPr sz="788" b="1">
                <a:solidFill>
                  <a:srgbClr val="14845F"/>
                </a:solidFill>
                <a:latin typeface="Arial"/>
                <a:ea typeface="Arial"/>
                <a:cs typeface="Arial"/>
              </a:rPr>
              <a:t>HOMEFLOW ADDITION</a:t>
            </a:r>
          </a:p>
        </p:txBody>
      </p:sp>
      <p:sp>
        <p:nvSpPr>
          <p:cNvPr id="26" name="">
            <a:extLst xmlns:a="http://schemas.openxmlformats.org/drawingml/2006/main">
              <a:ext uri="{FF2B5EF4-FFF2-40B4-BE49-F238E27FC236}">
                <a16:creationId xmlns:a16="http://schemas.microsoft.com/office/drawing/2014/main" id="{76138979-23EE-4AB9-B3B4-7D650E01276D}"/>
              </a:ext>
            </a:extLst>
          </p:cNvPr>
          <p:cNvSpPr>
            <a:spLocks xmlns:a="http://schemas.openxmlformats.org/drawingml/2006/main" noGrp="1"/>
          </p:cNvSpPr>
          <p:nvPr/>
        </p:nvSpPr>
        <p:spPr>
          <a:xfrm xmlns:a="http://schemas.openxmlformats.org/drawingml/2006/main">
            <a:off x="9820275" y="5457825"/>
            <a:ext cx="1762125" cy="285750"/>
          </a:xfrm>
          <a:prstGeom xmlns:a="http://schemas.openxmlformats.org/drawingml/2006/main" prst="roundRect">
            <a:avLst>
              <a:gd name="adj" fmla="val 26667"/>
            </a:avLst>
          </a:prstGeom>
          <a:solidFill xmlns:a="http://schemas.openxmlformats.org/drawingml/2006/main">
            <a:srgbClr val="F2ECF8"/>
          </a:solidFill>
          <a:ln xmlns:a="http://schemas.openxmlformats.org/drawingml/2006/main" w="9525">
            <a:solidFill>
              <a:srgbClr val="B59BD1"/>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7656A2"/>
                </a:solidFill>
                <a:latin typeface="Arial"/>
                <a:ea typeface="Arial"/>
                <a:cs typeface="Arial"/>
              </a:defRPr>
            </a:pPr>
            <a:r>
              <a:rPr sz="788" b="1">
                <a:solidFill>
                  <a:srgbClr val="7656A2"/>
                </a:solidFill>
                <a:latin typeface="Arial"/>
                <a:ea typeface="Arial"/>
                <a:cs typeface="Arial"/>
              </a:rPr>
              <a:t>PROPOSED DRDOCTOR USE</a:t>
            </a:r>
          </a:p>
        </p:txBody>
      </p:sp>
      <p:sp>
        <p:nvSpPr>
          <p:cNvPr id="27" name="">
            <a:extLst xmlns:a="http://schemas.openxmlformats.org/drawingml/2006/main">
              <a:ext uri="{FF2B5EF4-FFF2-40B4-BE49-F238E27FC236}">
                <a16:creationId xmlns:a16="http://schemas.microsoft.com/office/drawing/2014/main" id="{AF0304D3-CD80-45C2-AD8A-9DF45CE19906}"/>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28" name="">
            <a:extLst xmlns:a="http://schemas.openxmlformats.org/drawingml/2006/main">
              <a:ext uri="{FF2B5EF4-FFF2-40B4-BE49-F238E27FC236}">
                <a16:creationId xmlns:a16="http://schemas.microsoft.com/office/drawing/2014/main" id="{01B90C08-5CC7-4B33-B8D6-9DB1C2A27EFE}"/>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29" name="">
            <a:extLst xmlns:a="http://schemas.openxmlformats.org/drawingml/2006/main">
              <a:ext uri="{FF2B5EF4-FFF2-40B4-BE49-F238E27FC236}">
                <a16:creationId xmlns:a16="http://schemas.microsoft.com/office/drawing/2014/main" id="{6FFF048A-D871-4B68-A99C-71C47F6A2623}"/>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30" name="">
            <a:extLst xmlns:a="http://schemas.openxmlformats.org/drawingml/2006/main">
              <a:ext uri="{FF2B5EF4-FFF2-40B4-BE49-F238E27FC236}">
                <a16:creationId xmlns:a16="http://schemas.microsoft.com/office/drawing/2014/main" id="{DA69EC24-822E-4F08-9AF6-B54F87F50A3A}"/>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05</a:t>
            </a:r>
          </a:p>
        </p:txBody>
      </p:sp>
    </p:spTree>
    <p:extLst>
      <p:ext uri="{BB962C8B-B14F-4D97-AF65-F5344CB8AC3E}">
        <p14:creationId xmlns:p14="http://schemas.microsoft.com/office/powerpoint/2010/main" val="1241047788"/>
      </p:ext>
    </p:extLst>
  </p:cSld>
</p:sld>
</file>

<file path=ppt/slides/slide6.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EE7D2EA-37F7-4589-B858-9C9A2DC88A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39B7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239C14-E545-46E6-85DE-BEC18AB23380}"/>
              </a:ext>
            </a:extLst>
          </p:cNvPr>
          <p:cNvSpPr>
            <a:spLocks xmlns:a="http://schemas.openxmlformats.org/drawingml/2006/main" noGrp="1"/>
          </p:cNvSpPr>
          <p:nvPr/>
        </p:nvSpPr>
        <p:spPr>
          <a:xfrm xmlns:a="http://schemas.openxmlformats.org/drawingml/2006/main">
            <a:off x="514350" y="371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9B7A0"/>
                </a:solidFill>
                <a:latin typeface="Arial"/>
                <a:ea typeface="Arial"/>
                <a:cs typeface="Arial"/>
              </a:defRPr>
            </a:pPr>
            <a:r>
              <a:rPr sz="1125" b="1">
                <a:solidFill>
                  <a:srgbClr val="39B7A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408B54D-B6F8-403F-8F75-4B580ED1FC1B}"/>
              </a:ext>
            </a:extLst>
          </p:cNvPr>
          <p:cNvSpPr>
            <a:spLocks xmlns:a="http://schemas.openxmlformats.org/drawingml/2006/main" noGrp="1"/>
          </p:cNvSpPr>
          <p:nvPr/>
        </p:nvSpPr>
        <p:spPr>
          <a:xfrm xmlns:a="http://schemas.openxmlformats.org/drawingml/2006/main">
            <a:off x="1047750" y="2857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FFFFFF"/>
                </a:solidFill>
                <a:latin typeface="Arial"/>
                <a:ea typeface="Arial"/>
                <a:cs typeface="Arial"/>
              </a:defRPr>
            </a:pPr>
            <a:r>
              <a:rPr sz="2625" b="1">
                <a:solidFill>
                  <a:srgbClr val="FFFFFF"/>
                </a:solidFill>
                <a:latin typeface="Arial"/>
                <a:ea typeface="Arial"/>
                <a:cs typeface="Arial"/>
              </a:rPr>
              <a:t>Ward display</a:t>
            </a:r>
          </a:p>
        </p:txBody>
      </p:sp>
      <p:sp>
        <p:nvSpPr>
          <p:cNvPr id="4" name="">
            <a:extLst xmlns:a="http://schemas.openxmlformats.org/drawingml/2006/main">
              <a:ext uri="{FF2B5EF4-FFF2-40B4-BE49-F238E27FC236}">
                <a16:creationId xmlns:a16="http://schemas.microsoft.com/office/drawing/2014/main" id="{572AA64E-878C-4FBE-ABE2-521B62971A25}"/>
              </a:ext>
            </a:extLst>
          </p:cNvPr>
          <p:cNvSpPr>
            <a:spLocks xmlns:a="http://schemas.openxmlformats.org/drawingml/2006/main" noGrp="1"/>
          </p:cNvSpPr>
          <p:nvPr/>
        </p:nvSpPr>
        <p:spPr>
          <a:xfrm xmlns:a="http://schemas.openxmlformats.org/drawingml/2006/main">
            <a:off x="1066800" y="8001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C7DCE8"/>
                </a:solidFill>
                <a:latin typeface="Arial"/>
                <a:ea typeface="Arial"/>
                <a:cs typeface="Arial"/>
              </a:defRPr>
            </a:pPr>
            <a:r>
              <a:rPr sz="1275" b="0">
                <a:solidFill>
                  <a:srgbClr val="C7DCE8"/>
                </a:solidFill>
                <a:latin typeface="Arial"/>
                <a:ea typeface="Arial"/>
                <a:cs typeface="Arial"/>
              </a:rPr>
              <a:t>Privacy-safe visibility for the whole team</a:t>
            </a:r>
          </a:p>
        </p:txBody>
      </p:sp>
      <p:sp>
        <p:nvSpPr>
          <p:cNvPr id="5" name="">
            <a:extLst xmlns:a="http://schemas.openxmlformats.org/drawingml/2006/main">
              <a:ext uri="{FF2B5EF4-FFF2-40B4-BE49-F238E27FC236}">
                <a16:creationId xmlns:a16="http://schemas.microsoft.com/office/drawing/2014/main" id="{5CD75690-87C4-4D9C-BA57-B46A32A3253E}"/>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6" name="">
            <a:extLst xmlns:a="http://schemas.openxmlformats.org/drawingml/2006/main">
              <a:ext uri="{FF2B5EF4-FFF2-40B4-BE49-F238E27FC236}">
                <a16:creationId xmlns:a16="http://schemas.microsoft.com/office/drawing/2014/main" id="{42808330-C65E-48B4-A8D9-E27188470F53}"/>
              </a:ext>
            </a:extLst>
          </p:cNvPr>
          <p:cNvSpPr>
            <a:spLocks xmlns:a="http://schemas.openxmlformats.org/drawingml/2006/main" noGrp="1"/>
          </p:cNvSpPr>
          <p:nvPr/>
        </p:nvSpPr>
        <p:spPr>
          <a:xfrm xmlns:a="http://schemas.openxmlformats.org/drawingml/2006/main">
            <a:off x="438150" y="1276350"/>
            <a:ext cx="7820025" cy="4991100"/>
          </a:xfrm>
          <a:prstGeom xmlns:a="http://schemas.openxmlformats.org/drawingml/2006/main" prst="roundRect">
            <a:avLst>
              <a:gd name="adj" fmla="val 3435"/>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3a6e4b706504b3a"/>
          <a:stretch xmlns:a="http://schemas.openxmlformats.org/drawingml/2006/main"/>
        </p:blipFill>
        <p:spPr>
          <a:xfrm xmlns:a="http://schemas.openxmlformats.org/drawingml/2006/main">
            <a:off x="1181013" y="1352550"/>
            <a:ext cx="6334298" cy="4838700"/>
          </a:xfrm>
          <a:prstGeom xmlns:a="http://schemas.openxmlformats.org/drawingml/2006/main" prst="roundRect">
            <a:avLst>
              <a:gd name="adj" fmla="val 2362"/>
            </a:avLst>
          </a:prstGeom>
        </p:spPr>
      </p:pic>
      <p:sp>
        <p:nvSpPr>
          <p:cNvPr id="8" name="">
            <a:extLst xmlns:a="http://schemas.openxmlformats.org/drawingml/2006/main">
              <a:ext uri="{FF2B5EF4-FFF2-40B4-BE49-F238E27FC236}">
                <a16:creationId xmlns:a16="http://schemas.microsoft.com/office/drawing/2014/main" id="{78107AD0-2D78-435D-B004-052E25303459}"/>
              </a:ext>
            </a:extLst>
          </p:cNvPr>
          <p:cNvSpPr>
            <a:spLocks xmlns:a="http://schemas.openxmlformats.org/drawingml/2006/main" noGrp="1"/>
          </p:cNvSpPr>
          <p:nvPr/>
        </p:nvSpPr>
        <p:spPr>
          <a:xfrm xmlns:a="http://schemas.openxmlformats.org/drawingml/2006/main">
            <a:off x="8696325" y="15240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At a glance</a:t>
            </a:r>
          </a:p>
        </p:txBody>
      </p:sp>
      <p:sp>
        <p:nvSpPr>
          <p:cNvPr id="9" name="">
            <a:extLst xmlns:a="http://schemas.openxmlformats.org/drawingml/2006/main">
              <a:ext uri="{FF2B5EF4-FFF2-40B4-BE49-F238E27FC236}">
                <a16:creationId xmlns:a16="http://schemas.microsoft.com/office/drawing/2014/main" id="{416270CD-4A6C-49F4-918B-7F62B51B1297}"/>
              </a:ext>
            </a:extLst>
          </p:cNvPr>
          <p:cNvSpPr>
            <a:spLocks xmlns:a="http://schemas.openxmlformats.org/drawingml/2006/main" noGrp="1"/>
          </p:cNvSpPr>
          <p:nvPr/>
        </p:nvSpPr>
        <p:spPr>
          <a:xfrm xmlns:a="http://schemas.openxmlformats.org/drawingml/2006/main">
            <a:off x="8743950" y="231457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2309931-FCDF-4594-9F1C-40F759807A9C}"/>
              </a:ext>
            </a:extLst>
          </p:cNvPr>
          <p:cNvSpPr>
            <a:spLocks xmlns:a="http://schemas.openxmlformats.org/drawingml/2006/main" noGrp="1"/>
          </p:cNvSpPr>
          <p:nvPr/>
        </p:nvSpPr>
        <p:spPr>
          <a:xfrm xmlns:a="http://schemas.openxmlformats.org/drawingml/2006/main">
            <a:off x="8972550" y="2247900"/>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Expected discharges</a:t>
            </a:r>
          </a:p>
        </p:txBody>
      </p:sp>
      <p:sp>
        <p:nvSpPr>
          <p:cNvPr id="11" name="">
            <a:extLst xmlns:a="http://schemas.openxmlformats.org/drawingml/2006/main">
              <a:ext uri="{FF2B5EF4-FFF2-40B4-BE49-F238E27FC236}">
                <a16:creationId xmlns:a16="http://schemas.microsoft.com/office/drawing/2014/main" id="{171BF9AE-6EB0-4FF6-B464-F1BF26F7A066}"/>
              </a:ext>
            </a:extLst>
          </p:cNvPr>
          <p:cNvSpPr>
            <a:spLocks xmlns:a="http://schemas.openxmlformats.org/drawingml/2006/main" noGrp="1"/>
          </p:cNvSpPr>
          <p:nvPr/>
        </p:nvSpPr>
        <p:spPr>
          <a:xfrm xmlns:a="http://schemas.openxmlformats.org/drawingml/2006/main">
            <a:off x="8743950" y="2895600"/>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B4D775-8676-443A-B650-2F8CEF846B76}"/>
              </a:ext>
            </a:extLst>
          </p:cNvPr>
          <p:cNvSpPr>
            <a:spLocks xmlns:a="http://schemas.openxmlformats.org/drawingml/2006/main" noGrp="1"/>
          </p:cNvSpPr>
          <p:nvPr/>
        </p:nvSpPr>
        <p:spPr>
          <a:xfrm xmlns:a="http://schemas.openxmlformats.org/drawingml/2006/main">
            <a:off x="8972550" y="2828925"/>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Current barrier and owner</a:t>
            </a:r>
          </a:p>
        </p:txBody>
      </p:sp>
      <p:sp>
        <p:nvSpPr>
          <p:cNvPr id="13" name="">
            <a:extLst xmlns:a="http://schemas.openxmlformats.org/drawingml/2006/main">
              <a:ext uri="{FF2B5EF4-FFF2-40B4-BE49-F238E27FC236}">
                <a16:creationId xmlns:a16="http://schemas.microsoft.com/office/drawing/2014/main" id="{6A7119D2-8A01-4A34-BEEC-EC42E832A9CC}"/>
              </a:ext>
            </a:extLst>
          </p:cNvPr>
          <p:cNvSpPr>
            <a:spLocks xmlns:a="http://schemas.openxmlformats.org/drawingml/2006/main" noGrp="1"/>
          </p:cNvSpPr>
          <p:nvPr/>
        </p:nvSpPr>
        <p:spPr>
          <a:xfrm xmlns:a="http://schemas.openxmlformats.org/drawingml/2006/main">
            <a:off x="8743950" y="347662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1A25155-22D8-4B54-935F-E576AC1D1CA3}"/>
              </a:ext>
            </a:extLst>
          </p:cNvPr>
          <p:cNvSpPr>
            <a:spLocks xmlns:a="http://schemas.openxmlformats.org/drawingml/2006/main" noGrp="1"/>
          </p:cNvSpPr>
          <p:nvPr/>
        </p:nvSpPr>
        <p:spPr>
          <a:xfrm xmlns:a="http://schemas.openxmlformats.org/drawingml/2006/main">
            <a:off x="8972550" y="3409950"/>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Target completion time</a:t>
            </a:r>
          </a:p>
        </p:txBody>
      </p:sp>
      <p:sp>
        <p:nvSpPr>
          <p:cNvPr id="15" name="">
            <a:extLst xmlns:a="http://schemas.openxmlformats.org/drawingml/2006/main">
              <a:ext uri="{FF2B5EF4-FFF2-40B4-BE49-F238E27FC236}">
                <a16:creationId xmlns:a16="http://schemas.microsoft.com/office/drawing/2014/main" id="{D4B92BC9-6675-4659-818C-E9716A518BB4}"/>
              </a:ext>
            </a:extLst>
          </p:cNvPr>
          <p:cNvSpPr>
            <a:spLocks xmlns:a="http://schemas.openxmlformats.org/drawingml/2006/main" noGrp="1"/>
          </p:cNvSpPr>
          <p:nvPr/>
        </p:nvSpPr>
        <p:spPr>
          <a:xfrm xmlns:a="http://schemas.openxmlformats.org/drawingml/2006/main">
            <a:off x="8743950" y="4057650"/>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4ACEDCA-6BA4-4482-B833-98BB3FE0A6BC}"/>
              </a:ext>
            </a:extLst>
          </p:cNvPr>
          <p:cNvSpPr>
            <a:spLocks xmlns:a="http://schemas.openxmlformats.org/drawingml/2006/main" noGrp="1"/>
          </p:cNvSpPr>
          <p:nvPr/>
        </p:nvSpPr>
        <p:spPr>
          <a:xfrm xmlns:a="http://schemas.openxmlformats.org/drawingml/2006/main">
            <a:off x="8972550" y="3990975"/>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Family readiness</a:t>
            </a:r>
          </a:p>
        </p:txBody>
      </p:sp>
      <p:sp>
        <p:nvSpPr>
          <p:cNvPr id="17" name="">
            <a:extLst xmlns:a="http://schemas.openxmlformats.org/drawingml/2006/main">
              <a:ext uri="{FF2B5EF4-FFF2-40B4-BE49-F238E27FC236}">
                <a16:creationId xmlns:a16="http://schemas.microsoft.com/office/drawing/2014/main" id="{DD3D3531-B207-47DB-8427-506357A9EB11}"/>
              </a:ext>
            </a:extLst>
          </p:cNvPr>
          <p:cNvSpPr>
            <a:spLocks xmlns:a="http://schemas.openxmlformats.org/drawingml/2006/main" noGrp="1"/>
          </p:cNvSpPr>
          <p:nvPr/>
        </p:nvSpPr>
        <p:spPr>
          <a:xfrm xmlns:a="http://schemas.openxmlformats.org/drawingml/2006/main">
            <a:off x="8734425" y="4953000"/>
            <a:ext cx="2076450" cy="285750"/>
          </a:xfrm>
          <a:prstGeom xmlns:a="http://schemas.openxmlformats.org/drawingml/2006/main" prst="roundRect">
            <a:avLst>
              <a:gd name="adj" fmla="val 26667"/>
            </a:avLst>
          </a:prstGeom>
          <a:solidFill xmlns:a="http://schemas.openxmlformats.org/drawingml/2006/main">
            <a:srgbClr val="EEF1F3"/>
          </a:solidFill>
          <a:ln xmlns:a="http://schemas.openxmlformats.org/drawingml/2006/main" w="9525">
            <a:solidFill>
              <a:srgbClr val="B8C1C7"/>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6F7E88"/>
                </a:solidFill>
                <a:latin typeface="Arial"/>
                <a:ea typeface="Arial"/>
                <a:cs typeface="Arial"/>
              </a:defRPr>
            </a:pPr>
            <a:r>
              <a:rPr sz="788" b="1">
                <a:solidFill>
                  <a:srgbClr val="6F7E88"/>
                </a:solidFill>
                <a:latin typeface="Arial"/>
                <a:ea typeface="Arial"/>
                <a:cs typeface="Arial"/>
              </a:rPr>
              <a:t>NO FULL PATIENT NAMES</a:t>
            </a:r>
          </a:p>
        </p:txBody>
      </p:sp>
      <p:sp>
        <p:nvSpPr>
          <p:cNvPr id="18" name="">
            <a:extLst xmlns:a="http://schemas.openxmlformats.org/drawingml/2006/main">
              <a:ext uri="{FF2B5EF4-FFF2-40B4-BE49-F238E27FC236}">
                <a16:creationId xmlns:a16="http://schemas.microsoft.com/office/drawing/2014/main" id="{A5657A1A-9C13-4D5B-9AB5-70CC03815BA1}"/>
              </a:ext>
            </a:extLst>
          </p:cNvPr>
          <p:cNvSpPr>
            <a:spLocks xmlns:a="http://schemas.openxmlformats.org/drawingml/2006/main" noGrp="1"/>
          </p:cNvSpPr>
          <p:nvPr/>
        </p:nvSpPr>
        <p:spPr>
          <a:xfrm xmlns:a="http://schemas.openxmlformats.org/drawingml/2006/main">
            <a:off x="8743950" y="5429250"/>
            <a:ext cx="2724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C7DCE8"/>
                </a:solidFill>
                <a:latin typeface="Arial"/>
                <a:ea typeface="Arial"/>
                <a:cs typeface="Arial"/>
              </a:defRPr>
            </a:pPr>
            <a:r>
              <a:rPr sz="1200" b="0">
                <a:solidFill>
                  <a:srgbClr val="C7DCE8"/>
                </a:solidFill>
                <a:latin typeface="Arial"/>
                <a:ea typeface="Arial"/>
                <a:cs typeface="Arial"/>
              </a:rPr>
              <a:t>Proposed sources: OPTICA and HomeFlow</a:t>
            </a:r>
          </a:p>
        </p:txBody>
      </p:sp>
      <p:sp>
        <p:nvSpPr>
          <p:cNvPr id="19" name="">
            <a:extLst xmlns:a="http://schemas.openxmlformats.org/drawingml/2006/main">
              <a:ext uri="{FF2B5EF4-FFF2-40B4-BE49-F238E27FC236}">
                <a16:creationId xmlns:a16="http://schemas.microsoft.com/office/drawing/2014/main" id="{5EAC1AB8-B3FF-44E4-B1AC-0A7751E95BD1}"/>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54718A"/>
            </a:solidFill>
          </a:ln>
        </p:spPr>
      </p:sp>
      <p:sp>
        <p:nvSpPr>
          <p:cNvPr id="20" name="">
            <a:extLst xmlns:a="http://schemas.openxmlformats.org/drawingml/2006/main">
              <a:ext uri="{FF2B5EF4-FFF2-40B4-BE49-F238E27FC236}">
                <a16:creationId xmlns:a16="http://schemas.microsoft.com/office/drawing/2014/main" id="{E6E1327F-9389-4E27-8D22-73D32C10857D}"/>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Arial"/>
                <a:ea typeface="Arial"/>
                <a:cs typeface="Arial"/>
              </a:defRPr>
            </a:pPr>
            <a:r>
              <a:rPr sz="825" b="1">
                <a:solidFill>
                  <a:srgbClr val="FFFFFF"/>
                </a:solidFill>
                <a:latin typeface="Arial"/>
                <a:ea typeface="Arial"/>
                <a:cs typeface="Arial"/>
              </a:rPr>
              <a:t>HomeFlow</a:t>
            </a:r>
          </a:p>
        </p:txBody>
      </p:sp>
      <p:sp>
        <p:nvSpPr>
          <p:cNvPr id="21" name="">
            <a:extLst xmlns:a="http://schemas.openxmlformats.org/drawingml/2006/main">
              <a:ext uri="{FF2B5EF4-FFF2-40B4-BE49-F238E27FC236}">
                <a16:creationId xmlns:a16="http://schemas.microsoft.com/office/drawing/2014/main" id="{44FB1B8A-B521-4DC6-A734-BDF31EEDCE2D}"/>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D1E2EC"/>
                </a:solidFill>
                <a:latin typeface="Arial"/>
                <a:ea typeface="Arial"/>
                <a:cs typeface="Arial"/>
              </a:defRPr>
            </a:pPr>
            <a:r>
              <a:rPr sz="750" b="0">
                <a:solidFill>
                  <a:srgbClr val="D1E2EC"/>
                </a:solidFill>
                <a:latin typeface="Arial"/>
                <a:ea typeface="Arial"/>
                <a:cs typeface="Arial"/>
              </a:rPr>
              <a:t>Independent innovation concept</a:t>
            </a:r>
          </a:p>
        </p:txBody>
      </p:sp>
      <p:sp>
        <p:nvSpPr>
          <p:cNvPr id="22" name="">
            <a:extLst xmlns:a="http://schemas.openxmlformats.org/drawingml/2006/main">
              <a:ext uri="{FF2B5EF4-FFF2-40B4-BE49-F238E27FC236}">
                <a16:creationId xmlns:a16="http://schemas.microsoft.com/office/drawing/2014/main" id="{5CFCC212-FB23-4722-856D-5DDA46B28449}"/>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D1E2EC"/>
                </a:solidFill>
                <a:latin typeface="Arial"/>
                <a:ea typeface="Arial"/>
                <a:cs typeface="Arial"/>
              </a:defRPr>
            </a:pPr>
            <a:r>
              <a:rPr sz="750" b="1">
                <a:solidFill>
                  <a:srgbClr val="D1E2EC"/>
                </a:solidFill>
                <a:latin typeface="Arial"/>
                <a:ea typeface="Arial"/>
                <a:cs typeface="Arial"/>
              </a:rPr>
              <a:t>06</a:t>
            </a:r>
          </a:p>
        </p:txBody>
      </p:sp>
    </p:spTree>
    <p:extLst>
      <p:ext uri="{BB962C8B-B14F-4D97-AF65-F5344CB8AC3E}">
        <p14:creationId xmlns:p14="http://schemas.microsoft.com/office/powerpoint/2010/main" val="1030796657"/>
      </p:ext>
    </p:extLst>
  </p:cSld>
</p:sld>
</file>

<file path=ppt/slides/slide7.xml><?xml version="1.0" encoding="utf-8"?>
<p:sld xmlns:p="http://schemas.openxmlformats.org/presentationml/2006/main">
  <p:cSld>
    <p:bg>
      <p:bgPr>
        <a:solidFill xmlns:a="http://schemas.openxmlformats.org/drawingml/2006/main">
          <a:srgbClr val="F1F6F9"/>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B3B0CA7-0392-441C-9A3E-D8F7DB875C2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CFC6BF-3458-4589-AD18-1E0FF03AC86E}"/>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9E98A71-8012-4E13-BAEB-13C489FA9CFA}"/>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Pilot and ask</a:t>
            </a:r>
          </a:p>
        </p:txBody>
      </p:sp>
      <p:sp>
        <p:nvSpPr>
          <p:cNvPr id="4" name="">
            <a:extLst xmlns:a="http://schemas.openxmlformats.org/drawingml/2006/main">
              <a:ext uri="{FF2B5EF4-FFF2-40B4-BE49-F238E27FC236}">
                <a16:creationId xmlns:a16="http://schemas.microsoft.com/office/drawing/2014/main" id="{00E2A4AE-2972-425E-92E0-8B153F12BAF8}"/>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One ward, 8 to 12 weeks, with clear measures</a:t>
            </a:r>
          </a:p>
        </p:txBody>
      </p:sp>
      <p:sp>
        <p:nvSpPr>
          <p:cNvPr id="5" name="">
            <a:extLst xmlns:a="http://schemas.openxmlformats.org/drawingml/2006/main">
              <a:ext uri="{FF2B5EF4-FFF2-40B4-BE49-F238E27FC236}">
                <a16:creationId xmlns:a16="http://schemas.microsoft.com/office/drawing/2014/main" id="{CD715DE4-C245-4498-BD05-56BA1BB3CFCD}"/>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40282DA7-B2EF-44FE-931D-625456E6B426}"/>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6241EA7C-0EF9-466A-8C1E-8B7A4DB29B44}"/>
              </a:ext>
            </a:extLst>
          </p:cNvPr>
          <p:cNvSpPr>
            <a:spLocks xmlns:a="http://schemas.openxmlformats.org/drawingml/2006/main" noGrp="1"/>
          </p:cNvSpPr>
          <p:nvPr/>
        </p:nvSpPr>
        <p:spPr>
          <a:xfrm xmlns:a="http://schemas.openxmlformats.org/drawingml/2006/main">
            <a:off x="552450" y="150495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2304A"/>
                </a:solidFill>
                <a:latin typeface="Arial"/>
                <a:ea typeface="Arial"/>
                <a:cs typeface="Arial"/>
              </a:defRPr>
            </a:pPr>
            <a:r>
              <a:rPr sz="1950" b="1">
                <a:solidFill>
                  <a:srgbClr val="12304A"/>
                </a:solidFill>
                <a:latin typeface="Arial"/>
                <a:ea typeface="Arial"/>
                <a:cs typeface="Arial"/>
              </a:rPr>
              <a:t>What we would test</a:t>
            </a:r>
          </a:p>
        </p:txBody>
      </p:sp>
      <p:sp>
        <p:nvSpPr>
          <p:cNvPr id="8" name="">
            <a:extLst xmlns:a="http://schemas.openxmlformats.org/drawingml/2006/main">
              <a:ext uri="{FF2B5EF4-FFF2-40B4-BE49-F238E27FC236}">
                <a16:creationId xmlns:a16="http://schemas.microsoft.com/office/drawing/2014/main" id="{442B933E-D791-45C6-8AB4-1FA092589579}"/>
              </a:ext>
            </a:extLst>
          </p:cNvPr>
          <p:cNvSpPr>
            <a:spLocks xmlns:a="http://schemas.openxmlformats.org/drawingml/2006/main" noGrp="1"/>
          </p:cNvSpPr>
          <p:nvPr/>
        </p:nvSpPr>
        <p:spPr>
          <a:xfrm xmlns:a="http://schemas.openxmlformats.org/drawingml/2006/main">
            <a:off x="590550" y="21050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738D45-86E1-47EA-9CEC-9516D295DAFC}"/>
              </a:ext>
            </a:extLst>
          </p:cNvPr>
          <p:cNvSpPr>
            <a:spLocks xmlns:a="http://schemas.openxmlformats.org/drawingml/2006/main" noGrp="1"/>
          </p:cNvSpPr>
          <p:nvPr/>
        </p:nvSpPr>
        <p:spPr>
          <a:xfrm xmlns:a="http://schemas.openxmlformats.org/drawingml/2006/main">
            <a:off x="819150" y="2038350"/>
            <a:ext cx="3867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63247"/>
                </a:solidFill>
                <a:latin typeface="Arial"/>
                <a:ea typeface="Arial"/>
                <a:cs typeface="Arial"/>
              </a:defRPr>
            </a:pPr>
            <a:r>
              <a:rPr sz="1275" b="0">
                <a:solidFill>
                  <a:srgbClr val="163247"/>
                </a:solidFill>
                <a:latin typeface="Arial"/>
                <a:ea typeface="Arial"/>
                <a:cs typeface="Arial"/>
              </a:rPr>
              <a:t>Discharge-ready to leaving time</a:t>
            </a:r>
          </a:p>
        </p:txBody>
      </p:sp>
      <p:sp>
        <p:nvSpPr>
          <p:cNvPr id="10" name="">
            <a:extLst xmlns:a="http://schemas.openxmlformats.org/drawingml/2006/main">
              <a:ext uri="{FF2B5EF4-FFF2-40B4-BE49-F238E27FC236}">
                <a16:creationId xmlns:a16="http://schemas.microsoft.com/office/drawing/2014/main" id="{74DD2BDD-DF38-4D9C-81BA-CD0EA28083A5}"/>
              </a:ext>
            </a:extLst>
          </p:cNvPr>
          <p:cNvSpPr>
            <a:spLocks xmlns:a="http://schemas.openxmlformats.org/drawingml/2006/main" noGrp="1"/>
          </p:cNvSpPr>
          <p:nvPr/>
        </p:nvSpPr>
        <p:spPr>
          <a:xfrm xmlns:a="http://schemas.openxmlformats.org/drawingml/2006/main">
            <a:off x="590550" y="25241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A8D430-6948-40CF-AE9B-4E7A04DB2B2E}"/>
              </a:ext>
            </a:extLst>
          </p:cNvPr>
          <p:cNvSpPr>
            <a:spLocks xmlns:a="http://schemas.openxmlformats.org/drawingml/2006/main" noGrp="1"/>
          </p:cNvSpPr>
          <p:nvPr/>
        </p:nvSpPr>
        <p:spPr>
          <a:xfrm xmlns:a="http://schemas.openxmlformats.org/drawingml/2006/main">
            <a:off x="819150" y="2457450"/>
            <a:ext cx="3867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63247"/>
                </a:solidFill>
                <a:latin typeface="Arial"/>
                <a:ea typeface="Arial"/>
                <a:cs typeface="Arial"/>
              </a:defRPr>
            </a:pPr>
            <a:r>
              <a:rPr sz="1275" b="0">
                <a:solidFill>
                  <a:srgbClr val="163247"/>
                </a:solidFill>
                <a:latin typeface="Arial"/>
                <a:ea typeface="Arial"/>
                <a:cs typeface="Arial"/>
              </a:rPr>
              <a:t>Delayed discharges and common barriers</a:t>
            </a:r>
          </a:p>
        </p:txBody>
      </p:sp>
      <p:sp>
        <p:nvSpPr>
          <p:cNvPr id="12" name="">
            <a:extLst xmlns:a="http://schemas.openxmlformats.org/drawingml/2006/main">
              <a:ext uri="{FF2B5EF4-FFF2-40B4-BE49-F238E27FC236}">
                <a16:creationId xmlns:a16="http://schemas.microsoft.com/office/drawing/2014/main" id="{A41EF4AA-8BF2-47E9-925F-A532ABBFAD6C}"/>
              </a:ext>
            </a:extLst>
          </p:cNvPr>
          <p:cNvSpPr>
            <a:spLocks xmlns:a="http://schemas.openxmlformats.org/drawingml/2006/main" noGrp="1"/>
          </p:cNvSpPr>
          <p:nvPr/>
        </p:nvSpPr>
        <p:spPr>
          <a:xfrm xmlns:a="http://schemas.openxmlformats.org/drawingml/2006/main">
            <a:off x="590550" y="29432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36D8AD6-53C1-4BA5-BAAC-0DFFD6595493}"/>
              </a:ext>
            </a:extLst>
          </p:cNvPr>
          <p:cNvSpPr>
            <a:spLocks xmlns:a="http://schemas.openxmlformats.org/drawingml/2006/main" noGrp="1"/>
          </p:cNvSpPr>
          <p:nvPr/>
        </p:nvSpPr>
        <p:spPr>
          <a:xfrm xmlns:a="http://schemas.openxmlformats.org/drawingml/2006/main">
            <a:off x="819150" y="2876550"/>
            <a:ext cx="3867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63247"/>
                </a:solidFill>
                <a:latin typeface="Arial"/>
                <a:ea typeface="Arial"/>
                <a:cs typeface="Arial"/>
              </a:defRPr>
            </a:pPr>
            <a:r>
              <a:rPr sz="1275" b="0">
                <a:solidFill>
                  <a:srgbClr val="163247"/>
                </a:solidFill>
                <a:latin typeface="Arial"/>
                <a:ea typeface="Arial"/>
                <a:cs typeface="Arial"/>
              </a:rPr>
              <a:t>Discharge time of day</a:t>
            </a:r>
          </a:p>
        </p:txBody>
      </p:sp>
      <p:sp>
        <p:nvSpPr>
          <p:cNvPr id="14" name="">
            <a:extLst xmlns:a="http://schemas.openxmlformats.org/drawingml/2006/main">
              <a:ext uri="{FF2B5EF4-FFF2-40B4-BE49-F238E27FC236}">
                <a16:creationId xmlns:a16="http://schemas.microsoft.com/office/drawing/2014/main" id="{28DDF537-933E-48A5-A4FB-4100787BF145}"/>
              </a:ext>
            </a:extLst>
          </p:cNvPr>
          <p:cNvSpPr>
            <a:spLocks xmlns:a="http://schemas.openxmlformats.org/drawingml/2006/main" noGrp="1"/>
          </p:cNvSpPr>
          <p:nvPr/>
        </p:nvSpPr>
        <p:spPr>
          <a:xfrm xmlns:a="http://schemas.openxmlformats.org/drawingml/2006/main">
            <a:off x="590550" y="33623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CA00380-0538-4FD9-AC2C-4CD68AE9494A}"/>
              </a:ext>
            </a:extLst>
          </p:cNvPr>
          <p:cNvSpPr>
            <a:spLocks xmlns:a="http://schemas.openxmlformats.org/drawingml/2006/main" noGrp="1"/>
          </p:cNvSpPr>
          <p:nvPr/>
        </p:nvSpPr>
        <p:spPr>
          <a:xfrm xmlns:a="http://schemas.openxmlformats.org/drawingml/2006/main">
            <a:off x="819150" y="3295650"/>
            <a:ext cx="3867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63247"/>
                </a:solidFill>
                <a:latin typeface="Arial"/>
                <a:ea typeface="Arial"/>
                <a:cs typeface="Arial"/>
              </a:defRPr>
            </a:pPr>
            <a:r>
              <a:rPr sz="1275" b="0">
                <a:solidFill>
                  <a:srgbClr val="163247"/>
                </a:solidFill>
                <a:latin typeface="Arial"/>
                <a:ea typeface="Arial"/>
                <a:cs typeface="Arial"/>
              </a:rPr>
              <a:t>Family readiness</a:t>
            </a:r>
          </a:p>
        </p:txBody>
      </p:sp>
      <p:sp>
        <p:nvSpPr>
          <p:cNvPr id="16" name="">
            <a:extLst xmlns:a="http://schemas.openxmlformats.org/drawingml/2006/main">
              <a:ext uri="{FF2B5EF4-FFF2-40B4-BE49-F238E27FC236}">
                <a16:creationId xmlns:a16="http://schemas.microsoft.com/office/drawing/2014/main" id="{D2485D62-9890-4B09-B0C2-6CA91B942775}"/>
              </a:ext>
            </a:extLst>
          </p:cNvPr>
          <p:cNvSpPr>
            <a:spLocks xmlns:a="http://schemas.openxmlformats.org/drawingml/2006/main" noGrp="1"/>
          </p:cNvSpPr>
          <p:nvPr/>
        </p:nvSpPr>
        <p:spPr>
          <a:xfrm xmlns:a="http://schemas.openxmlformats.org/drawingml/2006/main">
            <a:off x="590550" y="37814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8CD7AB4-3EA2-49C4-846E-5969C9BB0A41}"/>
              </a:ext>
            </a:extLst>
          </p:cNvPr>
          <p:cNvSpPr>
            <a:spLocks xmlns:a="http://schemas.openxmlformats.org/drawingml/2006/main" noGrp="1"/>
          </p:cNvSpPr>
          <p:nvPr/>
        </p:nvSpPr>
        <p:spPr>
          <a:xfrm xmlns:a="http://schemas.openxmlformats.org/drawingml/2006/main">
            <a:off x="819150" y="3714750"/>
            <a:ext cx="3867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63247"/>
                </a:solidFill>
                <a:latin typeface="Arial"/>
                <a:ea typeface="Arial"/>
                <a:cs typeface="Arial"/>
              </a:defRPr>
            </a:pPr>
            <a:r>
              <a:rPr sz="1275" b="0">
                <a:solidFill>
                  <a:srgbClr val="163247"/>
                </a:solidFill>
                <a:latin typeface="Arial"/>
                <a:ea typeface="Arial"/>
                <a:cs typeface="Arial"/>
              </a:rPr>
              <a:t>Staff feedback</a:t>
            </a:r>
          </a:p>
        </p:txBody>
      </p:sp>
      <p:sp>
        <p:nvSpPr>
          <p:cNvPr id="18" name="">
            <a:extLst xmlns:a="http://schemas.openxmlformats.org/drawingml/2006/main">
              <a:ext uri="{FF2B5EF4-FFF2-40B4-BE49-F238E27FC236}">
                <a16:creationId xmlns:a16="http://schemas.microsoft.com/office/drawing/2014/main" id="{ABF50DBA-5C83-4E01-932E-462DE52EB839}"/>
              </a:ext>
            </a:extLst>
          </p:cNvPr>
          <p:cNvSpPr>
            <a:spLocks xmlns:a="http://schemas.openxmlformats.org/drawingml/2006/main" noGrp="1"/>
          </p:cNvSpPr>
          <p:nvPr/>
        </p:nvSpPr>
        <p:spPr>
          <a:xfrm xmlns:a="http://schemas.openxmlformats.org/drawingml/2006/main">
            <a:off x="552450" y="4514850"/>
            <a:ext cx="4238625" cy="1495425"/>
          </a:xfrm>
          <a:prstGeom xmlns:a="http://schemas.openxmlformats.org/drawingml/2006/main" prst="roundRect">
            <a:avLst>
              <a:gd name="adj" fmla="val 8917"/>
            </a:avLst>
          </a:prstGeom>
          <a:solidFill xmlns:a="http://schemas.openxmlformats.org/drawingml/2006/main">
            <a:srgbClr val="12304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D30793-378B-460C-9544-264A1EDD30F5}"/>
              </a:ext>
            </a:extLst>
          </p:cNvPr>
          <p:cNvSpPr>
            <a:spLocks xmlns:a="http://schemas.openxmlformats.org/drawingml/2006/main" noGrp="1"/>
          </p:cNvSpPr>
          <p:nvPr/>
        </p:nvSpPr>
        <p:spPr>
          <a:xfrm xmlns:a="http://schemas.openxmlformats.org/drawingml/2006/main">
            <a:off x="800100" y="47339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39B7A0"/>
                </a:solidFill>
                <a:latin typeface="Arial"/>
                <a:ea typeface="Arial"/>
                <a:cs typeface="Arial"/>
              </a:defRPr>
            </a:pPr>
            <a:r>
              <a:rPr sz="900" b="1">
                <a:solidFill>
                  <a:srgbClr val="39B7A0"/>
                </a:solidFill>
                <a:latin typeface="Arial"/>
                <a:ea typeface="Arial"/>
                <a:cs typeface="Arial"/>
              </a:rPr>
              <a:t>INDICATIVE FUNDING REQUEST</a:t>
            </a:r>
          </a:p>
        </p:txBody>
      </p:sp>
      <p:sp>
        <p:nvSpPr>
          <p:cNvPr id="20" name="">
            <a:extLst xmlns:a="http://schemas.openxmlformats.org/drawingml/2006/main">
              <a:ext uri="{FF2B5EF4-FFF2-40B4-BE49-F238E27FC236}">
                <a16:creationId xmlns:a16="http://schemas.microsoft.com/office/drawing/2014/main" id="{2C8B87EA-9B52-4E4F-B02D-FBCEF47EA411}"/>
              </a:ext>
            </a:extLst>
          </p:cNvPr>
          <p:cNvSpPr>
            <a:spLocks xmlns:a="http://schemas.openxmlformats.org/drawingml/2006/main" noGrp="1"/>
          </p:cNvSpPr>
          <p:nvPr/>
        </p:nvSpPr>
        <p:spPr>
          <a:xfrm xmlns:a="http://schemas.openxmlformats.org/drawingml/2006/main">
            <a:off x="800100" y="49911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FFFFF"/>
                </a:solidFill>
                <a:latin typeface="Arial"/>
                <a:ea typeface="Arial"/>
                <a:cs typeface="Arial"/>
              </a:defRPr>
            </a:pPr>
            <a:r>
              <a:rPr sz="2925" b="1">
                <a:solidFill>
                  <a:srgbClr val="FFFFFF"/>
                </a:solidFill>
                <a:latin typeface="Arial"/>
                <a:ea typeface="Arial"/>
                <a:cs typeface="Arial"/>
              </a:rPr>
              <a:t>£5,000</a:t>
            </a:r>
          </a:p>
        </p:txBody>
      </p:sp>
      <p:sp>
        <p:nvSpPr>
          <p:cNvPr id="21" name="">
            <a:extLst xmlns:a="http://schemas.openxmlformats.org/drawingml/2006/main">
              <a:ext uri="{FF2B5EF4-FFF2-40B4-BE49-F238E27FC236}">
                <a16:creationId xmlns:a16="http://schemas.microsoft.com/office/drawing/2014/main" id="{ACC53A5C-801C-4F21-BE4E-CA3790200070}"/>
              </a:ext>
            </a:extLst>
          </p:cNvPr>
          <p:cNvSpPr>
            <a:spLocks xmlns:a="http://schemas.openxmlformats.org/drawingml/2006/main" noGrp="1"/>
          </p:cNvSpPr>
          <p:nvPr/>
        </p:nvSpPr>
        <p:spPr>
          <a:xfrm xmlns:a="http://schemas.openxmlformats.org/drawingml/2006/main">
            <a:off x="800100" y="55435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D2E3EC"/>
                </a:solidFill>
                <a:latin typeface="Arial"/>
                <a:ea typeface="Arial"/>
                <a:cs typeface="Arial"/>
              </a:defRPr>
            </a:pPr>
            <a:r>
              <a:rPr sz="1200" b="0">
                <a:solidFill>
                  <a:srgbClr val="D2E3EC"/>
                </a:solidFill>
                <a:latin typeface="Arial"/>
                <a:ea typeface="Arial"/>
                <a:cs typeface="Arial"/>
              </a:rPr>
              <a:t>One ward pilot for 8 to 12 weeks</a:t>
            </a:r>
          </a:p>
        </p:txBody>
      </p:sp>
      <p:sp>
        <p:nvSpPr>
          <p:cNvPr id="22" name="">
            <a:extLst xmlns:a="http://schemas.openxmlformats.org/drawingml/2006/main">
              <a:ext uri="{FF2B5EF4-FFF2-40B4-BE49-F238E27FC236}">
                <a16:creationId xmlns:a16="http://schemas.microsoft.com/office/drawing/2014/main" id="{02157D76-CD52-43EA-B5EA-449F05687B96}"/>
              </a:ext>
            </a:extLst>
          </p:cNvPr>
          <p:cNvSpPr>
            <a:spLocks xmlns:a="http://schemas.openxmlformats.org/drawingml/2006/main" noGrp="1"/>
          </p:cNvSpPr>
          <p:nvPr/>
        </p:nvSpPr>
        <p:spPr>
          <a:xfrm xmlns:a="http://schemas.openxmlformats.org/drawingml/2006/main">
            <a:off x="5143500" y="1390650"/>
            <a:ext cx="6610350" cy="2609850"/>
          </a:xfrm>
          <a:prstGeom xmlns:a="http://schemas.openxmlformats.org/drawingml/2006/main" prst="roundRect">
            <a:avLst>
              <a:gd name="adj" fmla="val 6569"/>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da9e2abc89814cb6"/>
          <a:srcRect xmlns:a="http://schemas.openxmlformats.org/drawingml/2006/main" l="0" t="25093" r="0" b="25093"/>
          <a:stretch xmlns:a="http://schemas.openxmlformats.org/drawingml/2006/main">
            <a:fillRect l="0" t="0" r="0" b="0"/>
          </a:stretch>
        </p:blipFill>
        <p:spPr>
          <a:xfrm xmlns:a="http://schemas.openxmlformats.org/drawingml/2006/main">
            <a:off x="5219700" y="1466850"/>
            <a:ext cx="6457950" cy="2457450"/>
          </a:xfrm>
          <a:prstGeom xmlns:a="http://schemas.openxmlformats.org/drawingml/2006/main" prst="roundRect">
            <a:avLst>
              <a:gd name="adj" fmla="val 4651"/>
            </a:avLst>
          </a:prstGeom>
        </p:spPr>
      </p:pic>
      <p:sp>
        <p:nvSpPr>
          <p:cNvPr id="24" name="">
            <a:extLst xmlns:a="http://schemas.openxmlformats.org/drawingml/2006/main">
              <a:ext uri="{FF2B5EF4-FFF2-40B4-BE49-F238E27FC236}">
                <a16:creationId xmlns:a16="http://schemas.microsoft.com/office/drawing/2014/main" id="{62B41E0E-5948-489A-A9E5-C7CD8F414FE7}"/>
              </a:ext>
            </a:extLst>
          </p:cNvPr>
          <p:cNvSpPr>
            <a:spLocks xmlns:a="http://schemas.openxmlformats.org/drawingml/2006/main" noGrp="1"/>
          </p:cNvSpPr>
          <p:nvPr/>
        </p:nvSpPr>
        <p:spPr>
          <a:xfrm xmlns:a="http://schemas.openxmlformats.org/drawingml/2006/main">
            <a:off x="5219700" y="41529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304A"/>
                </a:solidFill>
                <a:latin typeface="Arial"/>
                <a:ea typeface="Arial"/>
                <a:cs typeface="Arial"/>
              </a:defRPr>
            </a:pPr>
            <a:r>
              <a:rPr sz="1800" b="1">
                <a:solidFill>
                  <a:srgbClr val="12304A"/>
                </a:solidFill>
                <a:latin typeface="Arial"/>
                <a:ea typeface="Arial"/>
                <a:cs typeface="Arial"/>
              </a:rPr>
              <a:t>How the £5,000 would be used</a:t>
            </a:r>
          </a:p>
        </p:txBody>
      </p:sp>
      <p:sp>
        <p:nvSpPr>
          <p:cNvPr id="25" name="">
            <a:extLst xmlns:a="http://schemas.openxmlformats.org/drawingml/2006/main">
              <a:ext uri="{FF2B5EF4-FFF2-40B4-BE49-F238E27FC236}">
                <a16:creationId xmlns:a16="http://schemas.microsoft.com/office/drawing/2014/main" id="{25B7F300-DF19-4C36-A5F6-C2B0B60C9434}"/>
              </a:ext>
            </a:extLst>
          </p:cNvPr>
          <p:cNvSpPr>
            <a:spLocks xmlns:a="http://schemas.openxmlformats.org/drawingml/2006/main" noGrp="1"/>
          </p:cNvSpPr>
          <p:nvPr/>
        </p:nvSpPr>
        <p:spPr>
          <a:xfrm xmlns:a="http://schemas.openxmlformats.org/drawingml/2006/main">
            <a:off x="5219700" y="4591050"/>
            <a:ext cx="87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05EB8"/>
                </a:solidFill>
                <a:latin typeface="Arial"/>
                <a:ea typeface="Arial"/>
                <a:cs typeface="Arial"/>
              </a:defRPr>
            </a:pPr>
            <a:r>
              <a:rPr sz="1200" b="1">
                <a:solidFill>
                  <a:srgbClr val="005EB8"/>
                </a:solidFill>
                <a:latin typeface="Arial"/>
                <a:ea typeface="Arial"/>
                <a:cs typeface="Arial"/>
              </a:rPr>
              <a:t>£2,000</a:t>
            </a:r>
          </a:p>
        </p:txBody>
      </p:sp>
      <p:sp>
        <p:nvSpPr>
          <p:cNvPr id="26" name="">
            <a:extLst xmlns:a="http://schemas.openxmlformats.org/drawingml/2006/main">
              <a:ext uri="{FF2B5EF4-FFF2-40B4-BE49-F238E27FC236}">
                <a16:creationId xmlns:a16="http://schemas.microsoft.com/office/drawing/2014/main" id="{505062FB-9A72-4B5C-9D3C-F9A367E38698}"/>
              </a:ext>
            </a:extLst>
          </p:cNvPr>
          <p:cNvSpPr>
            <a:spLocks xmlns:a="http://schemas.openxmlformats.org/drawingml/2006/main" noGrp="1"/>
          </p:cNvSpPr>
          <p:nvPr/>
        </p:nvSpPr>
        <p:spPr>
          <a:xfrm xmlns:a="http://schemas.openxmlformats.org/drawingml/2006/main">
            <a:off x="6153150" y="45910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163247"/>
                </a:solidFill>
                <a:latin typeface="Arial"/>
                <a:ea typeface="Arial"/>
                <a:cs typeface="Arial"/>
              </a:defRPr>
            </a:pPr>
            <a:r>
              <a:rPr sz="1125" b="0">
                <a:solidFill>
                  <a:srgbClr val="163247"/>
                </a:solidFill>
                <a:latin typeface="Arial"/>
                <a:ea typeface="Arial"/>
                <a:cs typeface="Arial"/>
              </a:rPr>
              <a:t>Digital development and prototype configuration</a:t>
            </a:r>
          </a:p>
        </p:txBody>
      </p:sp>
      <p:sp>
        <p:nvSpPr>
          <p:cNvPr id="27" name="">
            <a:extLst xmlns:a="http://schemas.openxmlformats.org/drawingml/2006/main">
              <a:ext uri="{FF2B5EF4-FFF2-40B4-BE49-F238E27FC236}">
                <a16:creationId xmlns:a16="http://schemas.microsoft.com/office/drawing/2014/main" id="{61FB7BB7-58BE-4CD2-BD1E-A59A7811430B}"/>
              </a:ext>
            </a:extLst>
          </p:cNvPr>
          <p:cNvSpPr>
            <a:spLocks xmlns:a="http://schemas.openxmlformats.org/drawingml/2006/main" noGrp="1"/>
          </p:cNvSpPr>
          <p:nvPr/>
        </p:nvSpPr>
        <p:spPr>
          <a:xfrm xmlns:a="http://schemas.openxmlformats.org/drawingml/2006/main">
            <a:off x="5219700" y="4914900"/>
            <a:ext cx="87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05EB8"/>
                </a:solidFill>
                <a:latin typeface="Arial"/>
                <a:ea typeface="Arial"/>
                <a:cs typeface="Arial"/>
              </a:defRPr>
            </a:pPr>
            <a:r>
              <a:rPr sz="1200" b="1">
                <a:solidFill>
                  <a:srgbClr val="005EB8"/>
                </a:solidFill>
                <a:latin typeface="Arial"/>
                <a:ea typeface="Arial"/>
                <a:cs typeface="Arial"/>
              </a:rPr>
              <a:t>£1,250</a:t>
            </a:r>
          </a:p>
        </p:txBody>
      </p:sp>
      <p:sp>
        <p:nvSpPr>
          <p:cNvPr id="28" name="">
            <a:extLst xmlns:a="http://schemas.openxmlformats.org/drawingml/2006/main">
              <a:ext uri="{FF2B5EF4-FFF2-40B4-BE49-F238E27FC236}">
                <a16:creationId xmlns:a16="http://schemas.microsoft.com/office/drawing/2014/main" id="{76433A5B-08B6-4843-BC91-7A2EB0140968}"/>
              </a:ext>
            </a:extLst>
          </p:cNvPr>
          <p:cNvSpPr>
            <a:spLocks xmlns:a="http://schemas.openxmlformats.org/drawingml/2006/main" noGrp="1"/>
          </p:cNvSpPr>
          <p:nvPr/>
        </p:nvSpPr>
        <p:spPr>
          <a:xfrm xmlns:a="http://schemas.openxmlformats.org/drawingml/2006/main">
            <a:off x="6153150" y="49149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163247"/>
                </a:solidFill>
                <a:latin typeface="Arial"/>
                <a:ea typeface="Arial"/>
                <a:cs typeface="Arial"/>
              </a:defRPr>
            </a:pPr>
            <a:r>
              <a:rPr sz="1125" b="0">
                <a:solidFill>
                  <a:srgbClr val="163247"/>
                </a:solidFill>
                <a:latin typeface="Arial"/>
                <a:ea typeface="Arial"/>
                <a:cs typeface="Arial"/>
              </a:rPr>
              <a:t>Ward staff release, training and user testing</a:t>
            </a:r>
          </a:p>
        </p:txBody>
      </p:sp>
      <p:sp>
        <p:nvSpPr>
          <p:cNvPr id="29" name="">
            <a:extLst xmlns:a="http://schemas.openxmlformats.org/drawingml/2006/main">
              <a:ext uri="{FF2B5EF4-FFF2-40B4-BE49-F238E27FC236}">
                <a16:creationId xmlns:a16="http://schemas.microsoft.com/office/drawing/2014/main" id="{6F28588D-9EDD-42E5-B131-07A4E795A43A}"/>
              </a:ext>
            </a:extLst>
          </p:cNvPr>
          <p:cNvSpPr>
            <a:spLocks xmlns:a="http://schemas.openxmlformats.org/drawingml/2006/main" noGrp="1"/>
          </p:cNvSpPr>
          <p:nvPr/>
        </p:nvSpPr>
        <p:spPr>
          <a:xfrm xmlns:a="http://schemas.openxmlformats.org/drawingml/2006/main">
            <a:off x="5219700" y="5238750"/>
            <a:ext cx="87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05EB8"/>
                </a:solidFill>
                <a:latin typeface="Arial"/>
                <a:ea typeface="Arial"/>
                <a:cs typeface="Arial"/>
              </a:defRPr>
            </a:pPr>
            <a:r>
              <a:rPr sz="1200" b="1">
                <a:solidFill>
                  <a:srgbClr val="005EB8"/>
                </a:solidFill>
                <a:latin typeface="Arial"/>
                <a:ea typeface="Arial"/>
                <a:cs typeface="Arial"/>
              </a:rPr>
              <a:t>£1,000</a:t>
            </a:r>
          </a:p>
        </p:txBody>
      </p:sp>
      <p:sp>
        <p:nvSpPr>
          <p:cNvPr id="30" name="">
            <a:extLst xmlns:a="http://schemas.openxmlformats.org/drawingml/2006/main">
              <a:ext uri="{FF2B5EF4-FFF2-40B4-BE49-F238E27FC236}">
                <a16:creationId xmlns:a16="http://schemas.microsoft.com/office/drawing/2014/main" id="{FD96CA54-77D3-4099-8EB9-8B1A6FD41CF0}"/>
              </a:ext>
            </a:extLst>
          </p:cNvPr>
          <p:cNvSpPr>
            <a:spLocks xmlns:a="http://schemas.openxmlformats.org/drawingml/2006/main" noGrp="1"/>
          </p:cNvSpPr>
          <p:nvPr/>
        </p:nvSpPr>
        <p:spPr>
          <a:xfrm xmlns:a="http://schemas.openxmlformats.org/drawingml/2006/main">
            <a:off x="6153150" y="52387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163247"/>
                </a:solidFill>
                <a:latin typeface="Arial"/>
                <a:ea typeface="Arial"/>
                <a:cs typeface="Arial"/>
              </a:defRPr>
            </a:pPr>
            <a:r>
              <a:rPr sz="1125" b="0">
                <a:solidFill>
                  <a:srgbClr val="163247"/>
                </a:solidFill>
                <a:latin typeface="Arial"/>
                <a:ea typeface="Arial"/>
                <a:cs typeface="Arial"/>
              </a:rPr>
              <a:t>Evaluation, data analysis and QI support</a:t>
            </a:r>
          </a:p>
        </p:txBody>
      </p:sp>
      <p:sp>
        <p:nvSpPr>
          <p:cNvPr id="31" name="">
            <a:extLst xmlns:a="http://schemas.openxmlformats.org/drawingml/2006/main">
              <a:ext uri="{FF2B5EF4-FFF2-40B4-BE49-F238E27FC236}">
                <a16:creationId xmlns:a16="http://schemas.microsoft.com/office/drawing/2014/main" id="{57F76538-4A6A-47E5-B6B5-825328FD9E22}"/>
              </a:ext>
            </a:extLst>
          </p:cNvPr>
          <p:cNvSpPr>
            <a:spLocks xmlns:a="http://schemas.openxmlformats.org/drawingml/2006/main" noGrp="1"/>
          </p:cNvSpPr>
          <p:nvPr/>
        </p:nvSpPr>
        <p:spPr>
          <a:xfrm xmlns:a="http://schemas.openxmlformats.org/drawingml/2006/main">
            <a:off x="5219700" y="5562600"/>
            <a:ext cx="87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05EB8"/>
                </a:solidFill>
                <a:latin typeface="Arial"/>
                <a:ea typeface="Arial"/>
                <a:cs typeface="Arial"/>
              </a:defRPr>
            </a:pPr>
            <a:r>
              <a:rPr sz="1200" b="1">
                <a:solidFill>
                  <a:srgbClr val="005EB8"/>
                </a:solidFill>
                <a:latin typeface="Arial"/>
                <a:ea typeface="Arial"/>
                <a:cs typeface="Arial"/>
              </a:rPr>
              <a:t>£750</a:t>
            </a:r>
          </a:p>
        </p:txBody>
      </p:sp>
      <p:sp>
        <p:nvSpPr>
          <p:cNvPr id="32" name="">
            <a:extLst xmlns:a="http://schemas.openxmlformats.org/drawingml/2006/main">
              <a:ext uri="{FF2B5EF4-FFF2-40B4-BE49-F238E27FC236}">
                <a16:creationId xmlns:a16="http://schemas.microsoft.com/office/drawing/2014/main" id="{00328AC1-DF84-42BB-BF9E-33028A121392}"/>
              </a:ext>
            </a:extLst>
          </p:cNvPr>
          <p:cNvSpPr>
            <a:spLocks xmlns:a="http://schemas.openxmlformats.org/drawingml/2006/main" noGrp="1"/>
          </p:cNvSpPr>
          <p:nvPr/>
        </p:nvSpPr>
        <p:spPr>
          <a:xfrm xmlns:a="http://schemas.openxmlformats.org/drawingml/2006/main">
            <a:off x="6153150" y="55626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163247"/>
                </a:solidFill>
                <a:latin typeface="Arial"/>
                <a:ea typeface="Arial"/>
                <a:cs typeface="Arial"/>
              </a:defRPr>
            </a:pPr>
            <a:r>
              <a:rPr sz="1125" b="0">
                <a:solidFill>
                  <a:srgbClr val="163247"/>
                </a:solidFill>
                <a:latin typeface="Arial"/>
                <a:ea typeface="Arial"/>
                <a:cs typeface="Arial"/>
              </a:rPr>
              <a:t>Governance, clinical safety and contingency</a:t>
            </a:r>
          </a:p>
        </p:txBody>
      </p:sp>
      <p:sp>
        <p:nvSpPr>
          <p:cNvPr id="33" name="">
            <a:extLst xmlns:a="http://schemas.openxmlformats.org/drawingml/2006/main">
              <a:ext uri="{FF2B5EF4-FFF2-40B4-BE49-F238E27FC236}">
                <a16:creationId xmlns:a16="http://schemas.microsoft.com/office/drawing/2014/main" id="{DF94C4EC-AAF3-4BC3-867F-3697FD654DE1}"/>
              </a:ext>
            </a:extLst>
          </p:cNvPr>
          <p:cNvSpPr>
            <a:spLocks xmlns:a="http://schemas.openxmlformats.org/drawingml/2006/main" noGrp="1"/>
          </p:cNvSpPr>
          <p:nvPr/>
        </p:nvSpPr>
        <p:spPr>
          <a:xfrm xmlns:a="http://schemas.openxmlformats.org/drawingml/2006/main">
            <a:off x="5219700" y="59055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a:solidFill>
                  <a:srgbClr val="61788A"/>
                </a:solidFill>
                <a:latin typeface="Arial"/>
                <a:ea typeface="Arial"/>
                <a:cs typeface="Arial"/>
              </a:defRPr>
            </a:pPr>
            <a:r>
              <a:rPr sz="788" b="0">
                <a:solidFill>
                  <a:srgbClr val="61788A"/>
                </a:solidFill>
                <a:latin typeface="Arial"/>
                <a:ea typeface="Arial"/>
                <a:cs typeface="Arial"/>
              </a:rPr>
              <a:t>Indicative allocation, subject to Trust approval and detailed costing</a:t>
            </a:r>
          </a:p>
        </p:txBody>
      </p:sp>
      <p:sp>
        <p:nvSpPr>
          <p:cNvPr id="34" name="">
            <a:extLst xmlns:a="http://schemas.openxmlformats.org/drawingml/2006/main">
              <a:ext uri="{FF2B5EF4-FFF2-40B4-BE49-F238E27FC236}">
                <a16:creationId xmlns:a16="http://schemas.microsoft.com/office/drawing/2014/main" id="{5EEB296C-C0F5-444F-9F85-E2B27E30496C}"/>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35" name="">
            <a:extLst xmlns:a="http://schemas.openxmlformats.org/drawingml/2006/main">
              <a:ext uri="{FF2B5EF4-FFF2-40B4-BE49-F238E27FC236}">
                <a16:creationId xmlns:a16="http://schemas.microsoft.com/office/drawing/2014/main" id="{5D282530-E9E7-453F-BD54-2B1B335D1242}"/>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36" name="">
            <a:extLst xmlns:a="http://schemas.openxmlformats.org/drawingml/2006/main">
              <a:ext uri="{FF2B5EF4-FFF2-40B4-BE49-F238E27FC236}">
                <a16:creationId xmlns:a16="http://schemas.microsoft.com/office/drawing/2014/main" id="{AAA10D3B-EF55-4890-91B8-EA88EF8A13C2}"/>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37" name="">
            <a:extLst xmlns:a="http://schemas.openxmlformats.org/drawingml/2006/main">
              <a:ext uri="{FF2B5EF4-FFF2-40B4-BE49-F238E27FC236}">
                <a16:creationId xmlns:a16="http://schemas.microsoft.com/office/drawing/2014/main" id="{8C19B4FF-D26B-410E-A20F-E8565A0CC8CC}"/>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07</a:t>
            </a:r>
          </a:p>
        </p:txBody>
      </p:sp>
    </p:spTree>
    <p:extLst>
      <p:ext uri="{BB962C8B-B14F-4D97-AF65-F5344CB8AC3E}">
        <p14:creationId xmlns:p14="http://schemas.microsoft.com/office/powerpoint/2010/main" val="85352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2026-10-03T00:16:16.4140000Z</dcterms:created>
  <dcterms:modified xsi:type="dcterms:W3CDTF">2026-10-03T00:16:16.4140000Z</dcterms:modified>
</coreProperties>
</file>