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c25071630149af" /><Relationship Type="http://schemas.openxmlformats.org/officeDocument/2006/relationships/extended-properties" Target="/docProps/app.xml" Id="Rc0f943b27cb64333" /><Relationship Type="http://schemas.openxmlformats.org/officeDocument/2006/relationships/officeDocument" Target="/ppt/presentation.xml" Id="Rbf73241755d149de" /></Relationships>
</file>

<file path=ppt/presentation.xml><?xml version="1.0" encoding="utf-8"?>
<p:presentation xmlns:p="http://schemas.openxmlformats.org/presentationml/2006/main">
  <p:sldMasterIdLst>
    <p:sldMasterId xmlns:r="http://schemas.openxmlformats.org/officeDocument/2006/relationships" id="2147483648" r:id="R1decfd3ab80345d5"/>
  </p:sldMasterIdLst>
  <p:notesMasterIdLst>
    <p:notesMasterId xmlns:r="http://schemas.openxmlformats.org/officeDocument/2006/relationships" r:id="R071943dbc52243ef"/>
  </p:notesMasterIdLst>
  <p:sldIdLst>
    <p:sldId xmlns:r="http://schemas.openxmlformats.org/officeDocument/2006/relationships" id="256" r:id="Refa1032998074c77"/>
    <p:sldId xmlns:r="http://schemas.openxmlformats.org/officeDocument/2006/relationships" id="257" r:id="R6d66dc0a05dc4f32"/>
    <p:sldId xmlns:r="http://schemas.openxmlformats.org/officeDocument/2006/relationships" id="258" r:id="R4c49722cc0784cb5"/>
    <p:sldId xmlns:r="http://schemas.openxmlformats.org/officeDocument/2006/relationships" id="259" r:id="Rf51b41fa9e4443b6"/>
    <p:sldId xmlns:r="http://schemas.openxmlformats.org/officeDocument/2006/relationships" id="260" r:id="Rc24d78e825df4e1f"/>
    <p:sldId xmlns:r="http://schemas.openxmlformats.org/officeDocument/2006/relationships" id="261" r:id="Rc81ea817e2c24050"/>
    <p:sldId xmlns:r="http://schemas.openxmlformats.org/officeDocument/2006/relationships" id="262" r:id="R84384196277840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2ddf2f167cc4bc6" /><Relationship Type="http://schemas.openxmlformats.org/officeDocument/2006/relationships/slideMaster" Target="/ppt/slideMasters/slideMaster1.xml" Id="R1decfd3ab80345d5" /><Relationship Type="http://schemas.openxmlformats.org/officeDocument/2006/relationships/notesMaster" Target="/ppt/notesMasters/notesMaster1.xml" Id="R071943dbc52243ef" /><Relationship Type="http://schemas.openxmlformats.org/officeDocument/2006/relationships/presProps" Target="/ppt/presProps.xml" Id="R09ab485d5363439c" /><Relationship Type="http://schemas.openxmlformats.org/officeDocument/2006/relationships/tableStyles" Target="/ppt/tableStyles.xml" Id="Rd472409fcc714432" /><Relationship Type="http://schemas.openxmlformats.org/officeDocument/2006/relationships/slide" Target="/ppt/slides/slide1.xml" Id="Refa1032998074c77" /><Relationship Type="http://schemas.openxmlformats.org/officeDocument/2006/relationships/slide" Target="/ppt/slides/slide2.xml" Id="R6d66dc0a05dc4f32" /><Relationship Type="http://schemas.openxmlformats.org/officeDocument/2006/relationships/slide" Target="/ppt/slides/slide3.xml" Id="R4c49722cc0784cb5" /><Relationship Type="http://schemas.openxmlformats.org/officeDocument/2006/relationships/slide" Target="/ppt/slides/slide4.xml" Id="Rf51b41fa9e4443b6" /><Relationship Type="http://schemas.openxmlformats.org/officeDocument/2006/relationships/slide" Target="/ppt/slides/slide5.xml" Id="Rc24d78e825df4e1f" /><Relationship Type="http://schemas.openxmlformats.org/officeDocument/2006/relationships/slide" Target="/ppt/slides/slide6.xml" Id="Rc81ea817e2c24050" /><Relationship Type="http://schemas.openxmlformats.org/officeDocument/2006/relationships/slide" Target="/ppt/slides/slide7.xml" Id="R84384196277840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7b714c4a00441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a234b765514e4d" /><Relationship Type="http://schemas.openxmlformats.org/officeDocument/2006/relationships/notesMaster" Target="/ppt/notesMasters/notesMaster1.xml" Id="R496319a4912543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b5c9baaca642f8" /><Relationship Type="http://schemas.openxmlformats.org/officeDocument/2006/relationships/notesMaster" Target="/ppt/notesMasters/notesMaster1.xml" Id="Rfe031f5ffeee48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831f3b76724edb" /><Relationship Type="http://schemas.openxmlformats.org/officeDocument/2006/relationships/notesMaster" Target="/ppt/notesMasters/notesMaster1.xml" Id="R897a9b76ef2c46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08374c82d44dbf" /><Relationship Type="http://schemas.openxmlformats.org/officeDocument/2006/relationships/notesMaster" Target="/ppt/notesMasters/notesMaster1.xml" Id="Rc9fbd8405bc441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b74958cc5a4e4b" /><Relationship Type="http://schemas.openxmlformats.org/officeDocument/2006/relationships/notesMaster" Target="/ppt/notesMasters/notesMaster1.xml" Id="R0155e3ea2b884b26"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8dcbd2f2634d05" /><Relationship Type="http://schemas.openxmlformats.org/officeDocument/2006/relationships/notesMaster" Target="/ppt/notesMasters/notesMaster1.xml" Id="Ra07e45e747dc4e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27253d733754bf5" /><Relationship Type="http://schemas.openxmlformats.org/officeDocument/2006/relationships/notesMaster" Target="/ppt/notesMasters/notesMaster1.xml" Id="Rab2217b37bc04c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HomeFlow focuses on a simple discharge problem. A patient can be medically ready, but the ward may still be waiting for medication, transport, equipment, or a family collection plan. HomeFlow proposes one clear coordination view so the patient, ward team and family prepare together. Everything shown is a prototype using fictional demonstration data. I am not presenting HomeFlow as an existing Trust product or claiming that these integrations already operate.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is not simply whether someone is medically fit. Discharge depends on several practical actions completing at the right time. A medication task can be overdue, transport may be booked for later, or the family may not know when to prepare. Teams already work hard to manage these details, but the information does not always appear together in one clear view. The Amber patient shown here illustrates the gap: we can see the barrier, owner, target time and family readiness together, rather than discovering each issue in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idea is to create one shared coordination view around the discharge journey. Staff can see the current status, the main barrier, who owns the action, the deadline and whether the family can collect or needs support. HomeFlow should not ask teams to re-enter information that already exists in OPTICA or the patient record. Its genuinely new contribution is the family readiness signal and a simplified presentation that makes dependencies easier to act on. In the prototype, updating an action also changes the ward board and the separate ward display.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HomeFlow should build on capability already available to the Trust. TrakCare, PAS or the EPR can provide patient and ward information. OPTICA already supports discharge status, barriers, tasks and ownership. DrDoctor could potentially deliver approved patient or family messages, and Power BI or Microsoft Fabric could support evaluation. Those connections are proposals, not current HomeFlow integrations. Health Call and Northumbria Digital Services could advise on development and architecture, but their role would need formal agreement alongside Information Governance, clinical safety and supplier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Families often receive certainty only when the ward is almost ready. The HomeFlow concept introduces staged communication. An early message says discharge is likely, a second asks the family to prepare, and a final message confirms that the patient is ready for collection. The family can confirm or say they may need help, so the ward sees readiness before it becomes a delay. DrDoctor is a potential delivery route because it offers established communication capability, but inpatient discharge alerts and interactive responses would need workflow, consent, supplier and Trust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ward display is a separate, privacy-safe interface for a large monitor. It shows expected discharges, the current barrier, who owns it, the target time and family readiness. It deliberately avoids full patient names and uses fictional bed numbers and demo identifiers in this prototype. The display updates when the presenter changes a patient in the main app, so the team sees the same information without refreshing manually. In a real pilot, OPTICA could provide discharge status and barriers while HomeFlow contributes the family readiness signal, subject to technical and governance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ask is deliberately modest. I am seeking support to work with Digital, discharge teams and ward staff on one ward for eight to twelve weeks. We would use existing technology wherever possible and evaluate whether the HomeFlow view changes day-to-day coordination. The measures include the time from discharge-ready to leaving, delayed discharges, time of day, common barriers, family readiness and staff feedback. The purpose is to learn safely before considering scale. I am asking for the clinical, operational, digital and improvement support needed to develop and evaluate that small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a2c0c1cef645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626a3936595411d" /><Relationship Type="http://schemas.openxmlformats.org/officeDocument/2006/relationships/slideLayout" Target="/ppt/slideLayouts/slideLayout1.xml" Id="R8778eb67ecd24e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78eb67ecd24e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409c07b1a51438b" /><Relationship Type="http://schemas.openxmlformats.org/officeDocument/2006/relationships/image" Target="/ppt/media/image.png" Id="R8353263ec80e475e" /><Relationship Type="http://schemas.openxmlformats.org/officeDocument/2006/relationships/notesSlide" Target="/ppt/notesSlides/notesSlide1.xml" Id="R1558625a79d745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7630227c42a4288" /><Relationship Type="http://schemas.openxmlformats.org/officeDocument/2006/relationships/image" Target="/ppt/media/image2.png" Id="R1e87db2ff5a74be3" /><Relationship Type="http://schemas.openxmlformats.org/officeDocument/2006/relationships/notesSlide" Target="/ppt/notesSlides/notesSlide2.xml" Id="Rde0a46bffed340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c02b46554e34dd7" /><Relationship Type="http://schemas.openxmlformats.org/officeDocument/2006/relationships/image" Target="/ppt/media/image3.png" Id="R3706842111274b04" /><Relationship Type="http://schemas.openxmlformats.org/officeDocument/2006/relationships/notesSlide" Target="/ppt/notesSlides/notesSlide3.xml" Id="R251da29ce9d849b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72d287130864f37" /><Relationship Type="http://schemas.openxmlformats.org/officeDocument/2006/relationships/image" Target="/ppt/media/image4.png" Id="R238c567eb76645c5" /><Relationship Type="http://schemas.openxmlformats.org/officeDocument/2006/relationships/notesSlide" Target="/ppt/notesSlides/notesSlide4.xml" Id="R36fa274f5bc44a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f5f5a4f271644f9" /><Relationship Type="http://schemas.openxmlformats.org/officeDocument/2006/relationships/image" Target="/ppt/media/image5.png" Id="R2dbdd53e2f344f87" /><Relationship Type="http://schemas.openxmlformats.org/officeDocument/2006/relationships/notesSlide" Target="/ppt/notesSlides/notesSlide5.xml" Id="R08eed3415b9241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430e7ec02124ec7" /><Relationship Type="http://schemas.openxmlformats.org/officeDocument/2006/relationships/image" Target="/ppt/media/image6.png" Id="R076896cf79864a07" /><Relationship Type="http://schemas.openxmlformats.org/officeDocument/2006/relationships/notesSlide" Target="/ppt/notesSlides/notesSlide6.xml" Id="R626142dd5bb045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26c8f9354794c31" /><Relationship Type="http://schemas.openxmlformats.org/officeDocument/2006/relationships/image" Target="/ppt/media/image7.png" Id="R717f2d18dcc14a64" /><Relationship Type="http://schemas.openxmlformats.org/officeDocument/2006/relationships/notesSlide" Target="/ppt/notesSlides/notesSlide7.xml" Id="Rb32676eee4584b4c" /></Relationships>
</file>

<file path=ppt/slides/slide1.xml><?xml version="1.0" encoding="utf-8"?>
<p:sld xmlns:p="http://schemas.openxmlformats.org/presentationml/2006/main">
  <p:cSld>
    <p:bg>
      <p:bgPr>
        <a:solidFill xmlns:a="http://schemas.openxmlformats.org/drawingml/2006/main">
          <a:srgbClr val="12304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717CB9C-0444-409C-B57D-D40CA2E7FBB6}"/>
              </a:ext>
            </a:extLst>
          </p:cNvPr>
          <p:cNvSpPr>
            <a:spLocks xmlns:a="http://schemas.openxmlformats.org/drawingml/2006/main" noGrp="1"/>
          </p:cNvSpPr>
          <p:nvPr/>
        </p:nvSpPr>
        <p:spPr>
          <a:xfrm xmlns:a="http://schemas.openxmlformats.org/drawingml/2006/main">
            <a:off x="0" y="0"/>
            <a:ext cx="5000625" cy="6858000"/>
          </a:xfrm>
          <a:prstGeom xmlns:a="http://schemas.openxmlformats.org/drawingml/2006/main" prst="rect">
            <a:avLst/>
          </a:prstGeom>
          <a:solidFill xmlns:a="http://schemas.openxmlformats.org/drawingml/2006/main">
            <a:srgbClr val="1230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FCF09F-BFFB-494B-83E6-A7ACB826EE98}"/>
              </a:ext>
            </a:extLst>
          </p:cNvPr>
          <p:cNvSpPr>
            <a:spLocks xmlns:a="http://schemas.openxmlformats.org/drawingml/2006/main" noGrp="1"/>
          </p:cNvSpPr>
          <p:nvPr/>
        </p:nvSpPr>
        <p:spPr>
          <a:xfrm xmlns:a="http://schemas.openxmlformats.org/drawingml/2006/main">
            <a:off x="4953000" y="0"/>
            <a:ext cx="7239000" cy="6858000"/>
          </a:xfrm>
          <a:prstGeom xmlns:a="http://schemas.openxmlformats.org/drawingml/2006/main" prst="rect">
            <a:avLst/>
          </a:prstGeom>
          <a:solidFill xmlns:a="http://schemas.openxmlformats.org/drawingml/2006/main">
            <a:srgbClr val="F1F6F9"/>
          </a:solidFill>
          <a:ln xmlns:a="http://schemas.openxmlformats.org/drawingml/2006/main" w="0">
            <a:noFill/>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353263ec80e475e"/>
          <a:srcRect xmlns:a="http://schemas.openxmlformats.org/drawingml/2006/main" l="6626" t="0" r="6626" b="0"/>
          <a:stretch xmlns:a="http://schemas.openxmlformats.org/drawingml/2006/main">
            <a:fillRect l="0" t="0" r="0" b="0"/>
          </a:stretch>
        </p:blipFill>
        <p:spPr>
          <a:xfrm xmlns:a="http://schemas.openxmlformats.org/drawingml/2006/main">
            <a:off x="5286375" y="514350"/>
            <a:ext cx="6619875" cy="5829300"/>
          </a:xfrm>
          <a:prstGeom xmlns:a="http://schemas.openxmlformats.org/drawingml/2006/main" prst="roundRect">
            <a:avLst>
              <a:gd name="adj" fmla="val 2941"/>
            </a:avLst>
          </a:prstGeom>
        </p:spPr>
      </p:pic>
      <p:sp>
        <p:nvSpPr>
          <p:cNvPr id="4" name="">
            <a:extLst xmlns:a="http://schemas.openxmlformats.org/drawingml/2006/main">
              <a:ext uri="{FF2B5EF4-FFF2-40B4-BE49-F238E27FC236}">
                <a16:creationId xmlns:a16="http://schemas.microsoft.com/office/drawing/2014/main" id="{B4FC7487-1A95-47C3-8D6C-BB4AC789C94F}"/>
              </a:ext>
            </a:extLst>
          </p:cNvPr>
          <p:cNvSpPr>
            <a:spLocks xmlns:a="http://schemas.openxmlformats.org/drawingml/2006/main" noGrp="1"/>
          </p:cNvSpPr>
          <p:nvPr/>
        </p:nvSpPr>
        <p:spPr>
          <a:xfrm xmlns:a="http://schemas.openxmlformats.org/drawingml/2006/main">
            <a:off x="552450" y="78105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39B7A0"/>
                </a:solidFill>
                <a:latin typeface="Arial"/>
                <a:ea typeface="Arial"/>
                <a:cs typeface="Arial"/>
              </a:defRPr>
            </a:pPr>
            <a:r>
              <a:rPr sz="1125" b="1">
                <a:solidFill>
                  <a:srgbClr val="39B7A0"/>
                </a:solidFill>
                <a:latin typeface="Arial"/>
                <a:ea typeface="Arial"/>
                <a:cs typeface="Arial"/>
              </a:rPr>
              <a:t>HOMEFLOW: REDUCING DISCHARGE DELAYS</a:t>
            </a:r>
          </a:p>
        </p:txBody>
      </p:sp>
      <p:sp>
        <p:nvSpPr>
          <p:cNvPr id="5" name="">
            <a:extLst xmlns:a="http://schemas.openxmlformats.org/drawingml/2006/main">
              <a:ext uri="{FF2B5EF4-FFF2-40B4-BE49-F238E27FC236}">
                <a16:creationId xmlns:a16="http://schemas.microsoft.com/office/drawing/2014/main" id="{F9351AB8-D21C-4AF8-9B34-D95DCDD2CF2F}"/>
              </a:ext>
            </a:extLst>
          </p:cNvPr>
          <p:cNvSpPr>
            <a:spLocks xmlns:a="http://schemas.openxmlformats.org/drawingml/2006/main" noGrp="1"/>
          </p:cNvSpPr>
          <p:nvPr/>
        </p:nvSpPr>
        <p:spPr>
          <a:xfrm xmlns:a="http://schemas.openxmlformats.org/drawingml/2006/main">
            <a:off x="552450" y="1428750"/>
            <a:ext cx="3905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FFFFFF"/>
                </a:solidFill>
                <a:latin typeface="Arial"/>
                <a:ea typeface="Arial"/>
                <a:cs typeface="Arial"/>
              </a:defRPr>
            </a:pPr>
            <a:r>
              <a:rPr sz="4200" b="1">
                <a:solidFill>
                  <a:srgbClr val="FFFFFF"/>
                </a:solidFill>
                <a:latin typeface="Arial"/>
                <a:ea typeface="Arial"/>
                <a:cs typeface="Arial"/>
              </a:rPr>
              <a:t>HomeFlow</a:t>
            </a:r>
          </a:p>
        </p:txBody>
      </p:sp>
      <p:sp>
        <p:nvSpPr>
          <p:cNvPr id="6" name="">
            <a:extLst xmlns:a="http://schemas.openxmlformats.org/drawingml/2006/main">
              <a:ext uri="{FF2B5EF4-FFF2-40B4-BE49-F238E27FC236}">
                <a16:creationId xmlns:a16="http://schemas.microsoft.com/office/drawing/2014/main" id="{70542BD5-2255-4F46-A490-4229215283C1}"/>
              </a:ext>
            </a:extLst>
          </p:cNvPr>
          <p:cNvSpPr>
            <a:spLocks xmlns:a="http://schemas.openxmlformats.org/drawingml/2006/main" noGrp="1"/>
          </p:cNvSpPr>
          <p:nvPr/>
        </p:nvSpPr>
        <p:spPr>
          <a:xfrm xmlns:a="http://schemas.openxmlformats.org/drawingml/2006/main">
            <a:off x="552450" y="2343150"/>
            <a:ext cx="3810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0">
                <a:solidFill>
                  <a:srgbClr val="FFFFFF"/>
                </a:solidFill>
                <a:latin typeface="Arial"/>
                <a:ea typeface="Arial"/>
                <a:cs typeface="Arial"/>
              </a:defRPr>
            </a:pPr>
            <a:r>
              <a:rPr sz="2175" b="0">
                <a:solidFill>
                  <a:srgbClr val="FFFFFF"/>
                </a:solidFill>
                <a:latin typeface="Arial"/>
                <a:ea typeface="Arial"/>
                <a:cs typeface="Arial"/>
              </a:rPr>
              <a:t>Preparing the patient, the ward and the family for discharge</a:t>
            </a:r>
          </a:p>
        </p:txBody>
      </p:sp>
      <p:sp>
        <p:nvSpPr>
          <p:cNvPr id="7" name="">
            <a:extLst xmlns:a="http://schemas.openxmlformats.org/drawingml/2006/main">
              <a:ext uri="{FF2B5EF4-FFF2-40B4-BE49-F238E27FC236}">
                <a16:creationId xmlns:a16="http://schemas.microsoft.com/office/drawing/2014/main" id="{F06C42D7-E491-4CFA-800A-464C81C77F16}"/>
              </a:ext>
            </a:extLst>
          </p:cNvPr>
          <p:cNvSpPr>
            <a:spLocks xmlns:a="http://schemas.openxmlformats.org/drawingml/2006/main" noGrp="1"/>
          </p:cNvSpPr>
          <p:nvPr/>
        </p:nvSpPr>
        <p:spPr>
          <a:xfrm xmlns:a="http://schemas.openxmlformats.org/drawingml/2006/main">
            <a:off x="552450" y="4067175"/>
            <a:ext cx="371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C4D9E6"/>
                </a:solidFill>
                <a:latin typeface="Arial"/>
                <a:ea typeface="Arial"/>
                <a:cs typeface="Arial"/>
              </a:defRPr>
            </a:pPr>
            <a:r>
              <a:rPr sz="1350" b="0">
                <a:solidFill>
                  <a:srgbClr val="C4D9E6"/>
                </a:solidFill>
                <a:latin typeface="Arial"/>
                <a:ea typeface="Arial"/>
                <a:cs typeface="Arial"/>
              </a:rPr>
              <a:t>A proposed coordination and family readiness layer</a:t>
            </a:r>
          </a:p>
        </p:txBody>
      </p:sp>
      <p:sp>
        <p:nvSpPr>
          <p:cNvPr id="8" name="">
            <a:extLst xmlns:a="http://schemas.openxmlformats.org/drawingml/2006/main">
              <a:ext uri="{FF2B5EF4-FFF2-40B4-BE49-F238E27FC236}">
                <a16:creationId xmlns:a16="http://schemas.microsoft.com/office/drawing/2014/main" id="{65A93A2A-2098-4F16-99B4-EA89B416DBE6}"/>
              </a:ext>
            </a:extLst>
          </p:cNvPr>
          <p:cNvSpPr>
            <a:spLocks xmlns:a="http://schemas.openxmlformats.org/drawingml/2006/main" noGrp="1"/>
          </p:cNvSpPr>
          <p:nvPr/>
        </p:nvSpPr>
        <p:spPr>
          <a:xfrm xmlns:a="http://schemas.openxmlformats.org/drawingml/2006/main">
            <a:off x="552450" y="5095875"/>
            <a:ext cx="2190750" cy="285750"/>
          </a:xfrm>
          <a:prstGeom xmlns:a="http://schemas.openxmlformats.org/drawingml/2006/main" prst="roundRect">
            <a:avLst>
              <a:gd name="adj" fmla="val 40000"/>
            </a:avLst>
          </a:prstGeom>
          <a:solidFill xmlns:a="http://schemas.openxmlformats.org/drawingml/2006/main">
            <a:srgbClr val="FFF4CE"/>
          </a:solidFill>
          <a:ln xmlns:a="http://schemas.openxmlformats.org/drawingml/2006/main" w="9525">
            <a:solidFill>
              <a:srgbClr val="E7CA73"/>
            </a:solidFill>
          </a:ln>
        </p:spPr>
        <p:txBody>
          <a:bodyPr xmlns:a="http://schemas.openxmlformats.org/drawingml/2006/main" lIns="76200" tIns="19050" rIns="76200" bIns="19050" anchor="ctr">
            <a:normAutofit fontScale="91137"/>
          </a:bodyPr>
          <a:lstStyle xmlns:a="http://schemas.openxmlformats.org/drawingml/2006/main"/>
          <a:p xmlns:a="http://schemas.openxmlformats.org/drawingml/2006/main">
            <a:pPr algn="ctr">
              <a:defRPr sz="788" b="1">
                <a:solidFill>
                  <a:srgbClr val="665000"/>
                </a:solidFill>
                <a:latin typeface="Arial"/>
                <a:ea typeface="Arial"/>
                <a:cs typeface="Arial"/>
              </a:defRPr>
            </a:pPr>
            <a:r>
              <a:rPr sz="788" b="1">
                <a:solidFill>
                  <a:srgbClr val="665000"/>
                </a:solidFill>
                <a:latin typeface="Arial"/>
                <a:ea typeface="Arial"/>
                <a:cs typeface="Arial"/>
              </a:rPr>
              <a:t>PROTOTYPE / DEMONSTRATION DATA ONLY</a:t>
            </a:r>
          </a:p>
        </p:txBody>
      </p:sp>
      <p:sp>
        <p:nvSpPr>
          <p:cNvPr id="9" name="">
            <a:extLst xmlns:a="http://schemas.openxmlformats.org/drawingml/2006/main">
              <a:ext uri="{FF2B5EF4-FFF2-40B4-BE49-F238E27FC236}">
                <a16:creationId xmlns:a16="http://schemas.microsoft.com/office/drawing/2014/main" id="{304E7206-DADA-489F-A6D5-BA7C6F245A6A}"/>
              </a:ext>
            </a:extLst>
          </p:cNvPr>
          <p:cNvSpPr>
            <a:spLocks xmlns:a="http://schemas.openxmlformats.org/drawingml/2006/main" noGrp="1"/>
          </p:cNvSpPr>
          <p:nvPr/>
        </p:nvSpPr>
        <p:spPr>
          <a:xfrm xmlns:a="http://schemas.openxmlformats.org/drawingml/2006/main">
            <a:off x="552450" y="6096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DC4D8"/>
                </a:solidFill>
                <a:latin typeface="Arial"/>
                <a:ea typeface="Arial"/>
                <a:cs typeface="Arial"/>
              </a:defRPr>
            </a:pPr>
            <a:r>
              <a:rPr sz="900" b="1">
                <a:solidFill>
                  <a:srgbClr val="9DC4D8"/>
                </a:solidFill>
                <a:latin typeface="Arial"/>
                <a:ea typeface="Arial"/>
                <a:cs typeface="Arial"/>
              </a:rPr>
              <a:t>DRAGONS’ DEN 2026</a:t>
            </a:r>
          </a:p>
        </p:txBody>
      </p:sp>
    </p:spTree>
    <p:extLst>
      <p:ext uri="{BB962C8B-B14F-4D97-AF65-F5344CB8AC3E}">
        <p14:creationId xmlns:p14="http://schemas.microsoft.com/office/powerpoint/2010/main" val="315937549"/>
      </p:ext>
    </p:extLst>
  </p:cSld>
</p:sld>
</file>

<file path=ppt/slides/slide2.xml><?xml version="1.0" encoding="utf-8"?>
<p:sld xmlns:p="http://schemas.openxmlformats.org/presentationml/2006/main">
  <p:cSld>
    <p:bg>
      <p:bgPr>
        <a:solidFill xmlns:a="http://schemas.openxmlformats.org/drawingml/2006/main">
          <a:srgbClr val="F1F6F9"/>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71CCBBC-6825-4EA3-982B-D30DF3A58D8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5EB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E8AB6A-61CC-4D03-BF72-F0122782C1D3}"/>
              </a:ext>
            </a:extLst>
          </p:cNvPr>
          <p:cNvSpPr>
            <a:spLocks xmlns:a="http://schemas.openxmlformats.org/drawingml/2006/main" noGrp="1"/>
          </p:cNvSpPr>
          <p:nvPr/>
        </p:nvSpPr>
        <p:spPr>
          <a:xfrm xmlns:a="http://schemas.openxmlformats.org/drawingml/2006/main">
            <a:off x="514350" y="3714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005EB8"/>
                </a:solidFill>
                <a:latin typeface="Arial"/>
                <a:ea typeface="Arial"/>
                <a:cs typeface="Arial"/>
              </a:defRPr>
            </a:pPr>
            <a:r>
              <a:rPr sz="1125" b="1">
                <a:solidFill>
                  <a:srgbClr val="005EB8"/>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5702C074-E12E-41C4-92EE-A032FD4E8A62}"/>
              </a:ext>
            </a:extLst>
          </p:cNvPr>
          <p:cNvSpPr>
            <a:spLocks xmlns:a="http://schemas.openxmlformats.org/drawingml/2006/main" noGrp="1"/>
          </p:cNvSpPr>
          <p:nvPr/>
        </p:nvSpPr>
        <p:spPr>
          <a:xfrm xmlns:a="http://schemas.openxmlformats.org/drawingml/2006/main">
            <a:off x="1047750" y="28575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12304A"/>
                </a:solidFill>
                <a:latin typeface="Arial"/>
                <a:ea typeface="Arial"/>
                <a:cs typeface="Arial"/>
              </a:defRPr>
            </a:pPr>
            <a:r>
              <a:rPr sz="2550" b="1">
                <a:solidFill>
                  <a:srgbClr val="12304A"/>
                </a:solidFill>
                <a:latin typeface="Arial"/>
                <a:ea typeface="Arial"/>
                <a:cs typeface="Arial"/>
              </a:rPr>
              <a:t>The discharge visibility gap</a:t>
            </a:r>
          </a:p>
        </p:txBody>
      </p:sp>
      <p:sp>
        <p:nvSpPr>
          <p:cNvPr id="4" name="">
            <a:extLst xmlns:a="http://schemas.openxmlformats.org/drawingml/2006/main">
              <a:ext uri="{FF2B5EF4-FFF2-40B4-BE49-F238E27FC236}">
                <a16:creationId xmlns:a16="http://schemas.microsoft.com/office/drawing/2014/main" id="{870FA439-C65E-49DB-8C14-C5E1FF24815D}"/>
              </a:ext>
            </a:extLst>
          </p:cNvPr>
          <p:cNvSpPr>
            <a:spLocks xmlns:a="http://schemas.openxmlformats.org/drawingml/2006/main" noGrp="1"/>
          </p:cNvSpPr>
          <p:nvPr/>
        </p:nvSpPr>
        <p:spPr>
          <a:xfrm xmlns:a="http://schemas.openxmlformats.org/drawingml/2006/main">
            <a:off x="1066800" y="80010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1788A"/>
                </a:solidFill>
                <a:latin typeface="Arial"/>
                <a:ea typeface="Arial"/>
                <a:cs typeface="Arial"/>
              </a:defRPr>
            </a:pPr>
            <a:r>
              <a:rPr sz="1275" b="0">
                <a:solidFill>
                  <a:srgbClr val="61788A"/>
                </a:solidFill>
                <a:latin typeface="Arial"/>
                <a:ea typeface="Arial"/>
                <a:cs typeface="Arial"/>
              </a:rPr>
              <a:t>Clinical readiness can arrive before practical readiness</a:t>
            </a:r>
          </a:p>
        </p:txBody>
      </p:sp>
      <p:sp>
        <p:nvSpPr>
          <p:cNvPr id="5" name="">
            <a:extLst xmlns:a="http://schemas.openxmlformats.org/drawingml/2006/main">
              <a:ext uri="{FF2B5EF4-FFF2-40B4-BE49-F238E27FC236}">
                <a16:creationId xmlns:a16="http://schemas.microsoft.com/office/drawing/2014/main" id="{F3E969EA-5F18-432A-8175-3AA56DD10F65}"/>
              </a:ext>
            </a:extLst>
          </p:cNvPr>
          <p:cNvSpPr>
            <a:spLocks xmlns:a="http://schemas.openxmlformats.org/drawingml/2006/main" noGrp="1"/>
          </p:cNvSpPr>
          <p:nvPr/>
        </p:nvSpPr>
        <p:spPr>
          <a:xfrm xmlns:a="http://schemas.openxmlformats.org/drawingml/2006/main">
            <a:off x="514350" y="1133475"/>
            <a:ext cx="11163300" cy="0"/>
          </a:xfrm>
          <a:prstGeom xmlns:a="http://schemas.openxmlformats.org/drawingml/2006/main" prst="line">
            <a:avLst/>
          </a:prstGeom>
          <a:noFill xmlns:a="http://schemas.openxmlformats.org/drawingml/2006/main"/>
          <a:ln xmlns:a="http://schemas.openxmlformats.org/drawingml/2006/main" w="9525">
            <a:solidFill>
              <a:srgbClr val="D4E0E7"/>
            </a:solidFill>
          </a:ln>
        </p:spPr>
      </p:sp>
      <p:sp>
        <p:nvSpPr>
          <p:cNvPr id="6" name="">
            <a:extLst xmlns:a="http://schemas.openxmlformats.org/drawingml/2006/main">
              <a:ext uri="{FF2B5EF4-FFF2-40B4-BE49-F238E27FC236}">
                <a16:creationId xmlns:a16="http://schemas.microsoft.com/office/drawing/2014/main" id="{447061C4-17E7-490A-B4AD-1645CBBAC1CB}"/>
              </a:ext>
            </a:extLst>
          </p:cNvPr>
          <p:cNvSpPr>
            <a:spLocks xmlns:a="http://schemas.openxmlformats.org/drawingml/2006/main" noGrp="1"/>
          </p:cNvSpPr>
          <p:nvPr/>
        </p:nvSpPr>
        <p:spPr>
          <a:xfrm xmlns:a="http://schemas.openxmlformats.org/drawingml/2006/main">
            <a:off x="9477375" y="400050"/>
            <a:ext cx="2190750" cy="285750"/>
          </a:xfrm>
          <a:prstGeom xmlns:a="http://schemas.openxmlformats.org/drawingml/2006/main" prst="roundRect">
            <a:avLst>
              <a:gd name="adj" fmla="val 40000"/>
            </a:avLst>
          </a:prstGeom>
          <a:solidFill xmlns:a="http://schemas.openxmlformats.org/drawingml/2006/main">
            <a:srgbClr val="FFF4CE"/>
          </a:solidFill>
          <a:ln xmlns:a="http://schemas.openxmlformats.org/drawingml/2006/main" w="9525">
            <a:solidFill>
              <a:srgbClr val="E7CA73"/>
            </a:solidFill>
          </a:ln>
        </p:spPr>
        <p:txBody>
          <a:bodyPr xmlns:a="http://schemas.openxmlformats.org/drawingml/2006/main" lIns="76200" tIns="19050" rIns="76200" bIns="19050" anchor="ctr">
            <a:normAutofit fontScale="91137"/>
          </a:bodyPr>
          <a:lstStyle xmlns:a="http://schemas.openxmlformats.org/drawingml/2006/main"/>
          <a:p xmlns:a="http://schemas.openxmlformats.org/drawingml/2006/main">
            <a:pPr algn="ctr">
              <a:defRPr sz="788" b="1">
                <a:solidFill>
                  <a:srgbClr val="665000"/>
                </a:solidFill>
                <a:latin typeface="Arial"/>
                <a:ea typeface="Arial"/>
                <a:cs typeface="Arial"/>
              </a:defRPr>
            </a:pPr>
            <a:r>
              <a:rPr sz="788" b="1">
                <a:solidFill>
                  <a:srgbClr val="665000"/>
                </a:solidFill>
                <a:latin typeface="Arial"/>
                <a:ea typeface="Arial"/>
                <a:cs typeface="Arial"/>
              </a:rPr>
              <a:t>PROTOTYPE / DEMONSTRATION DATA ONLY</a:t>
            </a:r>
          </a:p>
        </p:txBody>
      </p:sp>
      <p:sp>
        <p:nvSpPr>
          <p:cNvPr id="7" name="">
            <a:extLst xmlns:a="http://schemas.openxmlformats.org/drawingml/2006/main">
              <a:ext uri="{FF2B5EF4-FFF2-40B4-BE49-F238E27FC236}">
                <a16:creationId xmlns:a16="http://schemas.microsoft.com/office/drawing/2014/main" id="{38EA3BF9-8189-4DD0-974E-57D2B14E2F9C}"/>
              </a:ext>
            </a:extLst>
          </p:cNvPr>
          <p:cNvSpPr>
            <a:spLocks xmlns:a="http://schemas.openxmlformats.org/drawingml/2006/main" noGrp="1"/>
          </p:cNvSpPr>
          <p:nvPr/>
        </p:nvSpPr>
        <p:spPr>
          <a:xfrm xmlns:a="http://schemas.openxmlformats.org/drawingml/2006/main">
            <a:off x="552450" y="1581150"/>
            <a:ext cx="3714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2304A"/>
                </a:solidFill>
                <a:latin typeface="Arial"/>
                <a:ea typeface="Arial"/>
                <a:cs typeface="Arial"/>
              </a:defRPr>
            </a:pPr>
            <a:r>
              <a:rPr sz="2250" b="1">
                <a:solidFill>
                  <a:srgbClr val="12304A"/>
                </a:solidFill>
                <a:latin typeface="Arial"/>
                <a:ea typeface="Arial"/>
                <a:cs typeface="Arial"/>
              </a:rPr>
              <a:t>A patient can be ready for discharge and still wait.</a:t>
            </a:r>
          </a:p>
        </p:txBody>
      </p:sp>
      <p:sp>
        <p:nvSpPr>
          <p:cNvPr id="8" name="">
            <a:extLst xmlns:a="http://schemas.openxmlformats.org/drawingml/2006/main">
              <a:ext uri="{FF2B5EF4-FFF2-40B4-BE49-F238E27FC236}">
                <a16:creationId xmlns:a16="http://schemas.microsoft.com/office/drawing/2014/main" id="{0A52B37E-B267-44FD-9ADE-9DB06F546FF8}"/>
              </a:ext>
            </a:extLst>
          </p:cNvPr>
          <p:cNvSpPr>
            <a:spLocks xmlns:a="http://schemas.openxmlformats.org/drawingml/2006/main" noGrp="1"/>
          </p:cNvSpPr>
          <p:nvPr/>
        </p:nvSpPr>
        <p:spPr>
          <a:xfrm xmlns:a="http://schemas.openxmlformats.org/drawingml/2006/main">
            <a:off x="590550" y="2828925"/>
            <a:ext cx="104775" cy="104775"/>
          </a:xfrm>
          <a:prstGeom xmlns:a="http://schemas.openxmlformats.org/drawingml/2006/main" prst="ellipse">
            <a:avLst/>
          </a:prstGeom>
          <a:solidFill xmlns:a="http://schemas.openxmlformats.org/drawingml/2006/main">
            <a:srgbClr val="39B7A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E370ACE-723B-46B2-89E3-CC8E2D6DE353}"/>
              </a:ext>
            </a:extLst>
          </p:cNvPr>
          <p:cNvSpPr>
            <a:spLocks xmlns:a="http://schemas.openxmlformats.org/drawingml/2006/main" noGrp="1"/>
          </p:cNvSpPr>
          <p:nvPr/>
        </p:nvSpPr>
        <p:spPr>
          <a:xfrm xmlns:a="http://schemas.openxmlformats.org/drawingml/2006/main">
            <a:off x="819150" y="2762250"/>
            <a:ext cx="3486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163247"/>
                </a:solidFill>
                <a:latin typeface="Arial"/>
                <a:ea typeface="Arial"/>
                <a:cs typeface="Arial"/>
              </a:defRPr>
            </a:pPr>
            <a:r>
              <a:rPr sz="1350" b="0">
                <a:solidFill>
                  <a:srgbClr val="163247"/>
                </a:solidFill>
                <a:latin typeface="Arial"/>
                <a:ea typeface="Arial"/>
                <a:cs typeface="Arial"/>
              </a:rPr>
              <a:t>The next barrier is not visible to everyone</a:t>
            </a:r>
          </a:p>
        </p:txBody>
      </p:sp>
      <p:sp>
        <p:nvSpPr>
          <p:cNvPr id="10" name="">
            <a:extLst xmlns:a="http://schemas.openxmlformats.org/drawingml/2006/main">
              <a:ext uri="{FF2B5EF4-FFF2-40B4-BE49-F238E27FC236}">
                <a16:creationId xmlns:a16="http://schemas.microsoft.com/office/drawing/2014/main" id="{78A15F9F-0DCD-4FFE-858E-41483C006F83}"/>
              </a:ext>
            </a:extLst>
          </p:cNvPr>
          <p:cNvSpPr>
            <a:spLocks xmlns:a="http://schemas.openxmlformats.org/drawingml/2006/main" noGrp="1"/>
          </p:cNvSpPr>
          <p:nvPr/>
        </p:nvSpPr>
        <p:spPr>
          <a:xfrm xmlns:a="http://schemas.openxmlformats.org/drawingml/2006/main">
            <a:off x="590550" y="3381375"/>
            <a:ext cx="104775" cy="104775"/>
          </a:xfrm>
          <a:prstGeom xmlns:a="http://schemas.openxmlformats.org/drawingml/2006/main" prst="ellipse">
            <a:avLst/>
          </a:prstGeom>
          <a:solidFill xmlns:a="http://schemas.openxmlformats.org/drawingml/2006/main">
            <a:srgbClr val="39B7A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D4AD730-6F06-407A-BD12-F771A9FA1569}"/>
              </a:ext>
            </a:extLst>
          </p:cNvPr>
          <p:cNvSpPr>
            <a:spLocks xmlns:a="http://schemas.openxmlformats.org/drawingml/2006/main" noGrp="1"/>
          </p:cNvSpPr>
          <p:nvPr/>
        </p:nvSpPr>
        <p:spPr>
          <a:xfrm xmlns:a="http://schemas.openxmlformats.org/drawingml/2006/main">
            <a:off x="819150" y="3314700"/>
            <a:ext cx="3486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163247"/>
                </a:solidFill>
                <a:latin typeface="Arial"/>
                <a:ea typeface="Arial"/>
                <a:cs typeface="Arial"/>
              </a:defRPr>
            </a:pPr>
            <a:r>
              <a:rPr sz="1350" b="0">
                <a:solidFill>
                  <a:srgbClr val="163247"/>
                </a:solidFill>
                <a:latin typeface="Arial"/>
                <a:ea typeface="Arial"/>
                <a:cs typeface="Arial"/>
              </a:rPr>
              <a:t>Ownership and target times are easy to miss</a:t>
            </a:r>
          </a:p>
        </p:txBody>
      </p:sp>
      <p:sp>
        <p:nvSpPr>
          <p:cNvPr id="12" name="">
            <a:extLst xmlns:a="http://schemas.openxmlformats.org/drawingml/2006/main">
              <a:ext uri="{FF2B5EF4-FFF2-40B4-BE49-F238E27FC236}">
                <a16:creationId xmlns:a16="http://schemas.microsoft.com/office/drawing/2014/main" id="{B7DF0308-B1E6-4F52-B7E3-6078F5134835}"/>
              </a:ext>
            </a:extLst>
          </p:cNvPr>
          <p:cNvSpPr>
            <a:spLocks xmlns:a="http://schemas.openxmlformats.org/drawingml/2006/main" noGrp="1"/>
          </p:cNvSpPr>
          <p:nvPr/>
        </p:nvSpPr>
        <p:spPr>
          <a:xfrm xmlns:a="http://schemas.openxmlformats.org/drawingml/2006/main">
            <a:off x="590550" y="3933825"/>
            <a:ext cx="104775" cy="104775"/>
          </a:xfrm>
          <a:prstGeom xmlns:a="http://schemas.openxmlformats.org/drawingml/2006/main" prst="ellipse">
            <a:avLst/>
          </a:prstGeom>
          <a:solidFill xmlns:a="http://schemas.openxmlformats.org/drawingml/2006/main">
            <a:srgbClr val="39B7A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7421103-7E28-4665-8743-7F388FFE623F}"/>
              </a:ext>
            </a:extLst>
          </p:cNvPr>
          <p:cNvSpPr>
            <a:spLocks xmlns:a="http://schemas.openxmlformats.org/drawingml/2006/main" noGrp="1"/>
          </p:cNvSpPr>
          <p:nvPr/>
        </p:nvSpPr>
        <p:spPr>
          <a:xfrm xmlns:a="http://schemas.openxmlformats.org/drawingml/2006/main">
            <a:off x="819150" y="3867150"/>
            <a:ext cx="3486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163247"/>
                </a:solidFill>
                <a:latin typeface="Arial"/>
                <a:ea typeface="Arial"/>
                <a:cs typeface="Arial"/>
              </a:defRPr>
            </a:pPr>
            <a:r>
              <a:rPr sz="1350" b="0">
                <a:solidFill>
                  <a:srgbClr val="163247"/>
                </a:solidFill>
                <a:latin typeface="Arial"/>
                <a:ea typeface="Arial"/>
                <a:cs typeface="Arial"/>
              </a:rPr>
              <a:t>Family readiness may only surface late</a:t>
            </a:r>
          </a:p>
        </p:txBody>
      </p:sp>
      <p:sp>
        <p:nvSpPr>
          <p:cNvPr id="14" name="">
            <a:extLst xmlns:a="http://schemas.openxmlformats.org/drawingml/2006/main">
              <a:ext uri="{FF2B5EF4-FFF2-40B4-BE49-F238E27FC236}">
                <a16:creationId xmlns:a16="http://schemas.microsoft.com/office/drawing/2014/main" id="{1EA2E32A-A637-4710-BD91-FD1A1EAC2660}"/>
              </a:ext>
            </a:extLst>
          </p:cNvPr>
          <p:cNvSpPr>
            <a:spLocks xmlns:a="http://schemas.openxmlformats.org/drawingml/2006/main" noGrp="1"/>
          </p:cNvSpPr>
          <p:nvPr/>
        </p:nvSpPr>
        <p:spPr>
          <a:xfrm xmlns:a="http://schemas.openxmlformats.org/drawingml/2006/main">
            <a:off x="552450" y="4933950"/>
            <a:ext cx="3714750" cy="914400"/>
          </a:xfrm>
          <a:prstGeom xmlns:a="http://schemas.openxmlformats.org/drawingml/2006/main" prst="roundRect">
            <a:avLst>
              <a:gd name="adj" fmla="val 12500"/>
            </a:avLst>
          </a:prstGeom>
          <a:solidFill xmlns:a="http://schemas.openxmlformats.org/drawingml/2006/main">
            <a:srgbClr val="12304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F90A7EF-6F7D-4F98-9221-3EA0AE645B7D}"/>
              </a:ext>
            </a:extLst>
          </p:cNvPr>
          <p:cNvSpPr>
            <a:spLocks xmlns:a="http://schemas.openxmlformats.org/drawingml/2006/main" noGrp="1"/>
          </p:cNvSpPr>
          <p:nvPr/>
        </p:nvSpPr>
        <p:spPr>
          <a:xfrm xmlns:a="http://schemas.openxmlformats.org/drawingml/2006/main">
            <a:off x="781050" y="5133975"/>
            <a:ext cx="1047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39B7A0"/>
                </a:solidFill>
                <a:latin typeface="Arial"/>
                <a:ea typeface="Arial"/>
                <a:cs typeface="Arial"/>
              </a:defRPr>
            </a:pPr>
            <a:r>
              <a:rPr sz="975" b="1">
                <a:solidFill>
                  <a:srgbClr val="39B7A0"/>
                </a:solidFill>
                <a:latin typeface="Arial"/>
                <a:ea typeface="Arial"/>
                <a:cs typeface="Arial"/>
              </a:rPr>
              <a:t>The result</a:t>
            </a:r>
          </a:p>
        </p:txBody>
      </p:sp>
      <p:sp>
        <p:nvSpPr>
          <p:cNvPr id="16" name="">
            <a:extLst xmlns:a="http://schemas.openxmlformats.org/drawingml/2006/main">
              <a:ext uri="{FF2B5EF4-FFF2-40B4-BE49-F238E27FC236}">
                <a16:creationId xmlns:a16="http://schemas.microsoft.com/office/drawing/2014/main" id="{96981276-4D81-4A6D-98E1-CF40C51E3B78}"/>
              </a:ext>
            </a:extLst>
          </p:cNvPr>
          <p:cNvSpPr>
            <a:spLocks xmlns:a="http://schemas.openxmlformats.org/drawingml/2006/main" noGrp="1"/>
          </p:cNvSpPr>
          <p:nvPr/>
        </p:nvSpPr>
        <p:spPr>
          <a:xfrm xmlns:a="http://schemas.openxmlformats.org/drawingml/2006/main">
            <a:off x="781050" y="53911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0127"/>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avoidable waiting after the clinical decision</a:t>
            </a:r>
          </a:p>
        </p:txBody>
      </p:sp>
      <p:sp>
        <p:nvSpPr>
          <p:cNvPr id="17" name="">
            <a:extLst xmlns:a="http://schemas.openxmlformats.org/drawingml/2006/main">
              <a:ext uri="{FF2B5EF4-FFF2-40B4-BE49-F238E27FC236}">
                <a16:creationId xmlns:a16="http://schemas.microsoft.com/office/drawing/2014/main" id="{1755AB0A-BF70-49A0-8EEC-D97CBDF14482}"/>
              </a:ext>
            </a:extLst>
          </p:cNvPr>
          <p:cNvSpPr>
            <a:spLocks xmlns:a="http://schemas.openxmlformats.org/drawingml/2006/main" noGrp="1"/>
          </p:cNvSpPr>
          <p:nvPr/>
        </p:nvSpPr>
        <p:spPr>
          <a:xfrm xmlns:a="http://schemas.openxmlformats.org/drawingml/2006/main">
            <a:off x="4610100" y="1390650"/>
            <a:ext cx="7143750" cy="4762500"/>
          </a:xfrm>
          <a:prstGeom xmlns:a="http://schemas.openxmlformats.org/drawingml/2006/main" prst="roundRect">
            <a:avLst>
              <a:gd name="adj" fmla="val 3600"/>
            </a:avLst>
          </a:prstGeom>
          <a:solidFill xmlns:a="http://schemas.openxmlformats.org/drawingml/2006/main">
            <a:srgbClr val="FFFFFF"/>
          </a:solidFill>
          <a:ln xmlns:a="http://schemas.openxmlformats.org/drawingml/2006/main" w="9525">
            <a:solidFill>
              <a:srgbClr val="D4E0E7"/>
            </a:solidFill>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1e87db2ff5a74be3"/>
          <a:srcRect xmlns:a="http://schemas.openxmlformats.org/drawingml/2006/main" l="0" t="6839" r="0" b="6839"/>
          <a:stretch xmlns:a="http://schemas.openxmlformats.org/drawingml/2006/main">
            <a:fillRect l="0" t="0" r="0" b="0"/>
          </a:stretch>
        </p:blipFill>
        <p:spPr>
          <a:xfrm xmlns:a="http://schemas.openxmlformats.org/drawingml/2006/main">
            <a:off x="4686300" y="1466850"/>
            <a:ext cx="6991350" cy="4610100"/>
          </a:xfrm>
          <a:prstGeom xmlns:a="http://schemas.openxmlformats.org/drawingml/2006/main" prst="roundRect">
            <a:avLst>
              <a:gd name="adj" fmla="val 2479"/>
            </a:avLst>
          </a:prstGeom>
        </p:spPr>
      </p:pic>
      <p:sp>
        <p:nvSpPr>
          <p:cNvPr id="19" name="">
            <a:extLst xmlns:a="http://schemas.openxmlformats.org/drawingml/2006/main">
              <a:ext uri="{FF2B5EF4-FFF2-40B4-BE49-F238E27FC236}">
                <a16:creationId xmlns:a16="http://schemas.microsoft.com/office/drawing/2014/main" id="{570CB443-5B78-445B-808A-CF6D9CFCA614}"/>
              </a:ext>
            </a:extLst>
          </p:cNvPr>
          <p:cNvSpPr>
            <a:spLocks xmlns:a="http://schemas.openxmlformats.org/drawingml/2006/main" noGrp="1"/>
          </p:cNvSpPr>
          <p:nvPr/>
        </p:nvSpPr>
        <p:spPr>
          <a:xfrm xmlns:a="http://schemas.openxmlformats.org/drawingml/2006/main">
            <a:off x="9763125" y="5553075"/>
            <a:ext cx="1543050" cy="266700"/>
          </a:xfrm>
          <a:prstGeom xmlns:a="http://schemas.openxmlformats.org/drawingml/2006/main" prst="roundRect">
            <a:avLst>
              <a:gd name="adj" fmla="val 28571"/>
            </a:avLst>
          </a:prstGeom>
          <a:solidFill xmlns:a="http://schemas.openxmlformats.org/drawingml/2006/main">
            <a:srgbClr val="EEF1F3"/>
          </a:solidFill>
          <a:ln xmlns:a="http://schemas.openxmlformats.org/drawingml/2006/main" w="9525">
            <a:solidFill>
              <a:srgbClr val="B8C1C7"/>
            </a:solidFill>
          </a:ln>
        </p:spPr>
        <p:txBody>
          <a:bodyPr xmlns:a="http://schemas.openxmlformats.org/drawingml/2006/main" lIns="57150" tIns="19050" rIns="57150" bIns="19050" anchor="ctr">
            <a:normAutofit fontScale="100000"/>
          </a:bodyPr>
          <a:lstStyle xmlns:a="http://schemas.openxmlformats.org/drawingml/2006/main"/>
          <a:p xmlns:a="http://schemas.openxmlformats.org/drawingml/2006/main">
            <a:pPr algn="ctr">
              <a:defRPr sz="788" b="1">
                <a:solidFill>
                  <a:srgbClr val="6F7E88"/>
                </a:solidFill>
                <a:latin typeface="Arial"/>
                <a:ea typeface="Arial"/>
                <a:cs typeface="Arial"/>
              </a:defRPr>
            </a:pPr>
            <a:r>
              <a:rPr sz="788" b="1">
                <a:solidFill>
                  <a:srgbClr val="6F7E88"/>
                </a:solidFill>
                <a:latin typeface="Arial"/>
                <a:ea typeface="Arial"/>
                <a:cs typeface="Arial"/>
              </a:rPr>
              <a:t>AMBER BARRIER</a:t>
            </a:r>
          </a:p>
        </p:txBody>
      </p:sp>
      <p:sp>
        <p:nvSpPr>
          <p:cNvPr id="20" name="">
            <a:extLst xmlns:a="http://schemas.openxmlformats.org/drawingml/2006/main">
              <a:ext uri="{FF2B5EF4-FFF2-40B4-BE49-F238E27FC236}">
                <a16:creationId xmlns:a16="http://schemas.microsoft.com/office/drawing/2014/main" id="{155B53A7-3B57-4445-880B-02783CC1673F}"/>
              </a:ext>
            </a:extLst>
          </p:cNvPr>
          <p:cNvSpPr>
            <a:spLocks xmlns:a="http://schemas.openxmlformats.org/drawingml/2006/main" noGrp="1"/>
          </p:cNvSpPr>
          <p:nvPr/>
        </p:nvSpPr>
        <p:spPr>
          <a:xfrm xmlns:a="http://schemas.openxmlformats.org/drawingml/2006/main">
            <a:off x="514350" y="6515100"/>
            <a:ext cx="11163300" cy="0"/>
          </a:xfrm>
          <a:prstGeom xmlns:a="http://schemas.openxmlformats.org/drawingml/2006/main" prst="line">
            <a:avLst/>
          </a:prstGeom>
          <a:noFill xmlns:a="http://schemas.openxmlformats.org/drawingml/2006/main"/>
          <a:ln xmlns:a="http://schemas.openxmlformats.org/drawingml/2006/main" w="9525">
            <a:solidFill>
              <a:srgbClr val="D4E0E7"/>
            </a:solidFill>
          </a:ln>
        </p:spPr>
      </p:sp>
      <p:sp>
        <p:nvSpPr>
          <p:cNvPr id="21" name="">
            <a:extLst xmlns:a="http://schemas.openxmlformats.org/drawingml/2006/main">
              <a:ext uri="{FF2B5EF4-FFF2-40B4-BE49-F238E27FC236}">
                <a16:creationId xmlns:a16="http://schemas.microsoft.com/office/drawing/2014/main" id="{B91A8878-A975-49E2-BB10-B64BBA124CC6}"/>
              </a:ext>
            </a:extLst>
          </p:cNvPr>
          <p:cNvSpPr>
            <a:spLocks xmlns:a="http://schemas.openxmlformats.org/drawingml/2006/main" noGrp="1"/>
          </p:cNvSpPr>
          <p:nvPr/>
        </p:nvSpPr>
        <p:spPr>
          <a:xfrm xmlns:a="http://schemas.openxmlformats.org/drawingml/2006/main">
            <a:off x="514350" y="659130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5EB8"/>
                </a:solidFill>
                <a:latin typeface="Arial"/>
                <a:ea typeface="Arial"/>
                <a:cs typeface="Arial"/>
              </a:defRPr>
            </a:pPr>
            <a:r>
              <a:rPr sz="825" b="1">
                <a:solidFill>
                  <a:srgbClr val="005EB8"/>
                </a:solidFill>
                <a:latin typeface="Arial"/>
                <a:ea typeface="Arial"/>
                <a:cs typeface="Arial"/>
              </a:rPr>
              <a:t>HomeFlow</a:t>
            </a:r>
          </a:p>
        </p:txBody>
      </p:sp>
      <p:sp>
        <p:nvSpPr>
          <p:cNvPr id="22" name="">
            <a:extLst xmlns:a="http://schemas.openxmlformats.org/drawingml/2006/main">
              <a:ext uri="{FF2B5EF4-FFF2-40B4-BE49-F238E27FC236}">
                <a16:creationId xmlns:a16="http://schemas.microsoft.com/office/drawing/2014/main" id="{50D7C5DE-6258-4B4F-BC0A-80F3C4BD1BE6}"/>
              </a:ext>
            </a:extLst>
          </p:cNvPr>
          <p:cNvSpPr>
            <a:spLocks xmlns:a="http://schemas.openxmlformats.org/drawingml/2006/main" noGrp="1"/>
          </p:cNvSpPr>
          <p:nvPr/>
        </p:nvSpPr>
        <p:spPr>
          <a:xfrm xmlns:a="http://schemas.openxmlformats.org/drawingml/2006/main">
            <a:off x="1657350" y="65913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1788A"/>
                </a:solidFill>
                <a:latin typeface="Arial"/>
                <a:ea typeface="Arial"/>
                <a:cs typeface="Arial"/>
              </a:defRPr>
            </a:pPr>
            <a:r>
              <a:rPr sz="750" b="0">
                <a:solidFill>
                  <a:srgbClr val="61788A"/>
                </a:solidFill>
                <a:latin typeface="Arial"/>
                <a:ea typeface="Arial"/>
                <a:cs typeface="Arial"/>
              </a:rPr>
              <a:t>Independent innovation concept</a:t>
            </a:r>
          </a:p>
        </p:txBody>
      </p:sp>
      <p:sp>
        <p:nvSpPr>
          <p:cNvPr id="23" name="">
            <a:extLst xmlns:a="http://schemas.openxmlformats.org/drawingml/2006/main">
              <a:ext uri="{FF2B5EF4-FFF2-40B4-BE49-F238E27FC236}">
                <a16:creationId xmlns:a16="http://schemas.microsoft.com/office/drawing/2014/main" id="{CD60119F-68B7-4139-8E3E-3778250ADA13}"/>
              </a:ext>
            </a:extLst>
          </p:cNvPr>
          <p:cNvSpPr>
            <a:spLocks xmlns:a="http://schemas.openxmlformats.org/drawingml/2006/main" noGrp="1"/>
          </p:cNvSpPr>
          <p:nvPr/>
        </p:nvSpPr>
        <p:spPr>
          <a:xfrm xmlns:a="http://schemas.openxmlformats.org/drawingml/2006/main">
            <a:off x="11287125" y="6591300"/>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61788A"/>
                </a:solidFill>
                <a:latin typeface="Arial"/>
                <a:ea typeface="Arial"/>
                <a:cs typeface="Arial"/>
              </a:defRPr>
            </a:pPr>
            <a:r>
              <a:rPr sz="750" b="1">
                <a:solidFill>
                  <a:srgbClr val="61788A"/>
                </a:solidFill>
                <a:latin typeface="Arial"/>
                <a:ea typeface="Arial"/>
                <a:cs typeface="Arial"/>
              </a:rPr>
              <a:t>02</a:t>
            </a:r>
          </a:p>
        </p:txBody>
      </p:sp>
    </p:spTree>
    <p:extLst>
      <p:ext uri="{BB962C8B-B14F-4D97-AF65-F5344CB8AC3E}">
        <p14:creationId xmlns:p14="http://schemas.microsoft.com/office/powerpoint/2010/main" val="12744397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A15F67C-E39D-4114-9A71-CEEC5383108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5EB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F73471-FC73-4341-A08B-54B32B66CF4E}"/>
              </a:ext>
            </a:extLst>
          </p:cNvPr>
          <p:cNvSpPr>
            <a:spLocks xmlns:a="http://schemas.openxmlformats.org/drawingml/2006/main" noGrp="1"/>
          </p:cNvSpPr>
          <p:nvPr/>
        </p:nvSpPr>
        <p:spPr>
          <a:xfrm xmlns:a="http://schemas.openxmlformats.org/drawingml/2006/main">
            <a:off x="514350" y="3714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005EB8"/>
                </a:solidFill>
                <a:latin typeface="Arial"/>
                <a:ea typeface="Arial"/>
                <a:cs typeface="Arial"/>
              </a:defRPr>
            </a:pPr>
            <a:r>
              <a:rPr sz="1125" b="1">
                <a:solidFill>
                  <a:srgbClr val="005EB8"/>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4D759182-B03F-41BA-9C80-0B05765B8BF3}"/>
              </a:ext>
            </a:extLst>
          </p:cNvPr>
          <p:cNvSpPr>
            <a:spLocks xmlns:a="http://schemas.openxmlformats.org/drawingml/2006/main" noGrp="1"/>
          </p:cNvSpPr>
          <p:nvPr/>
        </p:nvSpPr>
        <p:spPr>
          <a:xfrm xmlns:a="http://schemas.openxmlformats.org/drawingml/2006/main">
            <a:off x="1047750" y="28575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12304A"/>
                </a:solidFill>
                <a:latin typeface="Arial"/>
                <a:ea typeface="Arial"/>
                <a:cs typeface="Arial"/>
              </a:defRPr>
            </a:pPr>
            <a:r>
              <a:rPr sz="2550" b="1">
                <a:solidFill>
                  <a:srgbClr val="12304A"/>
                </a:solidFill>
                <a:latin typeface="Arial"/>
                <a:ea typeface="Arial"/>
                <a:cs typeface="Arial"/>
              </a:rPr>
              <a:t>The HomeFlow idea</a:t>
            </a:r>
          </a:p>
        </p:txBody>
      </p:sp>
      <p:sp>
        <p:nvSpPr>
          <p:cNvPr id="4" name="">
            <a:extLst xmlns:a="http://schemas.openxmlformats.org/drawingml/2006/main">
              <a:ext uri="{FF2B5EF4-FFF2-40B4-BE49-F238E27FC236}">
                <a16:creationId xmlns:a16="http://schemas.microsoft.com/office/drawing/2014/main" id="{DDDAB6CD-F6B0-4FDA-A56B-278194DD8D33}"/>
              </a:ext>
            </a:extLst>
          </p:cNvPr>
          <p:cNvSpPr>
            <a:spLocks xmlns:a="http://schemas.openxmlformats.org/drawingml/2006/main" noGrp="1"/>
          </p:cNvSpPr>
          <p:nvPr/>
        </p:nvSpPr>
        <p:spPr>
          <a:xfrm xmlns:a="http://schemas.openxmlformats.org/drawingml/2006/main">
            <a:off x="1066800" y="80010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1788A"/>
                </a:solidFill>
                <a:latin typeface="Arial"/>
                <a:ea typeface="Arial"/>
                <a:cs typeface="Arial"/>
              </a:defRPr>
            </a:pPr>
            <a:r>
              <a:rPr sz="1275" b="0">
                <a:solidFill>
                  <a:srgbClr val="61788A"/>
                </a:solidFill>
                <a:latin typeface="Arial"/>
                <a:ea typeface="Arial"/>
                <a:cs typeface="Arial"/>
              </a:rPr>
              <a:t>A shared view of the next action and what it depends on</a:t>
            </a:r>
          </a:p>
        </p:txBody>
      </p:sp>
      <p:sp>
        <p:nvSpPr>
          <p:cNvPr id="5" name="">
            <a:extLst xmlns:a="http://schemas.openxmlformats.org/drawingml/2006/main">
              <a:ext uri="{FF2B5EF4-FFF2-40B4-BE49-F238E27FC236}">
                <a16:creationId xmlns:a16="http://schemas.microsoft.com/office/drawing/2014/main" id="{A5482006-D8E1-4105-89EE-4D5A86240E05}"/>
              </a:ext>
            </a:extLst>
          </p:cNvPr>
          <p:cNvSpPr>
            <a:spLocks xmlns:a="http://schemas.openxmlformats.org/drawingml/2006/main" noGrp="1"/>
          </p:cNvSpPr>
          <p:nvPr/>
        </p:nvSpPr>
        <p:spPr>
          <a:xfrm xmlns:a="http://schemas.openxmlformats.org/drawingml/2006/main">
            <a:off x="514350" y="1133475"/>
            <a:ext cx="11163300" cy="0"/>
          </a:xfrm>
          <a:prstGeom xmlns:a="http://schemas.openxmlformats.org/drawingml/2006/main" prst="line">
            <a:avLst/>
          </a:prstGeom>
          <a:noFill xmlns:a="http://schemas.openxmlformats.org/drawingml/2006/main"/>
          <a:ln xmlns:a="http://schemas.openxmlformats.org/drawingml/2006/main" w="9525">
            <a:solidFill>
              <a:srgbClr val="D4E0E7"/>
            </a:solidFill>
          </a:ln>
        </p:spPr>
      </p:sp>
      <p:sp>
        <p:nvSpPr>
          <p:cNvPr id="6" name="">
            <a:extLst xmlns:a="http://schemas.openxmlformats.org/drawingml/2006/main">
              <a:ext uri="{FF2B5EF4-FFF2-40B4-BE49-F238E27FC236}">
                <a16:creationId xmlns:a16="http://schemas.microsoft.com/office/drawing/2014/main" id="{A7C98AC6-A31D-4542-A099-1D005C2CE9E6}"/>
              </a:ext>
            </a:extLst>
          </p:cNvPr>
          <p:cNvSpPr>
            <a:spLocks xmlns:a="http://schemas.openxmlformats.org/drawingml/2006/main" noGrp="1"/>
          </p:cNvSpPr>
          <p:nvPr/>
        </p:nvSpPr>
        <p:spPr>
          <a:xfrm xmlns:a="http://schemas.openxmlformats.org/drawingml/2006/main">
            <a:off x="9477375" y="400050"/>
            <a:ext cx="2190750" cy="285750"/>
          </a:xfrm>
          <a:prstGeom xmlns:a="http://schemas.openxmlformats.org/drawingml/2006/main" prst="roundRect">
            <a:avLst>
              <a:gd name="adj" fmla="val 40000"/>
            </a:avLst>
          </a:prstGeom>
          <a:solidFill xmlns:a="http://schemas.openxmlformats.org/drawingml/2006/main">
            <a:srgbClr val="FFF4CE"/>
          </a:solidFill>
          <a:ln xmlns:a="http://schemas.openxmlformats.org/drawingml/2006/main" w="9525">
            <a:solidFill>
              <a:srgbClr val="E7CA73"/>
            </a:solidFill>
          </a:ln>
        </p:spPr>
        <p:txBody>
          <a:bodyPr xmlns:a="http://schemas.openxmlformats.org/drawingml/2006/main" lIns="76200" tIns="19050" rIns="76200" bIns="19050" anchor="ctr">
            <a:normAutofit fontScale="91137"/>
          </a:bodyPr>
          <a:lstStyle xmlns:a="http://schemas.openxmlformats.org/drawingml/2006/main"/>
          <a:p xmlns:a="http://schemas.openxmlformats.org/drawingml/2006/main">
            <a:pPr algn="ctr">
              <a:defRPr sz="788" b="1">
                <a:solidFill>
                  <a:srgbClr val="665000"/>
                </a:solidFill>
                <a:latin typeface="Arial"/>
                <a:ea typeface="Arial"/>
                <a:cs typeface="Arial"/>
              </a:defRPr>
            </a:pPr>
            <a:r>
              <a:rPr sz="788" b="1">
                <a:solidFill>
                  <a:srgbClr val="665000"/>
                </a:solidFill>
                <a:latin typeface="Arial"/>
                <a:ea typeface="Arial"/>
                <a:cs typeface="Arial"/>
              </a:rPr>
              <a:t>PROTOTYPE / DEMONSTRATION DATA ONLY</a:t>
            </a:r>
          </a:p>
        </p:txBody>
      </p:sp>
      <p:sp>
        <p:nvSpPr>
          <p:cNvPr id="7" name="">
            <a:extLst xmlns:a="http://schemas.openxmlformats.org/drawingml/2006/main">
              <a:ext uri="{FF2B5EF4-FFF2-40B4-BE49-F238E27FC236}">
                <a16:creationId xmlns:a16="http://schemas.microsoft.com/office/drawing/2014/main" id="{72921829-AAFD-4A96-8CA7-939E7D04A9C7}"/>
              </a:ext>
            </a:extLst>
          </p:cNvPr>
          <p:cNvSpPr>
            <a:spLocks xmlns:a="http://schemas.openxmlformats.org/drawingml/2006/main" noGrp="1"/>
          </p:cNvSpPr>
          <p:nvPr/>
        </p:nvSpPr>
        <p:spPr>
          <a:xfrm xmlns:a="http://schemas.openxmlformats.org/drawingml/2006/main">
            <a:off x="438150" y="1352550"/>
            <a:ext cx="7334250" cy="4838700"/>
          </a:xfrm>
          <a:prstGeom xmlns:a="http://schemas.openxmlformats.org/drawingml/2006/main" prst="roundRect">
            <a:avLst>
              <a:gd name="adj" fmla="val 3543"/>
            </a:avLst>
          </a:prstGeom>
          <a:solidFill xmlns:a="http://schemas.openxmlformats.org/drawingml/2006/main">
            <a:srgbClr val="FFFFFF"/>
          </a:solidFill>
          <a:ln xmlns:a="http://schemas.openxmlformats.org/drawingml/2006/main" w="9525">
            <a:solidFill>
              <a:srgbClr val="D4E0E7"/>
            </a:solidFill>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3706842111274b04"/>
          <a:srcRect xmlns:a="http://schemas.openxmlformats.org/drawingml/2006/main" l="0" t="7290" r="0" b="7290"/>
          <a:stretch xmlns:a="http://schemas.openxmlformats.org/drawingml/2006/main">
            <a:fillRect l="0" t="0" r="0" b="0"/>
          </a:stretch>
        </p:blipFill>
        <p:spPr>
          <a:xfrm xmlns:a="http://schemas.openxmlformats.org/drawingml/2006/main">
            <a:off x="514350" y="1428750"/>
            <a:ext cx="7181850" cy="4686300"/>
          </a:xfrm>
          <a:prstGeom xmlns:a="http://schemas.openxmlformats.org/drawingml/2006/main" prst="roundRect">
            <a:avLst>
              <a:gd name="adj" fmla="val 2439"/>
            </a:avLst>
          </a:prstGeom>
        </p:spPr>
      </p:pic>
      <p:sp>
        <p:nvSpPr>
          <p:cNvPr id="9" name="">
            <a:extLst xmlns:a="http://schemas.openxmlformats.org/drawingml/2006/main">
              <a:ext uri="{FF2B5EF4-FFF2-40B4-BE49-F238E27FC236}">
                <a16:creationId xmlns:a16="http://schemas.microsoft.com/office/drawing/2014/main" id="{DDA21681-B545-4E96-8672-8E6F3DCBCF96}"/>
              </a:ext>
            </a:extLst>
          </p:cNvPr>
          <p:cNvSpPr>
            <a:spLocks xmlns:a="http://schemas.openxmlformats.org/drawingml/2006/main" noGrp="1"/>
          </p:cNvSpPr>
          <p:nvPr/>
        </p:nvSpPr>
        <p:spPr>
          <a:xfrm xmlns:a="http://schemas.openxmlformats.org/drawingml/2006/main">
            <a:off x="8191500" y="16002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2304A"/>
                </a:solidFill>
                <a:latin typeface="Arial"/>
                <a:ea typeface="Arial"/>
                <a:cs typeface="Arial"/>
              </a:defRPr>
            </a:pPr>
            <a:r>
              <a:rPr sz="2025" b="1">
                <a:solidFill>
                  <a:srgbClr val="12304A"/>
                </a:solidFill>
                <a:latin typeface="Arial"/>
                <a:ea typeface="Arial"/>
                <a:cs typeface="Arial"/>
              </a:rPr>
              <a:t>One coordination view</a:t>
            </a:r>
          </a:p>
        </p:txBody>
      </p:sp>
      <p:sp>
        <p:nvSpPr>
          <p:cNvPr id="10" name="">
            <a:extLst xmlns:a="http://schemas.openxmlformats.org/drawingml/2006/main">
              <a:ext uri="{FF2B5EF4-FFF2-40B4-BE49-F238E27FC236}">
                <a16:creationId xmlns:a16="http://schemas.microsoft.com/office/drawing/2014/main" id="{D88FCFC5-81D2-46BB-9562-606D09E55F43}"/>
              </a:ext>
            </a:extLst>
          </p:cNvPr>
          <p:cNvSpPr>
            <a:spLocks xmlns:a="http://schemas.openxmlformats.org/drawingml/2006/main" noGrp="1"/>
          </p:cNvSpPr>
          <p:nvPr/>
        </p:nvSpPr>
        <p:spPr>
          <a:xfrm xmlns:a="http://schemas.openxmlformats.org/drawingml/2006/main">
            <a:off x="8267700" y="2333625"/>
            <a:ext cx="104775" cy="104775"/>
          </a:xfrm>
          <a:prstGeom xmlns:a="http://schemas.openxmlformats.org/drawingml/2006/main" prst="ellipse">
            <a:avLst/>
          </a:prstGeom>
          <a:solidFill xmlns:a="http://schemas.openxmlformats.org/drawingml/2006/main">
            <a:srgbClr val="005EB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0B04308-15C9-4F3A-89C6-2DDAC4DF4FDE}"/>
              </a:ext>
            </a:extLst>
          </p:cNvPr>
          <p:cNvSpPr>
            <a:spLocks xmlns:a="http://schemas.openxmlformats.org/drawingml/2006/main" noGrp="1"/>
          </p:cNvSpPr>
          <p:nvPr/>
        </p:nvSpPr>
        <p:spPr>
          <a:xfrm xmlns:a="http://schemas.openxmlformats.org/drawingml/2006/main">
            <a:off x="8496300" y="226695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63247"/>
                </a:solidFill>
                <a:latin typeface="Arial"/>
                <a:ea typeface="Arial"/>
                <a:cs typeface="Arial"/>
              </a:defRPr>
            </a:pPr>
            <a:r>
              <a:rPr sz="1500" b="0">
                <a:solidFill>
                  <a:srgbClr val="163247"/>
                </a:solidFill>
                <a:latin typeface="Arial"/>
                <a:ea typeface="Arial"/>
                <a:cs typeface="Arial"/>
              </a:rPr>
              <a:t>Discharge status</a:t>
            </a:r>
          </a:p>
        </p:txBody>
      </p:sp>
      <p:sp>
        <p:nvSpPr>
          <p:cNvPr id="12" name="">
            <a:extLst xmlns:a="http://schemas.openxmlformats.org/drawingml/2006/main">
              <a:ext uri="{FF2B5EF4-FFF2-40B4-BE49-F238E27FC236}">
                <a16:creationId xmlns:a16="http://schemas.microsoft.com/office/drawing/2014/main" id="{239032BA-90C0-4700-9156-C8B71B804BFC}"/>
              </a:ext>
            </a:extLst>
          </p:cNvPr>
          <p:cNvSpPr>
            <a:spLocks xmlns:a="http://schemas.openxmlformats.org/drawingml/2006/main" noGrp="1"/>
          </p:cNvSpPr>
          <p:nvPr/>
        </p:nvSpPr>
        <p:spPr>
          <a:xfrm xmlns:a="http://schemas.openxmlformats.org/drawingml/2006/main">
            <a:off x="8267700" y="2914650"/>
            <a:ext cx="104775" cy="104775"/>
          </a:xfrm>
          <a:prstGeom xmlns:a="http://schemas.openxmlformats.org/drawingml/2006/main" prst="ellipse">
            <a:avLst/>
          </a:prstGeom>
          <a:solidFill xmlns:a="http://schemas.openxmlformats.org/drawingml/2006/main">
            <a:srgbClr val="005EB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8306E15-19C2-40C1-B77F-15EC744F8ADC}"/>
              </a:ext>
            </a:extLst>
          </p:cNvPr>
          <p:cNvSpPr>
            <a:spLocks xmlns:a="http://schemas.openxmlformats.org/drawingml/2006/main" noGrp="1"/>
          </p:cNvSpPr>
          <p:nvPr/>
        </p:nvSpPr>
        <p:spPr>
          <a:xfrm xmlns:a="http://schemas.openxmlformats.org/drawingml/2006/main">
            <a:off x="8496300" y="2847975"/>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63247"/>
                </a:solidFill>
                <a:latin typeface="Arial"/>
                <a:ea typeface="Arial"/>
                <a:cs typeface="Arial"/>
              </a:defRPr>
            </a:pPr>
            <a:r>
              <a:rPr sz="1500" b="0">
                <a:solidFill>
                  <a:srgbClr val="163247"/>
                </a:solidFill>
                <a:latin typeface="Arial"/>
                <a:ea typeface="Arial"/>
                <a:cs typeface="Arial"/>
              </a:rPr>
              <a:t>Outstanding barrier</a:t>
            </a:r>
          </a:p>
        </p:txBody>
      </p:sp>
      <p:sp>
        <p:nvSpPr>
          <p:cNvPr id="14" name="">
            <a:extLst xmlns:a="http://schemas.openxmlformats.org/drawingml/2006/main">
              <a:ext uri="{FF2B5EF4-FFF2-40B4-BE49-F238E27FC236}">
                <a16:creationId xmlns:a16="http://schemas.microsoft.com/office/drawing/2014/main" id="{BB5B2ABB-0E35-41EF-9EA4-7CDB65171E10}"/>
              </a:ext>
            </a:extLst>
          </p:cNvPr>
          <p:cNvSpPr>
            <a:spLocks xmlns:a="http://schemas.openxmlformats.org/drawingml/2006/main" noGrp="1"/>
          </p:cNvSpPr>
          <p:nvPr/>
        </p:nvSpPr>
        <p:spPr>
          <a:xfrm xmlns:a="http://schemas.openxmlformats.org/drawingml/2006/main">
            <a:off x="8267700" y="3495675"/>
            <a:ext cx="104775" cy="104775"/>
          </a:xfrm>
          <a:prstGeom xmlns:a="http://schemas.openxmlformats.org/drawingml/2006/main" prst="ellipse">
            <a:avLst/>
          </a:prstGeom>
          <a:solidFill xmlns:a="http://schemas.openxmlformats.org/drawingml/2006/main">
            <a:srgbClr val="005EB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4A1BC01-2784-4471-BA9C-0D062522B1D5}"/>
              </a:ext>
            </a:extLst>
          </p:cNvPr>
          <p:cNvSpPr>
            <a:spLocks xmlns:a="http://schemas.openxmlformats.org/drawingml/2006/main" noGrp="1"/>
          </p:cNvSpPr>
          <p:nvPr/>
        </p:nvSpPr>
        <p:spPr>
          <a:xfrm xmlns:a="http://schemas.openxmlformats.org/drawingml/2006/main">
            <a:off x="8496300" y="3429000"/>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63247"/>
                </a:solidFill>
                <a:latin typeface="Arial"/>
                <a:ea typeface="Arial"/>
                <a:cs typeface="Arial"/>
              </a:defRPr>
            </a:pPr>
            <a:r>
              <a:rPr sz="1500" b="0">
                <a:solidFill>
                  <a:srgbClr val="163247"/>
                </a:solidFill>
                <a:latin typeface="Arial"/>
                <a:ea typeface="Arial"/>
                <a:cs typeface="Arial"/>
              </a:rPr>
              <a:t>Named owner and deadline</a:t>
            </a:r>
          </a:p>
        </p:txBody>
      </p:sp>
      <p:sp>
        <p:nvSpPr>
          <p:cNvPr id="16" name="">
            <a:extLst xmlns:a="http://schemas.openxmlformats.org/drawingml/2006/main">
              <a:ext uri="{FF2B5EF4-FFF2-40B4-BE49-F238E27FC236}">
                <a16:creationId xmlns:a16="http://schemas.microsoft.com/office/drawing/2014/main" id="{52B12189-6639-4861-89C9-FD3741AF67ED}"/>
              </a:ext>
            </a:extLst>
          </p:cNvPr>
          <p:cNvSpPr>
            <a:spLocks xmlns:a="http://schemas.openxmlformats.org/drawingml/2006/main" noGrp="1"/>
          </p:cNvSpPr>
          <p:nvPr/>
        </p:nvSpPr>
        <p:spPr>
          <a:xfrm xmlns:a="http://schemas.openxmlformats.org/drawingml/2006/main">
            <a:off x="8267700" y="4076700"/>
            <a:ext cx="104775" cy="104775"/>
          </a:xfrm>
          <a:prstGeom xmlns:a="http://schemas.openxmlformats.org/drawingml/2006/main" prst="ellipse">
            <a:avLst/>
          </a:prstGeom>
          <a:solidFill xmlns:a="http://schemas.openxmlformats.org/drawingml/2006/main">
            <a:srgbClr val="005EB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F9EEFD2-B361-4088-A850-2A46A1F9EB2F}"/>
              </a:ext>
            </a:extLst>
          </p:cNvPr>
          <p:cNvSpPr>
            <a:spLocks xmlns:a="http://schemas.openxmlformats.org/drawingml/2006/main" noGrp="1"/>
          </p:cNvSpPr>
          <p:nvPr/>
        </p:nvSpPr>
        <p:spPr>
          <a:xfrm xmlns:a="http://schemas.openxmlformats.org/drawingml/2006/main">
            <a:off x="8496300" y="4010025"/>
            <a:ext cx="2914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63247"/>
                </a:solidFill>
                <a:latin typeface="Arial"/>
                <a:ea typeface="Arial"/>
                <a:cs typeface="Arial"/>
              </a:defRPr>
            </a:pPr>
            <a:r>
              <a:rPr sz="1500" b="0">
                <a:solidFill>
                  <a:srgbClr val="163247"/>
                </a:solidFill>
                <a:latin typeface="Arial"/>
                <a:ea typeface="Arial"/>
                <a:cs typeface="Arial"/>
              </a:rPr>
              <a:t>Family readiness</a:t>
            </a:r>
          </a:p>
        </p:txBody>
      </p:sp>
      <p:sp>
        <p:nvSpPr>
          <p:cNvPr id="18" name="">
            <a:extLst xmlns:a="http://schemas.openxmlformats.org/drawingml/2006/main">
              <a:ext uri="{FF2B5EF4-FFF2-40B4-BE49-F238E27FC236}">
                <a16:creationId xmlns:a16="http://schemas.microsoft.com/office/drawing/2014/main" id="{5AA58AA3-5932-492D-9DD0-1528C5CFECAF}"/>
              </a:ext>
            </a:extLst>
          </p:cNvPr>
          <p:cNvSpPr>
            <a:spLocks xmlns:a="http://schemas.openxmlformats.org/drawingml/2006/main" noGrp="1"/>
          </p:cNvSpPr>
          <p:nvPr/>
        </p:nvSpPr>
        <p:spPr>
          <a:xfrm xmlns:a="http://schemas.openxmlformats.org/drawingml/2006/main">
            <a:off x="8267700" y="5010150"/>
            <a:ext cx="1752600" cy="285750"/>
          </a:xfrm>
          <a:prstGeom xmlns:a="http://schemas.openxmlformats.org/drawingml/2006/main" prst="roundRect">
            <a:avLst>
              <a:gd name="adj" fmla="val 26667"/>
            </a:avLst>
          </a:prstGeom>
          <a:solidFill xmlns:a="http://schemas.openxmlformats.org/drawingml/2006/main">
            <a:srgbClr val="E7F5EF"/>
          </a:solidFill>
          <a:ln xmlns:a="http://schemas.openxmlformats.org/drawingml/2006/main" w="9525">
            <a:solidFill>
              <a:srgbClr val="8BC9B2"/>
            </a:solidFill>
          </a:ln>
        </p:spPr>
        <p:txBody>
          <a:bodyPr xmlns:a="http://schemas.openxmlformats.org/drawingml/2006/main" lIns="57150" tIns="19050" rIns="57150" bIns="19050" anchor="ctr">
            <a:normAutofit fontScale="100000"/>
          </a:bodyPr>
          <a:lstStyle xmlns:a="http://schemas.openxmlformats.org/drawingml/2006/main"/>
          <a:p xmlns:a="http://schemas.openxmlformats.org/drawingml/2006/main">
            <a:pPr algn="ctr">
              <a:defRPr sz="788" b="1">
                <a:solidFill>
                  <a:srgbClr val="14845F"/>
                </a:solidFill>
                <a:latin typeface="Arial"/>
                <a:ea typeface="Arial"/>
                <a:cs typeface="Arial"/>
              </a:defRPr>
            </a:pPr>
            <a:r>
              <a:rPr sz="788" b="1">
                <a:solidFill>
                  <a:srgbClr val="14845F"/>
                </a:solidFill>
                <a:latin typeface="Arial"/>
                <a:ea typeface="Arial"/>
                <a:cs typeface="Arial"/>
              </a:rPr>
              <a:t>HOMEFLOW ADDITION</a:t>
            </a:r>
          </a:p>
        </p:txBody>
      </p:sp>
      <p:sp>
        <p:nvSpPr>
          <p:cNvPr id="19" name="">
            <a:extLst xmlns:a="http://schemas.openxmlformats.org/drawingml/2006/main">
              <a:ext uri="{FF2B5EF4-FFF2-40B4-BE49-F238E27FC236}">
                <a16:creationId xmlns:a16="http://schemas.microsoft.com/office/drawing/2014/main" id="{C9303886-F718-4B5B-A77C-6CC1A96BFEF2}"/>
              </a:ext>
            </a:extLst>
          </p:cNvPr>
          <p:cNvSpPr>
            <a:spLocks xmlns:a="http://schemas.openxmlformats.org/drawingml/2006/main" noGrp="1"/>
          </p:cNvSpPr>
          <p:nvPr/>
        </p:nvSpPr>
        <p:spPr>
          <a:xfrm xmlns:a="http://schemas.openxmlformats.org/drawingml/2006/main">
            <a:off x="8267700" y="54102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1788A"/>
                </a:solidFill>
                <a:latin typeface="Arial"/>
                <a:ea typeface="Arial"/>
                <a:cs typeface="Arial"/>
              </a:defRPr>
            </a:pPr>
            <a:r>
              <a:rPr sz="1275" b="0">
                <a:solidFill>
                  <a:srgbClr val="61788A"/>
                </a:solidFill>
                <a:latin typeface="Arial"/>
                <a:ea typeface="Arial"/>
                <a:cs typeface="Arial"/>
              </a:rPr>
              <a:t>Family readiness sits beside the existing discharge workflow.</a:t>
            </a:r>
          </a:p>
        </p:txBody>
      </p:sp>
      <p:sp>
        <p:nvSpPr>
          <p:cNvPr id="20" name="">
            <a:extLst xmlns:a="http://schemas.openxmlformats.org/drawingml/2006/main">
              <a:ext uri="{FF2B5EF4-FFF2-40B4-BE49-F238E27FC236}">
                <a16:creationId xmlns:a16="http://schemas.microsoft.com/office/drawing/2014/main" id="{0818F568-6818-4008-B7C8-A57B60C433FB}"/>
              </a:ext>
            </a:extLst>
          </p:cNvPr>
          <p:cNvSpPr>
            <a:spLocks xmlns:a="http://schemas.openxmlformats.org/drawingml/2006/main" noGrp="1"/>
          </p:cNvSpPr>
          <p:nvPr/>
        </p:nvSpPr>
        <p:spPr>
          <a:xfrm xmlns:a="http://schemas.openxmlformats.org/drawingml/2006/main">
            <a:off x="514350" y="6515100"/>
            <a:ext cx="11163300" cy="0"/>
          </a:xfrm>
          <a:prstGeom xmlns:a="http://schemas.openxmlformats.org/drawingml/2006/main" prst="line">
            <a:avLst/>
          </a:prstGeom>
          <a:noFill xmlns:a="http://schemas.openxmlformats.org/drawingml/2006/main"/>
          <a:ln xmlns:a="http://schemas.openxmlformats.org/drawingml/2006/main" w="9525">
            <a:solidFill>
              <a:srgbClr val="D4E0E7"/>
            </a:solidFill>
          </a:ln>
        </p:spPr>
      </p:sp>
      <p:sp>
        <p:nvSpPr>
          <p:cNvPr id="21" name="">
            <a:extLst xmlns:a="http://schemas.openxmlformats.org/drawingml/2006/main">
              <a:ext uri="{FF2B5EF4-FFF2-40B4-BE49-F238E27FC236}">
                <a16:creationId xmlns:a16="http://schemas.microsoft.com/office/drawing/2014/main" id="{E19FA023-22CB-4391-B7A6-EDB27B4C32CF}"/>
              </a:ext>
            </a:extLst>
          </p:cNvPr>
          <p:cNvSpPr>
            <a:spLocks xmlns:a="http://schemas.openxmlformats.org/drawingml/2006/main" noGrp="1"/>
          </p:cNvSpPr>
          <p:nvPr/>
        </p:nvSpPr>
        <p:spPr>
          <a:xfrm xmlns:a="http://schemas.openxmlformats.org/drawingml/2006/main">
            <a:off x="514350" y="659130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5EB8"/>
                </a:solidFill>
                <a:latin typeface="Arial"/>
                <a:ea typeface="Arial"/>
                <a:cs typeface="Arial"/>
              </a:defRPr>
            </a:pPr>
            <a:r>
              <a:rPr sz="825" b="1">
                <a:solidFill>
                  <a:srgbClr val="005EB8"/>
                </a:solidFill>
                <a:latin typeface="Arial"/>
                <a:ea typeface="Arial"/>
                <a:cs typeface="Arial"/>
              </a:rPr>
              <a:t>HomeFlow</a:t>
            </a:r>
          </a:p>
        </p:txBody>
      </p:sp>
      <p:sp>
        <p:nvSpPr>
          <p:cNvPr id="22" name="">
            <a:extLst xmlns:a="http://schemas.openxmlformats.org/drawingml/2006/main">
              <a:ext uri="{FF2B5EF4-FFF2-40B4-BE49-F238E27FC236}">
                <a16:creationId xmlns:a16="http://schemas.microsoft.com/office/drawing/2014/main" id="{042F1FA5-C76D-42AF-A40A-EB2BC0FE1388}"/>
              </a:ext>
            </a:extLst>
          </p:cNvPr>
          <p:cNvSpPr>
            <a:spLocks xmlns:a="http://schemas.openxmlformats.org/drawingml/2006/main" noGrp="1"/>
          </p:cNvSpPr>
          <p:nvPr/>
        </p:nvSpPr>
        <p:spPr>
          <a:xfrm xmlns:a="http://schemas.openxmlformats.org/drawingml/2006/main">
            <a:off x="1657350" y="65913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1788A"/>
                </a:solidFill>
                <a:latin typeface="Arial"/>
                <a:ea typeface="Arial"/>
                <a:cs typeface="Arial"/>
              </a:defRPr>
            </a:pPr>
            <a:r>
              <a:rPr sz="750" b="0">
                <a:solidFill>
                  <a:srgbClr val="61788A"/>
                </a:solidFill>
                <a:latin typeface="Arial"/>
                <a:ea typeface="Arial"/>
                <a:cs typeface="Arial"/>
              </a:rPr>
              <a:t>Independent innovation concept</a:t>
            </a:r>
          </a:p>
        </p:txBody>
      </p:sp>
      <p:sp>
        <p:nvSpPr>
          <p:cNvPr id="23" name="">
            <a:extLst xmlns:a="http://schemas.openxmlformats.org/drawingml/2006/main">
              <a:ext uri="{FF2B5EF4-FFF2-40B4-BE49-F238E27FC236}">
                <a16:creationId xmlns:a16="http://schemas.microsoft.com/office/drawing/2014/main" id="{FB09C4DD-1689-40D6-9100-1455984DBA03}"/>
              </a:ext>
            </a:extLst>
          </p:cNvPr>
          <p:cNvSpPr>
            <a:spLocks xmlns:a="http://schemas.openxmlformats.org/drawingml/2006/main" noGrp="1"/>
          </p:cNvSpPr>
          <p:nvPr/>
        </p:nvSpPr>
        <p:spPr>
          <a:xfrm xmlns:a="http://schemas.openxmlformats.org/drawingml/2006/main">
            <a:off x="11287125" y="6591300"/>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61788A"/>
                </a:solidFill>
                <a:latin typeface="Arial"/>
                <a:ea typeface="Arial"/>
                <a:cs typeface="Arial"/>
              </a:defRPr>
            </a:pPr>
            <a:r>
              <a:rPr sz="750" b="1">
                <a:solidFill>
                  <a:srgbClr val="61788A"/>
                </a:solidFill>
                <a:latin typeface="Arial"/>
                <a:ea typeface="Arial"/>
                <a:cs typeface="Arial"/>
              </a:rPr>
              <a:t>03</a:t>
            </a:r>
          </a:p>
        </p:txBody>
      </p:sp>
    </p:spTree>
    <p:extLst>
      <p:ext uri="{BB962C8B-B14F-4D97-AF65-F5344CB8AC3E}">
        <p14:creationId xmlns:p14="http://schemas.microsoft.com/office/powerpoint/2010/main" val="196308133"/>
      </p:ext>
    </p:extLst>
  </p:cSld>
</p:sld>
</file>

<file path=ppt/slides/slide4.xml><?xml version="1.0" encoding="utf-8"?>
<p:sld xmlns:p="http://schemas.openxmlformats.org/presentationml/2006/main">
  <p:cSld>
    <p:bg>
      <p:bgPr>
        <a:solidFill xmlns:a="http://schemas.openxmlformats.org/drawingml/2006/main">
          <a:srgbClr val="F1F6F9"/>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45394CD-C0A4-4D9A-B275-9E125976B71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5EB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6B08DFF-630F-4687-B5BA-E4A2F4F965C6}"/>
              </a:ext>
            </a:extLst>
          </p:cNvPr>
          <p:cNvSpPr>
            <a:spLocks xmlns:a="http://schemas.openxmlformats.org/drawingml/2006/main" noGrp="1"/>
          </p:cNvSpPr>
          <p:nvPr/>
        </p:nvSpPr>
        <p:spPr>
          <a:xfrm xmlns:a="http://schemas.openxmlformats.org/drawingml/2006/main">
            <a:off x="514350" y="3714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005EB8"/>
                </a:solidFill>
                <a:latin typeface="Arial"/>
                <a:ea typeface="Arial"/>
                <a:cs typeface="Arial"/>
              </a:defRPr>
            </a:pPr>
            <a:r>
              <a:rPr sz="1125" b="1">
                <a:solidFill>
                  <a:srgbClr val="005EB8"/>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4C533913-6234-4742-9856-14E804424E69}"/>
              </a:ext>
            </a:extLst>
          </p:cNvPr>
          <p:cNvSpPr>
            <a:spLocks xmlns:a="http://schemas.openxmlformats.org/drawingml/2006/main" noGrp="1"/>
          </p:cNvSpPr>
          <p:nvPr/>
        </p:nvSpPr>
        <p:spPr>
          <a:xfrm xmlns:a="http://schemas.openxmlformats.org/drawingml/2006/main">
            <a:off x="1047750" y="28575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12304A"/>
                </a:solidFill>
                <a:latin typeface="Arial"/>
                <a:ea typeface="Arial"/>
                <a:cs typeface="Arial"/>
              </a:defRPr>
            </a:pPr>
            <a:r>
              <a:rPr sz="2550" b="1">
                <a:solidFill>
                  <a:srgbClr val="12304A"/>
                </a:solidFill>
                <a:latin typeface="Arial"/>
                <a:ea typeface="Arial"/>
                <a:cs typeface="Arial"/>
              </a:rPr>
              <a:t>We are not starting from scratch</a:t>
            </a:r>
          </a:p>
        </p:txBody>
      </p:sp>
      <p:sp>
        <p:nvSpPr>
          <p:cNvPr id="4" name="">
            <a:extLst xmlns:a="http://schemas.openxmlformats.org/drawingml/2006/main">
              <a:ext uri="{FF2B5EF4-FFF2-40B4-BE49-F238E27FC236}">
                <a16:creationId xmlns:a16="http://schemas.microsoft.com/office/drawing/2014/main" id="{4FAF9E63-95BA-480B-B4C4-AB9346030103}"/>
              </a:ext>
            </a:extLst>
          </p:cNvPr>
          <p:cNvSpPr>
            <a:spLocks xmlns:a="http://schemas.openxmlformats.org/drawingml/2006/main" noGrp="1"/>
          </p:cNvSpPr>
          <p:nvPr/>
        </p:nvSpPr>
        <p:spPr>
          <a:xfrm xmlns:a="http://schemas.openxmlformats.org/drawingml/2006/main">
            <a:off x="1066800" y="80010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1788A"/>
                </a:solidFill>
                <a:latin typeface="Arial"/>
                <a:ea typeface="Arial"/>
                <a:cs typeface="Arial"/>
              </a:defRPr>
            </a:pPr>
            <a:r>
              <a:rPr sz="1275" b="0">
                <a:solidFill>
                  <a:srgbClr val="61788A"/>
                </a:solidFill>
                <a:latin typeface="Arial"/>
                <a:ea typeface="Arial"/>
                <a:cs typeface="Arial"/>
              </a:rPr>
              <a:t>HomeFlow is designed around existing Trust capability</a:t>
            </a:r>
          </a:p>
        </p:txBody>
      </p:sp>
      <p:sp>
        <p:nvSpPr>
          <p:cNvPr id="5" name="">
            <a:extLst xmlns:a="http://schemas.openxmlformats.org/drawingml/2006/main">
              <a:ext uri="{FF2B5EF4-FFF2-40B4-BE49-F238E27FC236}">
                <a16:creationId xmlns:a16="http://schemas.microsoft.com/office/drawing/2014/main" id="{437E226F-93A9-48F9-BD08-7F8CB08DD3FD}"/>
              </a:ext>
            </a:extLst>
          </p:cNvPr>
          <p:cNvSpPr>
            <a:spLocks xmlns:a="http://schemas.openxmlformats.org/drawingml/2006/main" noGrp="1"/>
          </p:cNvSpPr>
          <p:nvPr/>
        </p:nvSpPr>
        <p:spPr>
          <a:xfrm xmlns:a="http://schemas.openxmlformats.org/drawingml/2006/main">
            <a:off x="514350" y="1133475"/>
            <a:ext cx="11163300" cy="0"/>
          </a:xfrm>
          <a:prstGeom xmlns:a="http://schemas.openxmlformats.org/drawingml/2006/main" prst="line">
            <a:avLst/>
          </a:prstGeom>
          <a:noFill xmlns:a="http://schemas.openxmlformats.org/drawingml/2006/main"/>
          <a:ln xmlns:a="http://schemas.openxmlformats.org/drawingml/2006/main" w="9525">
            <a:solidFill>
              <a:srgbClr val="D4E0E7"/>
            </a:solidFill>
          </a:ln>
        </p:spPr>
      </p:sp>
      <p:sp>
        <p:nvSpPr>
          <p:cNvPr id="6" name="">
            <a:extLst xmlns:a="http://schemas.openxmlformats.org/drawingml/2006/main">
              <a:ext uri="{FF2B5EF4-FFF2-40B4-BE49-F238E27FC236}">
                <a16:creationId xmlns:a16="http://schemas.microsoft.com/office/drawing/2014/main" id="{0A19E8A5-77DD-4A95-A0E5-F447D9D32639}"/>
              </a:ext>
            </a:extLst>
          </p:cNvPr>
          <p:cNvSpPr>
            <a:spLocks xmlns:a="http://schemas.openxmlformats.org/drawingml/2006/main" noGrp="1"/>
          </p:cNvSpPr>
          <p:nvPr/>
        </p:nvSpPr>
        <p:spPr>
          <a:xfrm xmlns:a="http://schemas.openxmlformats.org/drawingml/2006/main">
            <a:off x="9477375" y="400050"/>
            <a:ext cx="2190750" cy="285750"/>
          </a:xfrm>
          <a:prstGeom xmlns:a="http://schemas.openxmlformats.org/drawingml/2006/main" prst="roundRect">
            <a:avLst>
              <a:gd name="adj" fmla="val 40000"/>
            </a:avLst>
          </a:prstGeom>
          <a:solidFill xmlns:a="http://schemas.openxmlformats.org/drawingml/2006/main">
            <a:srgbClr val="FFF4CE"/>
          </a:solidFill>
          <a:ln xmlns:a="http://schemas.openxmlformats.org/drawingml/2006/main" w="9525">
            <a:solidFill>
              <a:srgbClr val="E7CA73"/>
            </a:solidFill>
          </a:ln>
        </p:spPr>
        <p:txBody>
          <a:bodyPr xmlns:a="http://schemas.openxmlformats.org/drawingml/2006/main" lIns="76200" tIns="19050" rIns="76200" bIns="19050" anchor="ctr">
            <a:normAutofit fontScale="91137"/>
          </a:bodyPr>
          <a:lstStyle xmlns:a="http://schemas.openxmlformats.org/drawingml/2006/main"/>
          <a:p xmlns:a="http://schemas.openxmlformats.org/drawingml/2006/main">
            <a:pPr algn="ctr">
              <a:defRPr sz="788" b="1">
                <a:solidFill>
                  <a:srgbClr val="665000"/>
                </a:solidFill>
                <a:latin typeface="Arial"/>
                <a:ea typeface="Arial"/>
                <a:cs typeface="Arial"/>
              </a:defRPr>
            </a:pPr>
            <a:r>
              <a:rPr sz="788" b="1">
                <a:solidFill>
                  <a:srgbClr val="665000"/>
                </a:solidFill>
                <a:latin typeface="Arial"/>
                <a:ea typeface="Arial"/>
                <a:cs typeface="Arial"/>
              </a:rPr>
              <a:t>PROTOTYPE / DEMONSTRATION DATA ONLY</a:t>
            </a:r>
          </a:p>
        </p:txBody>
      </p:sp>
      <p:sp>
        <p:nvSpPr>
          <p:cNvPr id="7" name="">
            <a:extLst xmlns:a="http://schemas.openxmlformats.org/drawingml/2006/main">
              <a:ext uri="{FF2B5EF4-FFF2-40B4-BE49-F238E27FC236}">
                <a16:creationId xmlns:a16="http://schemas.microsoft.com/office/drawing/2014/main" id="{9D3659E8-7839-4C9A-AC4B-6FFA4179C26A}"/>
              </a:ext>
            </a:extLst>
          </p:cNvPr>
          <p:cNvSpPr>
            <a:spLocks xmlns:a="http://schemas.openxmlformats.org/drawingml/2006/main" noGrp="1"/>
          </p:cNvSpPr>
          <p:nvPr/>
        </p:nvSpPr>
        <p:spPr>
          <a:xfrm xmlns:a="http://schemas.openxmlformats.org/drawingml/2006/main">
            <a:off x="438150" y="1314450"/>
            <a:ext cx="11315700" cy="4610100"/>
          </a:xfrm>
          <a:prstGeom xmlns:a="http://schemas.openxmlformats.org/drawingml/2006/main" prst="roundRect">
            <a:avLst>
              <a:gd name="adj" fmla="val 3719"/>
            </a:avLst>
          </a:prstGeom>
          <a:solidFill xmlns:a="http://schemas.openxmlformats.org/drawingml/2006/main">
            <a:srgbClr val="FFFFFF"/>
          </a:solidFill>
          <a:ln xmlns:a="http://schemas.openxmlformats.org/drawingml/2006/main" w="9525">
            <a:solidFill>
              <a:srgbClr val="D4E0E7"/>
            </a:solidFill>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238c567eb76645c5"/>
          <a:srcRect xmlns:a="http://schemas.openxmlformats.org/drawingml/2006/main" l="0" t="23863" r="0" b="23863"/>
          <a:stretch xmlns:a="http://schemas.openxmlformats.org/drawingml/2006/main">
            <a:fillRect l="0" t="0" r="0" b="0"/>
          </a:stretch>
        </p:blipFill>
        <p:spPr>
          <a:xfrm xmlns:a="http://schemas.openxmlformats.org/drawingml/2006/main">
            <a:off x="514350" y="1390650"/>
            <a:ext cx="11163300" cy="4457700"/>
          </a:xfrm>
          <a:prstGeom xmlns:a="http://schemas.openxmlformats.org/drawingml/2006/main" prst="roundRect">
            <a:avLst>
              <a:gd name="adj" fmla="val 2564"/>
            </a:avLst>
          </a:prstGeom>
        </p:spPr>
      </p:pic>
      <p:sp>
        <p:nvSpPr>
          <p:cNvPr id="9" name="">
            <a:extLst xmlns:a="http://schemas.openxmlformats.org/drawingml/2006/main">
              <a:ext uri="{FF2B5EF4-FFF2-40B4-BE49-F238E27FC236}">
                <a16:creationId xmlns:a16="http://schemas.microsoft.com/office/drawing/2014/main" id="{C64D7F56-ECCA-4FA7-A2DD-659DCCFD9D97}"/>
              </a:ext>
            </a:extLst>
          </p:cNvPr>
          <p:cNvSpPr>
            <a:spLocks xmlns:a="http://schemas.openxmlformats.org/drawingml/2006/main" noGrp="1"/>
          </p:cNvSpPr>
          <p:nvPr/>
        </p:nvSpPr>
        <p:spPr>
          <a:xfrm xmlns:a="http://schemas.openxmlformats.org/drawingml/2006/main">
            <a:off x="704850" y="5981700"/>
            <a:ext cx="1562100" cy="266700"/>
          </a:xfrm>
          <a:prstGeom xmlns:a="http://schemas.openxmlformats.org/drawingml/2006/main" prst="roundRect">
            <a:avLst>
              <a:gd name="adj" fmla="val 28571"/>
            </a:avLst>
          </a:prstGeom>
          <a:solidFill xmlns:a="http://schemas.openxmlformats.org/drawingml/2006/main">
            <a:srgbClr val="EAF4FB"/>
          </a:solidFill>
          <a:ln xmlns:a="http://schemas.openxmlformats.org/drawingml/2006/main" w="9525">
            <a:solidFill>
              <a:srgbClr val="8DBCDC"/>
            </a:solidFill>
          </a:ln>
        </p:spPr>
        <p:txBody>
          <a:bodyPr xmlns:a="http://schemas.openxmlformats.org/drawingml/2006/main" lIns="57150" tIns="19050" rIns="57150" bIns="19050" anchor="ctr">
            <a:normAutofit fontScale="100000"/>
          </a:bodyPr>
          <a:lstStyle xmlns:a="http://schemas.openxmlformats.org/drawingml/2006/main"/>
          <a:p xmlns:a="http://schemas.openxmlformats.org/drawingml/2006/main">
            <a:pPr algn="ctr">
              <a:defRPr sz="788" b="1">
                <a:solidFill>
                  <a:srgbClr val="005EB8"/>
                </a:solidFill>
                <a:latin typeface="Arial"/>
                <a:ea typeface="Arial"/>
                <a:cs typeface="Arial"/>
              </a:defRPr>
            </a:pPr>
            <a:r>
              <a:rPr sz="788" b="1">
                <a:solidFill>
                  <a:srgbClr val="005EB8"/>
                </a:solidFill>
                <a:latin typeface="Arial"/>
                <a:ea typeface="Arial"/>
                <a:cs typeface="Arial"/>
              </a:rPr>
              <a:t>EXISTING CAPABILITY</a:t>
            </a:r>
          </a:p>
        </p:txBody>
      </p:sp>
      <p:sp>
        <p:nvSpPr>
          <p:cNvPr id="10" name="">
            <a:extLst xmlns:a="http://schemas.openxmlformats.org/drawingml/2006/main">
              <a:ext uri="{FF2B5EF4-FFF2-40B4-BE49-F238E27FC236}">
                <a16:creationId xmlns:a16="http://schemas.microsoft.com/office/drawing/2014/main" id="{62CF85C0-0433-4C7C-A2C0-8F49C5449E13}"/>
              </a:ext>
            </a:extLst>
          </p:cNvPr>
          <p:cNvSpPr>
            <a:spLocks xmlns:a="http://schemas.openxmlformats.org/drawingml/2006/main" noGrp="1"/>
          </p:cNvSpPr>
          <p:nvPr/>
        </p:nvSpPr>
        <p:spPr>
          <a:xfrm xmlns:a="http://schemas.openxmlformats.org/drawingml/2006/main">
            <a:off x="2400300" y="5981700"/>
            <a:ext cx="1657350" cy="266700"/>
          </a:xfrm>
          <a:prstGeom xmlns:a="http://schemas.openxmlformats.org/drawingml/2006/main" prst="roundRect">
            <a:avLst>
              <a:gd name="adj" fmla="val 28571"/>
            </a:avLst>
          </a:prstGeom>
          <a:solidFill xmlns:a="http://schemas.openxmlformats.org/drawingml/2006/main">
            <a:srgbClr val="F2ECF8"/>
          </a:solidFill>
          <a:ln xmlns:a="http://schemas.openxmlformats.org/drawingml/2006/main" w="9525">
            <a:solidFill>
              <a:srgbClr val="B59BD1"/>
            </a:solidFill>
          </a:ln>
        </p:spPr>
        <p:txBody>
          <a:bodyPr xmlns:a="http://schemas.openxmlformats.org/drawingml/2006/main" lIns="57150" tIns="19050" rIns="57150" bIns="19050" anchor="ctr">
            <a:normAutofit fontScale="100000"/>
          </a:bodyPr>
          <a:lstStyle xmlns:a="http://schemas.openxmlformats.org/drawingml/2006/main"/>
          <a:p xmlns:a="http://schemas.openxmlformats.org/drawingml/2006/main">
            <a:pPr algn="ctr">
              <a:defRPr sz="788" b="1">
                <a:solidFill>
                  <a:srgbClr val="7656A2"/>
                </a:solidFill>
                <a:latin typeface="Arial"/>
                <a:ea typeface="Arial"/>
                <a:cs typeface="Arial"/>
              </a:defRPr>
            </a:pPr>
            <a:r>
              <a:rPr sz="788" b="1">
                <a:solidFill>
                  <a:srgbClr val="7656A2"/>
                </a:solidFill>
                <a:latin typeface="Arial"/>
                <a:ea typeface="Arial"/>
                <a:cs typeface="Arial"/>
              </a:rPr>
              <a:t>PROPOSED INTEGRATION</a:t>
            </a:r>
          </a:p>
        </p:txBody>
      </p:sp>
      <p:sp>
        <p:nvSpPr>
          <p:cNvPr id="11" name="">
            <a:extLst xmlns:a="http://schemas.openxmlformats.org/drawingml/2006/main">
              <a:ext uri="{FF2B5EF4-FFF2-40B4-BE49-F238E27FC236}">
                <a16:creationId xmlns:a16="http://schemas.microsoft.com/office/drawing/2014/main" id="{78479A43-2A41-4DDC-BCA3-909DA9622742}"/>
              </a:ext>
            </a:extLst>
          </p:cNvPr>
          <p:cNvSpPr>
            <a:spLocks xmlns:a="http://schemas.openxmlformats.org/drawingml/2006/main" noGrp="1"/>
          </p:cNvSpPr>
          <p:nvPr/>
        </p:nvSpPr>
        <p:spPr>
          <a:xfrm xmlns:a="http://schemas.openxmlformats.org/drawingml/2006/main">
            <a:off x="4191000" y="5981700"/>
            <a:ext cx="1581150" cy="266700"/>
          </a:xfrm>
          <a:prstGeom xmlns:a="http://schemas.openxmlformats.org/drawingml/2006/main" prst="roundRect">
            <a:avLst>
              <a:gd name="adj" fmla="val 28571"/>
            </a:avLst>
          </a:prstGeom>
          <a:solidFill xmlns:a="http://schemas.openxmlformats.org/drawingml/2006/main">
            <a:srgbClr val="E7F5EF"/>
          </a:solidFill>
          <a:ln xmlns:a="http://schemas.openxmlformats.org/drawingml/2006/main" w="9525">
            <a:solidFill>
              <a:srgbClr val="8BC9B2"/>
            </a:solidFill>
          </a:ln>
        </p:spPr>
        <p:txBody>
          <a:bodyPr xmlns:a="http://schemas.openxmlformats.org/drawingml/2006/main" lIns="57150" tIns="19050" rIns="57150" bIns="19050" anchor="ctr">
            <a:normAutofit fontScale="100000"/>
          </a:bodyPr>
          <a:lstStyle xmlns:a="http://schemas.openxmlformats.org/drawingml/2006/main"/>
          <a:p xmlns:a="http://schemas.openxmlformats.org/drawingml/2006/main">
            <a:pPr algn="ctr">
              <a:defRPr sz="788" b="1">
                <a:solidFill>
                  <a:srgbClr val="14845F"/>
                </a:solidFill>
                <a:latin typeface="Arial"/>
                <a:ea typeface="Arial"/>
                <a:cs typeface="Arial"/>
              </a:defRPr>
            </a:pPr>
            <a:r>
              <a:rPr sz="788" b="1">
                <a:solidFill>
                  <a:srgbClr val="14845F"/>
                </a:solidFill>
                <a:latin typeface="Arial"/>
                <a:ea typeface="Arial"/>
                <a:cs typeface="Arial"/>
              </a:rPr>
              <a:t>HOMEFLOW ADDITION</a:t>
            </a:r>
          </a:p>
        </p:txBody>
      </p:sp>
      <p:sp>
        <p:nvSpPr>
          <p:cNvPr id="12" name="">
            <a:extLst xmlns:a="http://schemas.openxmlformats.org/drawingml/2006/main">
              <a:ext uri="{FF2B5EF4-FFF2-40B4-BE49-F238E27FC236}">
                <a16:creationId xmlns:a16="http://schemas.microsoft.com/office/drawing/2014/main" id="{EDB9F3B2-C905-4306-8D55-1793C4A30773}"/>
              </a:ext>
            </a:extLst>
          </p:cNvPr>
          <p:cNvSpPr>
            <a:spLocks xmlns:a="http://schemas.openxmlformats.org/drawingml/2006/main" noGrp="1"/>
          </p:cNvSpPr>
          <p:nvPr/>
        </p:nvSpPr>
        <p:spPr>
          <a:xfrm xmlns:a="http://schemas.openxmlformats.org/drawingml/2006/main">
            <a:off x="5905500" y="5981700"/>
            <a:ext cx="1771650" cy="266700"/>
          </a:xfrm>
          <a:prstGeom xmlns:a="http://schemas.openxmlformats.org/drawingml/2006/main" prst="roundRect">
            <a:avLst>
              <a:gd name="adj" fmla="val 28571"/>
            </a:avLst>
          </a:prstGeom>
          <a:solidFill xmlns:a="http://schemas.openxmlformats.org/drawingml/2006/main">
            <a:srgbClr val="EEF1F3"/>
          </a:solidFill>
          <a:ln xmlns:a="http://schemas.openxmlformats.org/drawingml/2006/main" w="9525">
            <a:solidFill>
              <a:srgbClr val="B8C1C7"/>
            </a:solidFill>
          </a:ln>
        </p:spPr>
        <p:txBody>
          <a:bodyPr xmlns:a="http://schemas.openxmlformats.org/drawingml/2006/main" lIns="57150" tIns="19050" rIns="57150" bIns="19050" anchor="ctr">
            <a:normAutofit fontScale="100000"/>
          </a:bodyPr>
          <a:lstStyle xmlns:a="http://schemas.openxmlformats.org/drawingml/2006/main"/>
          <a:p xmlns:a="http://schemas.openxmlformats.org/drawingml/2006/main">
            <a:pPr algn="ctr">
              <a:defRPr sz="788" b="1">
                <a:solidFill>
                  <a:srgbClr val="6F7E88"/>
                </a:solidFill>
                <a:latin typeface="Arial"/>
                <a:ea typeface="Arial"/>
                <a:cs typeface="Arial"/>
              </a:defRPr>
            </a:pPr>
            <a:r>
              <a:rPr sz="788" b="1">
                <a:solidFill>
                  <a:srgbClr val="6F7E88"/>
                </a:solidFill>
                <a:latin typeface="Arial"/>
                <a:ea typeface="Arial"/>
                <a:cs typeface="Arial"/>
              </a:rPr>
              <a:t>REQUIRES CONFIRMATION</a:t>
            </a:r>
          </a:p>
        </p:txBody>
      </p:sp>
      <p:sp>
        <p:nvSpPr>
          <p:cNvPr id="13" name="">
            <a:extLst xmlns:a="http://schemas.openxmlformats.org/drawingml/2006/main">
              <a:ext uri="{FF2B5EF4-FFF2-40B4-BE49-F238E27FC236}">
                <a16:creationId xmlns:a16="http://schemas.microsoft.com/office/drawing/2014/main" id="{A406AE0B-CF86-494A-8213-131D05F0A316}"/>
              </a:ext>
            </a:extLst>
          </p:cNvPr>
          <p:cNvSpPr>
            <a:spLocks xmlns:a="http://schemas.openxmlformats.org/drawingml/2006/main" noGrp="1"/>
          </p:cNvSpPr>
          <p:nvPr/>
        </p:nvSpPr>
        <p:spPr>
          <a:xfrm xmlns:a="http://schemas.openxmlformats.org/drawingml/2006/main">
            <a:off x="7934325" y="598170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947"/>
          </a:bodyPr>
          <a:lstStyle xmlns:a="http://schemas.openxmlformats.org/drawingml/2006/main"/>
          <a:p xmlns:a="http://schemas.openxmlformats.org/drawingml/2006/main">
            <a:pPr algn="r">
              <a:defRPr sz="938" b="0">
                <a:solidFill>
                  <a:srgbClr val="61788A"/>
                </a:solidFill>
                <a:latin typeface="Arial"/>
                <a:ea typeface="Arial"/>
                <a:cs typeface="Arial"/>
              </a:defRPr>
            </a:pPr>
            <a:r>
              <a:rPr sz="938" b="0">
                <a:solidFill>
                  <a:srgbClr val="61788A"/>
                </a:solidFill>
                <a:latin typeface="Arial"/>
                <a:ea typeface="Arial"/>
                <a:cs typeface="Arial"/>
              </a:rPr>
              <a:t>Health Call and Digital Services: potential development support subject to Trust review</a:t>
            </a:r>
          </a:p>
        </p:txBody>
      </p:sp>
      <p:sp>
        <p:nvSpPr>
          <p:cNvPr id="14" name="">
            <a:extLst xmlns:a="http://schemas.openxmlformats.org/drawingml/2006/main">
              <a:ext uri="{FF2B5EF4-FFF2-40B4-BE49-F238E27FC236}">
                <a16:creationId xmlns:a16="http://schemas.microsoft.com/office/drawing/2014/main" id="{22FE5122-E63D-4393-B587-57F260CB3623}"/>
              </a:ext>
            </a:extLst>
          </p:cNvPr>
          <p:cNvSpPr>
            <a:spLocks xmlns:a="http://schemas.openxmlformats.org/drawingml/2006/main" noGrp="1"/>
          </p:cNvSpPr>
          <p:nvPr/>
        </p:nvSpPr>
        <p:spPr>
          <a:xfrm xmlns:a="http://schemas.openxmlformats.org/drawingml/2006/main">
            <a:off x="514350" y="6515100"/>
            <a:ext cx="11163300" cy="0"/>
          </a:xfrm>
          <a:prstGeom xmlns:a="http://schemas.openxmlformats.org/drawingml/2006/main" prst="line">
            <a:avLst/>
          </a:prstGeom>
          <a:noFill xmlns:a="http://schemas.openxmlformats.org/drawingml/2006/main"/>
          <a:ln xmlns:a="http://schemas.openxmlformats.org/drawingml/2006/main" w="9525">
            <a:solidFill>
              <a:srgbClr val="D4E0E7"/>
            </a:solidFill>
          </a:ln>
        </p:spPr>
      </p:sp>
      <p:sp>
        <p:nvSpPr>
          <p:cNvPr id="15" name="">
            <a:extLst xmlns:a="http://schemas.openxmlformats.org/drawingml/2006/main">
              <a:ext uri="{FF2B5EF4-FFF2-40B4-BE49-F238E27FC236}">
                <a16:creationId xmlns:a16="http://schemas.microsoft.com/office/drawing/2014/main" id="{235EF6B0-C056-4FEE-814B-86F9139BFAF8}"/>
              </a:ext>
            </a:extLst>
          </p:cNvPr>
          <p:cNvSpPr>
            <a:spLocks xmlns:a="http://schemas.openxmlformats.org/drawingml/2006/main" noGrp="1"/>
          </p:cNvSpPr>
          <p:nvPr/>
        </p:nvSpPr>
        <p:spPr>
          <a:xfrm xmlns:a="http://schemas.openxmlformats.org/drawingml/2006/main">
            <a:off x="514350" y="659130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5EB8"/>
                </a:solidFill>
                <a:latin typeface="Arial"/>
                <a:ea typeface="Arial"/>
                <a:cs typeface="Arial"/>
              </a:defRPr>
            </a:pPr>
            <a:r>
              <a:rPr sz="825" b="1">
                <a:solidFill>
                  <a:srgbClr val="005EB8"/>
                </a:solidFill>
                <a:latin typeface="Arial"/>
                <a:ea typeface="Arial"/>
                <a:cs typeface="Arial"/>
              </a:rPr>
              <a:t>HomeFlow</a:t>
            </a:r>
          </a:p>
        </p:txBody>
      </p:sp>
      <p:sp>
        <p:nvSpPr>
          <p:cNvPr id="16" name="">
            <a:extLst xmlns:a="http://schemas.openxmlformats.org/drawingml/2006/main">
              <a:ext uri="{FF2B5EF4-FFF2-40B4-BE49-F238E27FC236}">
                <a16:creationId xmlns:a16="http://schemas.microsoft.com/office/drawing/2014/main" id="{CE7D9453-4471-452F-BB62-A2DB15990270}"/>
              </a:ext>
            </a:extLst>
          </p:cNvPr>
          <p:cNvSpPr>
            <a:spLocks xmlns:a="http://schemas.openxmlformats.org/drawingml/2006/main" noGrp="1"/>
          </p:cNvSpPr>
          <p:nvPr/>
        </p:nvSpPr>
        <p:spPr>
          <a:xfrm xmlns:a="http://schemas.openxmlformats.org/drawingml/2006/main">
            <a:off x="1657350" y="65913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1788A"/>
                </a:solidFill>
                <a:latin typeface="Arial"/>
                <a:ea typeface="Arial"/>
                <a:cs typeface="Arial"/>
              </a:defRPr>
            </a:pPr>
            <a:r>
              <a:rPr sz="750" b="0">
                <a:solidFill>
                  <a:srgbClr val="61788A"/>
                </a:solidFill>
                <a:latin typeface="Arial"/>
                <a:ea typeface="Arial"/>
                <a:cs typeface="Arial"/>
              </a:rPr>
              <a:t>Independent innovation concept</a:t>
            </a:r>
          </a:p>
        </p:txBody>
      </p:sp>
      <p:sp>
        <p:nvSpPr>
          <p:cNvPr id="17" name="">
            <a:extLst xmlns:a="http://schemas.openxmlformats.org/drawingml/2006/main">
              <a:ext uri="{FF2B5EF4-FFF2-40B4-BE49-F238E27FC236}">
                <a16:creationId xmlns:a16="http://schemas.microsoft.com/office/drawing/2014/main" id="{0A8E4C94-8DE0-4334-9D2B-ED5F75585697}"/>
              </a:ext>
            </a:extLst>
          </p:cNvPr>
          <p:cNvSpPr>
            <a:spLocks xmlns:a="http://schemas.openxmlformats.org/drawingml/2006/main" noGrp="1"/>
          </p:cNvSpPr>
          <p:nvPr/>
        </p:nvSpPr>
        <p:spPr>
          <a:xfrm xmlns:a="http://schemas.openxmlformats.org/drawingml/2006/main">
            <a:off x="11287125" y="6591300"/>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61788A"/>
                </a:solidFill>
                <a:latin typeface="Arial"/>
                <a:ea typeface="Arial"/>
                <a:cs typeface="Arial"/>
              </a:defRPr>
            </a:pPr>
            <a:r>
              <a:rPr sz="750" b="1">
                <a:solidFill>
                  <a:srgbClr val="61788A"/>
                </a:solidFill>
                <a:latin typeface="Arial"/>
                <a:ea typeface="Arial"/>
                <a:cs typeface="Arial"/>
              </a:rPr>
              <a:t>04</a:t>
            </a:r>
          </a:p>
        </p:txBody>
      </p:sp>
    </p:spTree>
    <p:extLst>
      <p:ext uri="{BB962C8B-B14F-4D97-AF65-F5344CB8AC3E}">
        <p14:creationId xmlns:p14="http://schemas.microsoft.com/office/powerpoint/2010/main" val="13844726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96300F4-A809-46B1-A172-AE2A10AD855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5EB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BD4D4D-0626-4ED5-BCEB-50D9F3D68007}"/>
              </a:ext>
            </a:extLst>
          </p:cNvPr>
          <p:cNvSpPr>
            <a:spLocks xmlns:a="http://schemas.openxmlformats.org/drawingml/2006/main" noGrp="1"/>
          </p:cNvSpPr>
          <p:nvPr/>
        </p:nvSpPr>
        <p:spPr>
          <a:xfrm xmlns:a="http://schemas.openxmlformats.org/drawingml/2006/main">
            <a:off x="514350" y="3714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005EB8"/>
                </a:solidFill>
                <a:latin typeface="Arial"/>
                <a:ea typeface="Arial"/>
                <a:cs typeface="Arial"/>
              </a:defRPr>
            </a:pPr>
            <a:r>
              <a:rPr sz="1125" b="1">
                <a:solidFill>
                  <a:srgbClr val="005EB8"/>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7C598A5D-8EE2-4546-818B-9F6680F05E44}"/>
              </a:ext>
            </a:extLst>
          </p:cNvPr>
          <p:cNvSpPr>
            <a:spLocks xmlns:a="http://schemas.openxmlformats.org/drawingml/2006/main" noGrp="1"/>
          </p:cNvSpPr>
          <p:nvPr/>
        </p:nvSpPr>
        <p:spPr>
          <a:xfrm xmlns:a="http://schemas.openxmlformats.org/drawingml/2006/main">
            <a:off x="1047750" y="28575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12304A"/>
                </a:solidFill>
                <a:latin typeface="Arial"/>
                <a:ea typeface="Arial"/>
                <a:cs typeface="Arial"/>
              </a:defRPr>
            </a:pPr>
            <a:r>
              <a:rPr sz="2550" b="1">
                <a:solidFill>
                  <a:srgbClr val="12304A"/>
                </a:solidFill>
                <a:latin typeface="Arial"/>
                <a:ea typeface="Arial"/>
                <a:cs typeface="Arial"/>
              </a:rPr>
              <a:t>Family readiness alerts</a:t>
            </a:r>
          </a:p>
        </p:txBody>
      </p:sp>
      <p:sp>
        <p:nvSpPr>
          <p:cNvPr id="4" name="">
            <a:extLst xmlns:a="http://schemas.openxmlformats.org/drawingml/2006/main">
              <a:ext uri="{FF2B5EF4-FFF2-40B4-BE49-F238E27FC236}">
                <a16:creationId xmlns:a16="http://schemas.microsoft.com/office/drawing/2014/main" id="{64C06BAB-16B6-417A-B033-B6072727F1C0}"/>
              </a:ext>
            </a:extLst>
          </p:cNvPr>
          <p:cNvSpPr>
            <a:spLocks xmlns:a="http://schemas.openxmlformats.org/drawingml/2006/main" noGrp="1"/>
          </p:cNvSpPr>
          <p:nvPr/>
        </p:nvSpPr>
        <p:spPr>
          <a:xfrm xmlns:a="http://schemas.openxmlformats.org/drawingml/2006/main">
            <a:off x="1066800" y="80010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1788A"/>
                </a:solidFill>
                <a:latin typeface="Arial"/>
                <a:ea typeface="Arial"/>
                <a:cs typeface="Arial"/>
              </a:defRPr>
            </a:pPr>
            <a:r>
              <a:rPr sz="1275" b="0">
                <a:solidFill>
                  <a:srgbClr val="61788A"/>
                </a:solidFill>
                <a:latin typeface="Arial"/>
                <a:ea typeface="Arial"/>
                <a:cs typeface="Arial"/>
              </a:rPr>
              <a:t>Earlier notice gives families more time to prepare</a:t>
            </a:r>
          </a:p>
        </p:txBody>
      </p:sp>
      <p:sp>
        <p:nvSpPr>
          <p:cNvPr id="5" name="">
            <a:extLst xmlns:a="http://schemas.openxmlformats.org/drawingml/2006/main">
              <a:ext uri="{FF2B5EF4-FFF2-40B4-BE49-F238E27FC236}">
                <a16:creationId xmlns:a16="http://schemas.microsoft.com/office/drawing/2014/main" id="{F3BBCFD8-99EB-4906-8061-131F9FE41CB3}"/>
              </a:ext>
            </a:extLst>
          </p:cNvPr>
          <p:cNvSpPr>
            <a:spLocks xmlns:a="http://schemas.openxmlformats.org/drawingml/2006/main" noGrp="1"/>
          </p:cNvSpPr>
          <p:nvPr/>
        </p:nvSpPr>
        <p:spPr>
          <a:xfrm xmlns:a="http://schemas.openxmlformats.org/drawingml/2006/main">
            <a:off x="514350" y="1133475"/>
            <a:ext cx="11163300" cy="0"/>
          </a:xfrm>
          <a:prstGeom xmlns:a="http://schemas.openxmlformats.org/drawingml/2006/main" prst="line">
            <a:avLst/>
          </a:prstGeom>
          <a:noFill xmlns:a="http://schemas.openxmlformats.org/drawingml/2006/main"/>
          <a:ln xmlns:a="http://schemas.openxmlformats.org/drawingml/2006/main" w="9525">
            <a:solidFill>
              <a:srgbClr val="D4E0E7"/>
            </a:solidFill>
          </a:ln>
        </p:spPr>
      </p:sp>
      <p:sp>
        <p:nvSpPr>
          <p:cNvPr id="6" name="">
            <a:extLst xmlns:a="http://schemas.openxmlformats.org/drawingml/2006/main">
              <a:ext uri="{FF2B5EF4-FFF2-40B4-BE49-F238E27FC236}">
                <a16:creationId xmlns:a16="http://schemas.microsoft.com/office/drawing/2014/main" id="{56DB1734-FD98-482C-8035-D11CDB5E0426}"/>
              </a:ext>
            </a:extLst>
          </p:cNvPr>
          <p:cNvSpPr>
            <a:spLocks xmlns:a="http://schemas.openxmlformats.org/drawingml/2006/main" noGrp="1"/>
          </p:cNvSpPr>
          <p:nvPr/>
        </p:nvSpPr>
        <p:spPr>
          <a:xfrm xmlns:a="http://schemas.openxmlformats.org/drawingml/2006/main">
            <a:off x="9477375" y="400050"/>
            <a:ext cx="2190750" cy="285750"/>
          </a:xfrm>
          <a:prstGeom xmlns:a="http://schemas.openxmlformats.org/drawingml/2006/main" prst="roundRect">
            <a:avLst>
              <a:gd name="adj" fmla="val 40000"/>
            </a:avLst>
          </a:prstGeom>
          <a:solidFill xmlns:a="http://schemas.openxmlformats.org/drawingml/2006/main">
            <a:srgbClr val="FFF4CE"/>
          </a:solidFill>
          <a:ln xmlns:a="http://schemas.openxmlformats.org/drawingml/2006/main" w="9525">
            <a:solidFill>
              <a:srgbClr val="E7CA73"/>
            </a:solidFill>
          </a:ln>
        </p:spPr>
        <p:txBody>
          <a:bodyPr xmlns:a="http://schemas.openxmlformats.org/drawingml/2006/main" lIns="76200" tIns="19050" rIns="76200" bIns="19050" anchor="ctr">
            <a:normAutofit fontScale="91137"/>
          </a:bodyPr>
          <a:lstStyle xmlns:a="http://schemas.openxmlformats.org/drawingml/2006/main"/>
          <a:p xmlns:a="http://schemas.openxmlformats.org/drawingml/2006/main">
            <a:pPr algn="ctr">
              <a:defRPr sz="788" b="1">
                <a:solidFill>
                  <a:srgbClr val="665000"/>
                </a:solidFill>
                <a:latin typeface="Arial"/>
                <a:ea typeface="Arial"/>
                <a:cs typeface="Arial"/>
              </a:defRPr>
            </a:pPr>
            <a:r>
              <a:rPr sz="788" b="1">
                <a:solidFill>
                  <a:srgbClr val="665000"/>
                </a:solidFill>
                <a:latin typeface="Arial"/>
                <a:ea typeface="Arial"/>
                <a:cs typeface="Arial"/>
              </a:rPr>
              <a:t>PROTOTYPE / DEMONSTRATION DATA ONLY</a:t>
            </a:r>
          </a:p>
        </p:txBody>
      </p:sp>
      <p:sp>
        <p:nvSpPr>
          <p:cNvPr id="7" name="">
            <a:extLst xmlns:a="http://schemas.openxmlformats.org/drawingml/2006/main">
              <a:ext uri="{FF2B5EF4-FFF2-40B4-BE49-F238E27FC236}">
                <a16:creationId xmlns:a16="http://schemas.microsoft.com/office/drawing/2014/main" id="{0FBFBF2A-2561-4AB8-8E6A-8066EB67E277}"/>
              </a:ext>
            </a:extLst>
          </p:cNvPr>
          <p:cNvSpPr>
            <a:spLocks xmlns:a="http://schemas.openxmlformats.org/drawingml/2006/main" noGrp="1"/>
          </p:cNvSpPr>
          <p:nvPr/>
        </p:nvSpPr>
        <p:spPr>
          <a:xfrm xmlns:a="http://schemas.openxmlformats.org/drawingml/2006/main">
            <a:off x="438150" y="1333500"/>
            <a:ext cx="7181850" cy="4962525"/>
          </a:xfrm>
          <a:prstGeom xmlns:a="http://schemas.openxmlformats.org/drawingml/2006/main" prst="roundRect">
            <a:avLst>
              <a:gd name="adj" fmla="val 3455"/>
            </a:avLst>
          </a:prstGeom>
          <a:solidFill xmlns:a="http://schemas.openxmlformats.org/drawingml/2006/main">
            <a:srgbClr val="FFFFFF"/>
          </a:solidFill>
          <a:ln xmlns:a="http://schemas.openxmlformats.org/drawingml/2006/main" w="9525">
            <a:solidFill>
              <a:srgbClr val="D4E0E7"/>
            </a:solidFill>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2dbdd53e2f344f87"/>
          <a:srcRect xmlns:a="http://schemas.openxmlformats.org/drawingml/2006/main" l="0" t="5211" r="0" b="5211"/>
          <a:stretch xmlns:a="http://schemas.openxmlformats.org/drawingml/2006/main">
            <a:fillRect l="0" t="0" r="0" b="0"/>
          </a:stretch>
        </p:blipFill>
        <p:spPr>
          <a:xfrm xmlns:a="http://schemas.openxmlformats.org/drawingml/2006/main">
            <a:off x="514350" y="1409700"/>
            <a:ext cx="7029450" cy="4810125"/>
          </a:xfrm>
          <a:prstGeom xmlns:a="http://schemas.openxmlformats.org/drawingml/2006/main" prst="roundRect">
            <a:avLst>
              <a:gd name="adj" fmla="val 2376"/>
            </a:avLst>
          </a:prstGeom>
        </p:spPr>
      </p:pic>
      <p:sp>
        <p:nvSpPr>
          <p:cNvPr id="9" name="">
            <a:extLst xmlns:a="http://schemas.openxmlformats.org/drawingml/2006/main">
              <a:ext uri="{FF2B5EF4-FFF2-40B4-BE49-F238E27FC236}">
                <a16:creationId xmlns:a16="http://schemas.microsoft.com/office/drawing/2014/main" id="{2FBB3CAB-A36E-4C24-8574-AD097FE9A401}"/>
              </a:ext>
            </a:extLst>
          </p:cNvPr>
          <p:cNvSpPr>
            <a:spLocks xmlns:a="http://schemas.openxmlformats.org/drawingml/2006/main" noGrp="1"/>
          </p:cNvSpPr>
          <p:nvPr/>
        </p:nvSpPr>
        <p:spPr>
          <a:xfrm xmlns:a="http://schemas.openxmlformats.org/drawingml/2006/main">
            <a:off x="8096250" y="15621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2304A"/>
                </a:solidFill>
                <a:latin typeface="Arial"/>
                <a:ea typeface="Arial"/>
                <a:cs typeface="Arial"/>
              </a:defRPr>
            </a:pPr>
            <a:r>
              <a:rPr sz="2025" b="1">
                <a:solidFill>
                  <a:srgbClr val="12304A"/>
                </a:solidFill>
                <a:latin typeface="Arial"/>
                <a:ea typeface="Arial"/>
                <a:cs typeface="Arial"/>
              </a:rPr>
              <a:t>A staged conversation</a:t>
            </a:r>
          </a:p>
        </p:txBody>
      </p:sp>
      <p:sp>
        <p:nvSpPr>
          <p:cNvPr id="10" name="">
            <a:extLst xmlns:a="http://schemas.openxmlformats.org/drawingml/2006/main">
              <a:ext uri="{FF2B5EF4-FFF2-40B4-BE49-F238E27FC236}">
                <a16:creationId xmlns:a16="http://schemas.microsoft.com/office/drawing/2014/main" id="{CE80FEA7-68AF-4EEB-8515-3289F8E2BF4F}"/>
              </a:ext>
            </a:extLst>
          </p:cNvPr>
          <p:cNvSpPr>
            <a:spLocks xmlns:a="http://schemas.openxmlformats.org/drawingml/2006/main" noGrp="1"/>
          </p:cNvSpPr>
          <p:nvPr/>
        </p:nvSpPr>
        <p:spPr>
          <a:xfrm xmlns:a="http://schemas.openxmlformats.org/drawingml/2006/main">
            <a:off x="8115300" y="21336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005EB8"/>
                </a:solidFill>
                <a:latin typeface="Arial"/>
                <a:ea typeface="Arial"/>
                <a:cs typeface="Arial"/>
              </a:defRPr>
            </a:pPr>
            <a:r>
              <a:rPr sz="1050" b="1">
                <a:solidFill>
                  <a:srgbClr val="005EB8"/>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D021FF66-1E82-4012-9A5C-59A8A561ACDB}"/>
              </a:ext>
            </a:extLst>
          </p:cNvPr>
          <p:cNvSpPr>
            <a:spLocks xmlns:a="http://schemas.openxmlformats.org/drawingml/2006/main" noGrp="1"/>
          </p:cNvSpPr>
          <p:nvPr/>
        </p:nvSpPr>
        <p:spPr>
          <a:xfrm xmlns:a="http://schemas.openxmlformats.org/drawingml/2006/main">
            <a:off x="8648700" y="21145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63247"/>
                </a:solidFill>
                <a:latin typeface="Arial"/>
                <a:ea typeface="Arial"/>
                <a:cs typeface="Arial"/>
              </a:defRPr>
            </a:pPr>
            <a:r>
              <a:rPr sz="1425" b="1">
                <a:solidFill>
                  <a:srgbClr val="163247"/>
                </a:solidFill>
                <a:latin typeface="Arial"/>
                <a:ea typeface="Arial"/>
                <a:cs typeface="Arial"/>
              </a:rPr>
              <a:t>Likely discharge</a:t>
            </a:r>
          </a:p>
        </p:txBody>
      </p:sp>
      <p:sp>
        <p:nvSpPr>
          <p:cNvPr id="12" name="">
            <a:extLst xmlns:a="http://schemas.openxmlformats.org/drawingml/2006/main">
              <a:ext uri="{FF2B5EF4-FFF2-40B4-BE49-F238E27FC236}">
                <a16:creationId xmlns:a16="http://schemas.microsoft.com/office/drawing/2014/main" id="{D0B2BFCE-0181-4D65-A5A4-BB24E489357E}"/>
              </a:ext>
            </a:extLst>
          </p:cNvPr>
          <p:cNvSpPr>
            <a:spLocks xmlns:a="http://schemas.openxmlformats.org/drawingml/2006/main" noGrp="1"/>
          </p:cNvSpPr>
          <p:nvPr/>
        </p:nvSpPr>
        <p:spPr>
          <a:xfrm xmlns:a="http://schemas.openxmlformats.org/drawingml/2006/main">
            <a:off x="8648700" y="240030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1788A"/>
                </a:solidFill>
                <a:latin typeface="Arial"/>
                <a:ea typeface="Arial"/>
                <a:cs typeface="Arial"/>
              </a:defRPr>
            </a:pPr>
            <a:r>
              <a:rPr sz="1125" b="0">
                <a:solidFill>
                  <a:srgbClr val="61788A"/>
                </a:solidFill>
                <a:latin typeface="Arial"/>
                <a:ea typeface="Arial"/>
                <a:cs typeface="Arial"/>
              </a:rPr>
              <a:t>Begin planning</a:t>
            </a:r>
          </a:p>
        </p:txBody>
      </p:sp>
      <p:sp>
        <p:nvSpPr>
          <p:cNvPr id="13" name="">
            <a:extLst xmlns:a="http://schemas.openxmlformats.org/drawingml/2006/main">
              <a:ext uri="{FF2B5EF4-FFF2-40B4-BE49-F238E27FC236}">
                <a16:creationId xmlns:a16="http://schemas.microsoft.com/office/drawing/2014/main" id="{DB16545A-863F-46C1-B507-943AFA290CA0}"/>
              </a:ext>
            </a:extLst>
          </p:cNvPr>
          <p:cNvSpPr>
            <a:spLocks xmlns:a="http://schemas.openxmlformats.org/drawingml/2006/main" noGrp="1"/>
          </p:cNvSpPr>
          <p:nvPr/>
        </p:nvSpPr>
        <p:spPr>
          <a:xfrm xmlns:a="http://schemas.openxmlformats.org/drawingml/2006/main">
            <a:off x="8315325" y="2457450"/>
            <a:ext cx="0" cy="523875"/>
          </a:xfrm>
          <a:prstGeom xmlns:a="http://schemas.openxmlformats.org/drawingml/2006/main" prst="line">
            <a:avLst/>
          </a:prstGeom>
          <a:noFill xmlns:a="http://schemas.openxmlformats.org/drawingml/2006/main"/>
          <a:ln xmlns:a="http://schemas.openxmlformats.org/drawingml/2006/main" w="19050">
            <a:solidFill>
              <a:srgbClr val="D4E0E7"/>
            </a:solidFill>
          </a:ln>
        </p:spPr>
      </p:sp>
      <p:sp>
        <p:nvSpPr>
          <p:cNvPr id="14" name="">
            <a:extLst xmlns:a="http://schemas.openxmlformats.org/drawingml/2006/main">
              <a:ext uri="{FF2B5EF4-FFF2-40B4-BE49-F238E27FC236}">
                <a16:creationId xmlns:a16="http://schemas.microsoft.com/office/drawing/2014/main" id="{C3A7A755-DA0C-43A3-BEE7-BF17B7776C31}"/>
              </a:ext>
            </a:extLst>
          </p:cNvPr>
          <p:cNvSpPr>
            <a:spLocks xmlns:a="http://schemas.openxmlformats.org/drawingml/2006/main" noGrp="1"/>
          </p:cNvSpPr>
          <p:nvPr/>
        </p:nvSpPr>
        <p:spPr>
          <a:xfrm xmlns:a="http://schemas.openxmlformats.org/drawingml/2006/main">
            <a:off x="8115300" y="29337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005EB8"/>
                </a:solidFill>
                <a:latin typeface="Arial"/>
                <a:ea typeface="Arial"/>
                <a:cs typeface="Arial"/>
              </a:defRPr>
            </a:pPr>
            <a:r>
              <a:rPr sz="1050" b="1">
                <a:solidFill>
                  <a:srgbClr val="005EB8"/>
                </a:solidFill>
                <a:latin typeface="Arial"/>
                <a:ea typeface="Arial"/>
                <a:cs typeface="Arial"/>
              </a:rPr>
              <a:t>02</a:t>
            </a:r>
          </a:p>
        </p:txBody>
      </p:sp>
      <p:sp>
        <p:nvSpPr>
          <p:cNvPr id="15" name="">
            <a:extLst xmlns:a="http://schemas.openxmlformats.org/drawingml/2006/main">
              <a:ext uri="{FF2B5EF4-FFF2-40B4-BE49-F238E27FC236}">
                <a16:creationId xmlns:a16="http://schemas.microsoft.com/office/drawing/2014/main" id="{211A65C2-36D9-41A2-81E2-1E2FE915200C}"/>
              </a:ext>
            </a:extLst>
          </p:cNvPr>
          <p:cNvSpPr>
            <a:spLocks xmlns:a="http://schemas.openxmlformats.org/drawingml/2006/main" noGrp="1"/>
          </p:cNvSpPr>
          <p:nvPr/>
        </p:nvSpPr>
        <p:spPr>
          <a:xfrm xmlns:a="http://schemas.openxmlformats.org/drawingml/2006/main">
            <a:off x="8648700" y="29146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63247"/>
                </a:solidFill>
                <a:latin typeface="Arial"/>
                <a:ea typeface="Arial"/>
                <a:cs typeface="Arial"/>
              </a:defRPr>
            </a:pPr>
            <a:r>
              <a:rPr sz="1425" b="1">
                <a:solidFill>
                  <a:srgbClr val="163247"/>
                </a:solidFill>
                <a:latin typeface="Arial"/>
                <a:ea typeface="Arial"/>
                <a:cs typeface="Arial"/>
              </a:rPr>
              <a:t>Prepare for collection</a:t>
            </a:r>
          </a:p>
        </p:txBody>
      </p:sp>
      <p:sp>
        <p:nvSpPr>
          <p:cNvPr id="16" name="">
            <a:extLst xmlns:a="http://schemas.openxmlformats.org/drawingml/2006/main">
              <a:ext uri="{FF2B5EF4-FFF2-40B4-BE49-F238E27FC236}">
                <a16:creationId xmlns:a16="http://schemas.microsoft.com/office/drawing/2014/main" id="{F699C7C9-F913-4E77-9E07-30F36F812354}"/>
              </a:ext>
            </a:extLst>
          </p:cNvPr>
          <p:cNvSpPr>
            <a:spLocks xmlns:a="http://schemas.openxmlformats.org/drawingml/2006/main" noGrp="1"/>
          </p:cNvSpPr>
          <p:nvPr/>
        </p:nvSpPr>
        <p:spPr>
          <a:xfrm xmlns:a="http://schemas.openxmlformats.org/drawingml/2006/main">
            <a:off x="8648700" y="320040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1788A"/>
                </a:solidFill>
                <a:latin typeface="Arial"/>
                <a:ea typeface="Arial"/>
                <a:cs typeface="Arial"/>
              </a:defRPr>
            </a:pPr>
            <a:r>
              <a:rPr sz="1125" b="0">
                <a:solidFill>
                  <a:srgbClr val="61788A"/>
                </a:solidFill>
                <a:latin typeface="Arial"/>
                <a:ea typeface="Arial"/>
                <a:cs typeface="Arial"/>
              </a:rPr>
              <a:t>Check availability</a:t>
            </a:r>
          </a:p>
        </p:txBody>
      </p:sp>
      <p:sp>
        <p:nvSpPr>
          <p:cNvPr id="17" name="">
            <a:extLst xmlns:a="http://schemas.openxmlformats.org/drawingml/2006/main">
              <a:ext uri="{FF2B5EF4-FFF2-40B4-BE49-F238E27FC236}">
                <a16:creationId xmlns:a16="http://schemas.microsoft.com/office/drawing/2014/main" id="{930BDB2D-0873-46C8-B777-93305C1CA399}"/>
              </a:ext>
            </a:extLst>
          </p:cNvPr>
          <p:cNvSpPr>
            <a:spLocks xmlns:a="http://schemas.openxmlformats.org/drawingml/2006/main" noGrp="1"/>
          </p:cNvSpPr>
          <p:nvPr/>
        </p:nvSpPr>
        <p:spPr>
          <a:xfrm xmlns:a="http://schemas.openxmlformats.org/drawingml/2006/main">
            <a:off x="8315325" y="3257550"/>
            <a:ext cx="0" cy="523875"/>
          </a:xfrm>
          <a:prstGeom xmlns:a="http://schemas.openxmlformats.org/drawingml/2006/main" prst="line">
            <a:avLst/>
          </a:prstGeom>
          <a:noFill xmlns:a="http://schemas.openxmlformats.org/drawingml/2006/main"/>
          <a:ln xmlns:a="http://schemas.openxmlformats.org/drawingml/2006/main" w="19050">
            <a:solidFill>
              <a:srgbClr val="D4E0E7"/>
            </a:solidFill>
          </a:ln>
        </p:spPr>
      </p:sp>
      <p:sp>
        <p:nvSpPr>
          <p:cNvPr id="18" name="">
            <a:extLst xmlns:a="http://schemas.openxmlformats.org/drawingml/2006/main">
              <a:ext uri="{FF2B5EF4-FFF2-40B4-BE49-F238E27FC236}">
                <a16:creationId xmlns:a16="http://schemas.microsoft.com/office/drawing/2014/main" id="{41C8E260-D5E0-4363-BBD1-DD5E9B90AB37}"/>
              </a:ext>
            </a:extLst>
          </p:cNvPr>
          <p:cNvSpPr>
            <a:spLocks xmlns:a="http://schemas.openxmlformats.org/drawingml/2006/main" noGrp="1"/>
          </p:cNvSpPr>
          <p:nvPr/>
        </p:nvSpPr>
        <p:spPr>
          <a:xfrm xmlns:a="http://schemas.openxmlformats.org/drawingml/2006/main">
            <a:off x="8115300" y="37338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005EB8"/>
                </a:solidFill>
                <a:latin typeface="Arial"/>
                <a:ea typeface="Arial"/>
                <a:cs typeface="Arial"/>
              </a:defRPr>
            </a:pPr>
            <a:r>
              <a:rPr sz="1050" b="1">
                <a:solidFill>
                  <a:srgbClr val="005EB8"/>
                </a:solidFill>
                <a:latin typeface="Arial"/>
                <a:ea typeface="Arial"/>
                <a:cs typeface="Arial"/>
              </a:rPr>
              <a:t>03</a:t>
            </a:r>
          </a:p>
        </p:txBody>
      </p:sp>
      <p:sp>
        <p:nvSpPr>
          <p:cNvPr id="19" name="">
            <a:extLst xmlns:a="http://schemas.openxmlformats.org/drawingml/2006/main">
              <a:ext uri="{FF2B5EF4-FFF2-40B4-BE49-F238E27FC236}">
                <a16:creationId xmlns:a16="http://schemas.microsoft.com/office/drawing/2014/main" id="{08DF94AE-1844-4A2F-B48B-2F0ABB9F71B8}"/>
              </a:ext>
            </a:extLst>
          </p:cNvPr>
          <p:cNvSpPr>
            <a:spLocks xmlns:a="http://schemas.openxmlformats.org/drawingml/2006/main" noGrp="1"/>
          </p:cNvSpPr>
          <p:nvPr/>
        </p:nvSpPr>
        <p:spPr>
          <a:xfrm xmlns:a="http://schemas.openxmlformats.org/drawingml/2006/main">
            <a:off x="8648700" y="37147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63247"/>
                </a:solidFill>
                <a:latin typeface="Arial"/>
                <a:ea typeface="Arial"/>
                <a:cs typeface="Arial"/>
              </a:defRPr>
            </a:pPr>
            <a:r>
              <a:rPr sz="1425" b="1">
                <a:solidFill>
                  <a:srgbClr val="163247"/>
                </a:solidFill>
                <a:latin typeface="Arial"/>
                <a:ea typeface="Arial"/>
                <a:cs typeface="Arial"/>
              </a:rPr>
              <a:t>Ready for collection</a:t>
            </a:r>
          </a:p>
        </p:txBody>
      </p:sp>
      <p:sp>
        <p:nvSpPr>
          <p:cNvPr id="20" name="">
            <a:extLst xmlns:a="http://schemas.openxmlformats.org/drawingml/2006/main">
              <a:ext uri="{FF2B5EF4-FFF2-40B4-BE49-F238E27FC236}">
                <a16:creationId xmlns:a16="http://schemas.microsoft.com/office/drawing/2014/main" id="{FFC5DD79-3994-4775-96FA-2E822F6CC7AD}"/>
              </a:ext>
            </a:extLst>
          </p:cNvPr>
          <p:cNvSpPr>
            <a:spLocks xmlns:a="http://schemas.openxmlformats.org/drawingml/2006/main" noGrp="1"/>
          </p:cNvSpPr>
          <p:nvPr/>
        </p:nvSpPr>
        <p:spPr>
          <a:xfrm xmlns:a="http://schemas.openxmlformats.org/drawingml/2006/main">
            <a:off x="8648700" y="400050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1788A"/>
                </a:solidFill>
                <a:latin typeface="Arial"/>
                <a:ea typeface="Arial"/>
                <a:cs typeface="Arial"/>
              </a:defRPr>
            </a:pPr>
            <a:r>
              <a:rPr sz="1125" b="0">
                <a:solidFill>
                  <a:srgbClr val="61788A"/>
                </a:solidFill>
                <a:latin typeface="Arial"/>
                <a:ea typeface="Arial"/>
                <a:cs typeface="Arial"/>
              </a:rPr>
              <a:t>Confirm arrangements</a:t>
            </a:r>
          </a:p>
        </p:txBody>
      </p:sp>
      <p:sp>
        <p:nvSpPr>
          <p:cNvPr id="21" name="">
            <a:extLst xmlns:a="http://schemas.openxmlformats.org/drawingml/2006/main">
              <a:ext uri="{FF2B5EF4-FFF2-40B4-BE49-F238E27FC236}">
                <a16:creationId xmlns:a16="http://schemas.microsoft.com/office/drawing/2014/main" id="{F63FC423-1263-4176-B74E-E575F912F9B7}"/>
              </a:ext>
            </a:extLst>
          </p:cNvPr>
          <p:cNvSpPr>
            <a:spLocks xmlns:a="http://schemas.openxmlformats.org/drawingml/2006/main" noGrp="1"/>
          </p:cNvSpPr>
          <p:nvPr/>
        </p:nvSpPr>
        <p:spPr>
          <a:xfrm xmlns:a="http://schemas.openxmlformats.org/drawingml/2006/main">
            <a:off x="8315325" y="4057650"/>
            <a:ext cx="0" cy="523875"/>
          </a:xfrm>
          <a:prstGeom xmlns:a="http://schemas.openxmlformats.org/drawingml/2006/main" prst="line">
            <a:avLst/>
          </a:prstGeom>
          <a:noFill xmlns:a="http://schemas.openxmlformats.org/drawingml/2006/main"/>
          <a:ln xmlns:a="http://schemas.openxmlformats.org/drawingml/2006/main" w="19050">
            <a:solidFill>
              <a:srgbClr val="D4E0E7"/>
            </a:solidFill>
          </a:ln>
        </p:spPr>
      </p:sp>
      <p:sp>
        <p:nvSpPr>
          <p:cNvPr id="22" name="">
            <a:extLst xmlns:a="http://schemas.openxmlformats.org/drawingml/2006/main">
              <a:ext uri="{FF2B5EF4-FFF2-40B4-BE49-F238E27FC236}">
                <a16:creationId xmlns:a16="http://schemas.microsoft.com/office/drawing/2014/main" id="{6EF5F130-7D44-4A18-867C-F0754A2C8D6E}"/>
              </a:ext>
            </a:extLst>
          </p:cNvPr>
          <p:cNvSpPr>
            <a:spLocks xmlns:a="http://schemas.openxmlformats.org/drawingml/2006/main" noGrp="1"/>
          </p:cNvSpPr>
          <p:nvPr/>
        </p:nvSpPr>
        <p:spPr>
          <a:xfrm xmlns:a="http://schemas.openxmlformats.org/drawingml/2006/main">
            <a:off x="8115300" y="45339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005EB8"/>
                </a:solidFill>
                <a:latin typeface="Arial"/>
                <a:ea typeface="Arial"/>
                <a:cs typeface="Arial"/>
              </a:defRPr>
            </a:pPr>
            <a:r>
              <a:rPr sz="1050" b="1">
                <a:solidFill>
                  <a:srgbClr val="005EB8"/>
                </a:solidFill>
                <a:latin typeface="Arial"/>
                <a:ea typeface="Arial"/>
                <a:cs typeface="Arial"/>
              </a:rPr>
              <a:t>04</a:t>
            </a:r>
          </a:p>
        </p:txBody>
      </p:sp>
      <p:sp>
        <p:nvSpPr>
          <p:cNvPr id="23" name="">
            <a:extLst xmlns:a="http://schemas.openxmlformats.org/drawingml/2006/main">
              <a:ext uri="{FF2B5EF4-FFF2-40B4-BE49-F238E27FC236}">
                <a16:creationId xmlns:a16="http://schemas.microsoft.com/office/drawing/2014/main" id="{AC593294-97BA-410F-8228-8035BDFCD386}"/>
              </a:ext>
            </a:extLst>
          </p:cNvPr>
          <p:cNvSpPr>
            <a:spLocks xmlns:a="http://schemas.openxmlformats.org/drawingml/2006/main" noGrp="1"/>
          </p:cNvSpPr>
          <p:nvPr/>
        </p:nvSpPr>
        <p:spPr>
          <a:xfrm xmlns:a="http://schemas.openxmlformats.org/drawingml/2006/main">
            <a:off x="8648700" y="451485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63247"/>
                </a:solidFill>
                <a:latin typeface="Arial"/>
                <a:ea typeface="Arial"/>
                <a:cs typeface="Arial"/>
              </a:defRPr>
            </a:pPr>
            <a:r>
              <a:rPr sz="1425" b="1">
                <a:solidFill>
                  <a:srgbClr val="163247"/>
                </a:solidFill>
                <a:latin typeface="Arial"/>
                <a:ea typeface="Arial"/>
                <a:cs typeface="Arial"/>
              </a:rPr>
              <a:t>Family response</a:t>
            </a:r>
          </a:p>
        </p:txBody>
      </p:sp>
      <p:sp>
        <p:nvSpPr>
          <p:cNvPr id="24" name="">
            <a:extLst xmlns:a="http://schemas.openxmlformats.org/drawingml/2006/main">
              <a:ext uri="{FF2B5EF4-FFF2-40B4-BE49-F238E27FC236}">
                <a16:creationId xmlns:a16="http://schemas.microsoft.com/office/drawing/2014/main" id="{7FF5869A-0051-44BA-96C6-68B1A75BD0B0}"/>
              </a:ext>
            </a:extLst>
          </p:cNvPr>
          <p:cNvSpPr>
            <a:spLocks xmlns:a="http://schemas.openxmlformats.org/drawingml/2006/main" noGrp="1"/>
          </p:cNvSpPr>
          <p:nvPr/>
        </p:nvSpPr>
        <p:spPr>
          <a:xfrm xmlns:a="http://schemas.openxmlformats.org/drawingml/2006/main">
            <a:off x="8648700" y="480060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1788A"/>
                </a:solidFill>
                <a:latin typeface="Arial"/>
                <a:ea typeface="Arial"/>
                <a:cs typeface="Arial"/>
              </a:defRPr>
            </a:pPr>
            <a:r>
              <a:rPr sz="1125" b="0">
                <a:solidFill>
                  <a:srgbClr val="61788A"/>
                </a:solidFill>
                <a:latin typeface="Arial"/>
                <a:ea typeface="Arial"/>
                <a:cs typeface="Arial"/>
              </a:rPr>
              <a:t>Confirm or request support</a:t>
            </a:r>
          </a:p>
        </p:txBody>
      </p:sp>
      <p:sp>
        <p:nvSpPr>
          <p:cNvPr id="25" name="">
            <a:extLst xmlns:a="http://schemas.openxmlformats.org/drawingml/2006/main">
              <a:ext uri="{FF2B5EF4-FFF2-40B4-BE49-F238E27FC236}">
                <a16:creationId xmlns:a16="http://schemas.microsoft.com/office/drawing/2014/main" id="{FB663D8D-631C-4D70-922F-90D0513B0C11}"/>
              </a:ext>
            </a:extLst>
          </p:cNvPr>
          <p:cNvSpPr>
            <a:spLocks xmlns:a="http://schemas.openxmlformats.org/drawingml/2006/main" noGrp="1"/>
          </p:cNvSpPr>
          <p:nvPr/>
        </p:nvSpPr>
        <p:spPr>
          <a:xfrm xmlns:a="http://schemas.openxmlformats.org/drawingml/2006/main">
            <a:off x="8115300" y="5457825"/>
            <a:ext cx="1600200" cy="285750"/>
          </a:xfrm>
          <a:prstGeom xmlns:a="http://schemas.openxmlformats.org/drawingml/2006/main" prst="roundRect">
            <a:avLst>
              <a:gd name="adj" fmla="val 26667"/>
            </a:avLst>
          </a:prstGeom>
          <a:solidFill xmlns:a="http://schemas.openxmlformats.org/drawingml/2006/main">
            <a:srgbClr val="E7F5EF"/>
          </a:solidFill>
          <a:ln xmlns:a="http://schemas.openxmlformats.org/drawingml/2006/main" w="9525">
            <a:solidFill>
              <a:srgbClr val="8BC9B2"/>
            </a:solidFill>
          </a:ln>
        </p:spPr>
        <p:txBody>
          <a:bodyPr xmlns:a="http://schemas.openxmlformats.org/drawingml/2006/main" lIns="57150" tIns="19050" rIns="57150" bIns="19050" anchor="ctr">
            <a:normAutofit fontScale="100000"/>
          </a:bodyPr>
          <a:lstStyle xmlns:a="http://schemas.openxmlformats.org/drawingml/2006/main"/>
          <a:p xmlns:a="http://schemas.openxmlformats.org/drawingml/2006/main">
            <a:pPr algn="ctr">
              <a:defRPr sz="788" b="1">
                <a:solidFill>
                  <a:srgbClr val="14845F"/>
                </a:solidFill>
                <a:latin typeface="Arial"/>
                <a:ea typeface="Arial"/>
                <a:cs typeface="Arial"/>
              </a:defRPr>
            </a:pPr>
            <a:r>
              <a:rPr sz="788" b="1">
                <a:solidFill>
                  <a:srgbClr val="14845F"/>
                </a:solidFill>
                <a:latin typeface="Arial"/>
                <a:ea typeface="Arial"/>
                <a:cs typeface="Arial"/>
              </a:rPr>
              <a:t>HOMEFLOW ADDITION</a:t>
            </a:r>
          </a:p>
        </p:txBody>
      </p:sp>
      <p:sp>
        <p:nvSpPr>
          <p:cNvPr id="26" name="">
            <a:extLst xmlns:a="http://schemas.openxmlformats.org/drawingml/2006/main">
              <a:ext uri="{FF2B5EF4-FFF2-40B4-BE49-F238E27FC236}">
                <a16:creationId xmlns:a16="http://schemas.microsoft.com/office/drawing/2014/main" id="{B0A7DF40-EFB7-47E3-9AC4-B0EA63FAC4E7}"/>
              </a:ext>
            </a:extLst>
          </p:cNvPr>
          <p:cNvSpPr>
            <a:spLocks xmlns:a="http://schemas.openxmlformats.org/drawingml/2006/main" noGrp="1"/>
          </p:cNvSpPr>
          <p:nvPr/>
        </p:nvSpPr>
        <p:spPr>
          <a:xfrm xmlns:a="http://schemas.openxmlformats.org/drawingml/2006/main">
            <a:off x="9820275" y="5457825"/>
            <a:ext cx="1762125" cy="285750"/>
          </a:xfrm>
          <a:prstGeom xmlns:a="http://schemas.openxmlformats.org/drawingml/2006/main" prst="roundRect">
            <a:avLst>
              <a:gd name="adj" fmla="val 26667"/>
            </a:avLst>
          </a:prstGeom>
          <a:solidFill xmlns:a="http://schemas.openxmlformats.org/drawingml/2006/main">
            <a:srgbClr val="F2ECF8"/>
          </a:solidFill>
          <a:ln xmlns:a="http://schemas.openxmlformats.org/drawingml/2006/main" w="9525">
            <a:solidFill>
              <a:srgbClr val="B59BD1"/>
            </a:solidFill>
          </a:ln>
        </p:spPr>
        <p:txBody>
          <a:bodyPr xmlns:a="http://schemas.openxmlformats.org/drawingml/2006/main" lIns="57150" tIns="19050" rIns="57150" bIns="19050" anchor="ctr">
            <a:normAutofit fontScale="100000"/>
          </a:bodyPr>
          <a:lstStyle xmlns:a="http://schemas.openxmlformats.org/drawingml/2006/main"/>
          <a:p xmlns:a="http://schemas.openxmlformats.org/drawingml/2006/main">
            <a:pPr algn="ctr">
              <a:defRPr sz="788" b="1">
                <a:solidFill>
                  <a:srgbClr val="7656A2"/>
                </a:solidFill>
                <a:latin typeface="Arial"/>
                <a:ea typeface="Arial"/>
                <a:cs typeface="Arial"/>
              </a:defRPr>
            </a:pPr>
            <a:r>
              <a:rPr sz="788" b="1">
                <a:solidFill>
                  <a:srgbClr val="7656A2"/>
                </a:solidFill>
                <a:latin typeface="Arial"/>
                <a:ea typeface="Arial"/>
                <a:cs typeface="Arial"/>
              </a:rPr>
              <a:t>PROPOSED DRDOCTOR USE</a:t>
            </a:r>
          </a:p>
        </p:txBody>
      </p:sp>
      <p:sp>
        <p:nvSpPr>
          <p:cNvPr id="27" name="">
            <a:extLst xmlns:a="http://schemas.openxmlformats.org/drawingml/2006/main">
              <a:ext uri="{FF2B5EF4-FFF2-40B4-BE49-F238E27FC236}">
                <a16:creationId xmlns:a16="http://schemas.microsoft.com/office/drawing/2014/main" id="{CAC31C07-517B-4123-BBA7-597D378780E5}"/>
              </a:ext>
            </a:extLst>
          </p:cNvPr>
          <p:cNvSpPr>
            <a:spLocks xmlns:a="http://schemas.openxmlformats.org/drawingml/2006/main" noGrp="1"/>
          </p:cNvSpPr>
          <p:nvPr/>
        </p:nvSpPr>
        <p:spPr>
          <a:xfrm xmlns:a="http://schemas.openxmlformats.org/drawingml/2006/main">
            <a:off x="514350" y="6515100"/>
            <a:ext cx="11163300" cy="0"/>
          </a:xfrm>
          <a:prstGeom xmlns:a="http://schemas.openxmlformats.org/drawingml/2006/main" prst="line">
            <a:avLst/>
          </a:prstGeom>
          <a:noFill xmlns:a="http://schemas.openxmlformats.org/drawingml/2006/main"/>
          <a:ln xmlns:a="http://schemas.openxmlformats.org/drawingml/2006/main" w="9525">
            <a:solidFill>
              <a:srgbClr val="D4E0E7"/>
            </a:solidFill>
          </a:ln>
        </p:spPr>
      </p:sp>
      <p:sp>
        <p:nvSpPr>
          <p:cNvPr id="28" name="">
            <a:extLst xmlns:a="http://schemas.openxmlformats.org/drawingml/2006/main">
              <a:ext uri="{FF2B5EF4-FFF2-40B4-BE49-F238E27FC236}">
                <a16:creationId xmlns:a16="http://schemas.microsoft.com/office/drawing/2014/main" id="{F5F9A338-104D-44B7-B49D-A1802BDEF21B}"/>
              </a:ext>
            </a:extLst>
          </p:cNvPr>
          <p:cNvSpPr>
            <a:spLocks xmlns:a="http://schemas.openxmlformats.org/drawingml/2006/main" noGrp="1"/>
          </p:cNvSpPr>
          <p:nvPr/>
        </p:nvSpPr>
        <p:spPr>
          <a:xfrm xmlns:a="http://schemas.openxmlformats.org/drawingml/2006/main">
            <a:off x="514350" y="659130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5EB8"/>
                </a:solidFill>
                <a:latin typeface="Arial"/>
                <a:ea typeface="Arial"/>
                <a:cs typeface="Arial"/>
              </a:defRPr>
            </a:pPr>
            <a:r>
              <a:rPr sz="825" b="1">
                <a:solidFill>
                  <a:srgbClr val="005EB8"/>
                </a:solidFill>
                <a:latin typeface="Arial"/>
                <a:ea typeface="Arial"/>
                <a:cs typeface="Arial"/>
              </a:rPr>
              <a:t>HomeFlow</a:t>
            </a:r>
          </a:p>
        </p:txBody>
      </p:sp>
      <p:sp>
        <p:nvSpPr>
          <p:cNvPr id="29" name="">
            <a:extLst xmlns:a="http://schemas.openxmlformats.org/drawingml/2006/main">
              <a:ext uri="{FF2B5EF4-FFF2-40B4-BE49-F238E27FC236}">
                <a16:creationId xmlns:a16="http://schemas.microsoft.com/office/drawing/2014/main" id="{E6362D90-78AB-48A1-93B2-15CF0B6B6046}"/>
              </a:ext>
            </a:extLst>
          </p:cNvPr>
          <p:cNvSpPr>
            <a:spLocks xmlns:a="http://schemas.openxmlformats.org/drawingml/2006/main" noGrp="1"/>
          </p:cNvSpPr>
          <p:nvPr/>
        </p:nvSpPr>
        <p:spPr>
          <a:xfrm xmlns:a="http://schemas.openxmlformats.org/drawingml/2006/main">
            <a:off x="1657350" y="65913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1788A"/>
                </a:solidFill>
                <a:latin typeface="Arial"/>
                <a:ea typeface="Arial"/>
                <a:cs typeface="Arial"/>
              </a:defRPr>
            </a:pPr>
            <a:r>
              <a:rPr sz="750" b="0">
                <a:solidFill>
                  <a:srgbClr val="61788A"/>
                </a:solidFill>
                <a:latin typeface="Arial"/>
                <a:ea typeface="Arial"/>
                <a:cs typeface="Arial"/>
              </a:rPr>
              <a:t>Independent innovation concept</a:t>
            </a:r>
          </a:p>
        </p:txBody>
      </p:sp>
      <p:sp>
        <p:nvSpPr>
          <p:cNvPr id="30" name="">
            <a:extLst xmlns:a="http://schemas.openxmlformats.org/drawingml/2006/main">
              <a:ext uri="{FF2B5EF4-FFF2-40B4-BE49-F238E27FC236}">
                <a16:creationId xmlns:a16="http://schemas.microsoft.com/office/drawing/2014/main" id="{CB445918-98CF-4F88-88B1-DB4D16B5B0AE}"/>
              </a:ext>
            </a:extLst>
          </p:cNvPr>
          <p:cNvSpPr>
            <a:spLocks xmlns:a="http://schemas.openxmlformats.org/drawingml/2006/main" noGrp="1"/>
          </p:cNvSpPr>
          <p:nvPr/>
        </p:nvSpPr>
        <p:spPr>
          <a:xfrm xmlns:a="http://schemas.openxmlformats.org/drawingml/2006/main">
            <a:off x="11287125" y="6591300"/>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61788A"/>
                </a:solidFill>
                <a:latin typeface="Arial"/>
                <a:ea typeface="Arial"/>
                <a:cs typeface="Arial"/>
              </a:defRPr>
            </a:pPr>
            <a:r>
              <a:rPr sz="750" b="1">
                <a:solidFill>
                  <a:srgbClr val="61788A"/>
                </a:solidFill>
                <a:latin typeface="Arial"/>
                <a:ea typeface="Arial"/>
                <a:cs typeface="Arial"/>
              </a:rPr>
              <a:t>05</a:t>
            </a:r>
          </a:p>
        </p:txBody>
      </p:sp>
    </p:spTree>
    <p:extLst>
      <p:ext uri="{BB962C8B-B14F-4D97-AF65-F5344CB8AC3E}">
        <p14:creationId xmlns:p14="http://schemas.microsoft.com/office/powerpoint/2010/main" val="2055573574"/>
      </p:ext>
    </p:extLst>
  </p:cSld>
</p:sld>
</file>

<file path=ppt/slides/slide6.xml><?xml version="1.0" encoding="utf-8"?>
<p:sld xmlns:p="http://schemas.openxmlformats.org/presentationml/2006/main">
  <p:cSld>
    <p:bg>
      <p:bgPr>
        <a:solidFill xmlns:a="http://schemas.openxmlformats.org/drawingml/2006/main">
          <a:srgbClr val="12304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652BFD7-3F1E-4A9C-B0BE-6BB7E79DFBA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39B7A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0CA4EA-B9EB-4077-B0C8-86E00C720693}"/>
              </a:ext>
            </a:extLst>
          </p:cNvPr>
          <p:cNvSpPr>
            <a:spLocks xmlns:a="http://schemas.openxmlformats.org/drawingml/2006/main" noGrp="1"/>
          </p:cNvSpPr>
          <p:nvPr/>
        </p:nvSpPr>
        <p:spPr>
          <a:xfrm xmlns:a="http://schemas.openxmlformats.org/drawingml/2006/main">
            <a:off x="514350" y="371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39B7A0"/>
                </a:solidFill>
                <a:latin typeface="Arial"/>
                <a:ea typeface="Arial"/>
                <a:cs typeface="Arial"/>
              </a:defRPr>
            </a:pPr>
            <a:r>
              <a:rPr sz="1125" b="1">
                <a:solidFill>
                  <a:srgbClr val="39B7A0"/>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9F6B92DB-9B2D-4E13-AADB-9084A0E1A2C6}"/>
              </a:ext>
            </a:extLst>
          </p:cNvPr>
          <p:cNvSpPr>
            <a:spLocks xmlns:a="http://schemas.openxmlformats.org/drawingml/2006/main" noGrp="1"/>
          </p:cNvSpPr>
          <p:nvPr/>
        </p:nvSpPr>
        <p:spPr>
          <a:xfrm xmlns:a="http://schemas.openxmlformats.org/drawingml/2006/main">
            <a:off x="1047750" y="28575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625" b="1">
                <a:solidFill>
                  <a:srgbClr val="FFFFFF"/>
                </a:solidFill>
                <a:latin typeface="Arial"/>
                <a:ea typeface="Arial"/>
                <a:cs typeface="Arial"/>
              </a:defRPr>
            </a:pPr>
            <a:r>
              <a:rPr sz="2625" b="1">
                <a:solidFill>
                  <a:srgbClr val="FFFFFF"/>
                </a:solidFill>
                <a:latin typeface="Arial"/>
                <a:ea typeface="Arial"/>
                <a:cs typeface="Arial"/>
              </a:rPr>
              <a:t>Ward display</a:t>
            </a:r>
          </a:p>
        </p:txBody>
      </p:sp>
      <p:sp>
        <p:nvSpPr>
          <p:cNvPr id="4" name="">
            <a:extLst xmlns:a="http://schemas.openxmlformats.org/drawingml/2006/main">
              <a:ext uri="{FF2B5EF4-FFF2-40B4-BE49-F238E27FC236}">
                <a16:creationId xmlns:a16="http://schemas.microsoft.com/office/drawing/2014/main" id="{CFC0B3F8-F73E-49D4-8024-55F61FCBE251}"/>
              </a:ext>
            </a:extLst>
          </p:cNvPr>
          <p:cNvSpPr>
            <a:spLocks xmlns:a="http://schemas.openxmlformats.org/drawingml/2006/main" noGrp="1"/>
          </p:cNvSpPr>
          <p:nvPr/>
        </p:nvSpPr>
        <p:spPr>
          <a:xfrm xmlns:a="http://schemas.openxmlformats.org/drawingml/2006/main">
            <a:off x="1066800" y="80010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C7DCE8"/>
                </a:solidFill>
                <a:latin typeface="Arial"/>
                <a:ea typeface="Arial"/>
                <a:cs typeface="Arial"/>
              </a:defRPr>
            </a:pPr>
            <a:r>
              <a:rPr sz="1275" b="0">
                <a:solidFill>
                  <a:srgbClr val="C7DCE8"/>
                </a:solidFill>
                <a:latin typeface="Arial"/>
                <a:ea typeface="Arial"/>
                <a:cs typeface="Arial"/>
              </a:rPr>
              <a:t>Privacy-safe visibility for the whole team</a:t>
            </a:r>
          </a:p>
        </p:txBody>
      </p:sp>
      <p:sp>
        <p:nvSpPr>
          <p:cNvPr id="5" name="">
            <a:extLst xmlns:a="http://schemas.openxmlformats.org/drawingml/2006/main">
              <a:ext uri="{FF2B5EF4-FFF2-40B4-BE49-F238E27FC236}">
                <a16:creationId xmlns:a16="http://schemas.microsoft.com/office/drawing/2014/main" id="{90C83AAD-8B8B-4C74-BA80-B481E8B19F86}"/>
              </a:ext>
            </a:extLst>
          </p:cNvPr>
          <p:cNvSpPr>
            <a:spLocks xmlns:a="http://schemas.openxmlformats.org/drawingml/2006/main" noGrp="1"/>
          </p:cNvSpPr>
          <p:nvPr/>
        </p:nvSpPr>
        <p:spPr>
          <a:xfrm xmlns:a="http://schemas.openxmlformats.org/drawingml/2006/main">
            <a:off x="9477375" y="400050"/>
            <a:ext cx="2190750" cy="285750"/>
          </a:xfrm>
          <a:prstGeom xmlns:a="http://schemas.openxmlformats.org/drawingml/2006/main" prst="roundRect">
            <a:avLst>
              <a:gd name="adj" fmla="val 40000"/>
            </a:avLst>
          </a:prstGeom>
          <a:solidFill xmlns:a="http://schemas.openxmlformats.org/drawingml/2006/main">
            <a:srgbClr val="FFF4CE"/>
          </a:solidFill>
          <a:ln xmlns:a="http://schemas.openxmlformats.org/drawingml/2006/main" w="9525">
            <a:solidFill>
              <a:srgbClr val="E7CA73"/>
            </a:solidFill>
          </a:ln>
        </p:spPr>
        <p:txBody>
          <a:bodyPr xmlns:a="http://schemas.openxmlformats.org/drawingml/2006/main" lIns="76200" tIns="19050" rIns="76200" bIns="19050" anchor="ctr">
            <a:normAutofit fontScale="91137"/>
          </a:bodyPr>
          <a:lstStyle xmlns:a="http://schemas.openxmlformats.org/drawingml/2006/main"/>
          <a:p xmlns:a="http://schemas.openxmlformats.org/drawingml/2006/main">
            <a:pPr algn="ctr">
              <a:defRPr sz="788" b="1">
                <a:solidFill>
                  <a:srgbClr val="665000"/>
                </a:solidFill>
                <a:latin typeface="Arial"/>
                <a:ea typeface="Arial"/>
                <a:cs typeface="Arial"/>
              </a:defRPr>
            </a:pPr>
            <a:r>
              <a:rPr sz="788" b="1">
                <a:solidFill>
                  <a:srgbClr val="665000"/>
                </a:solidFill>
                <a:latin typeface="Arial"/>
                <a:ea typeface="Arial"/>
                <a:cs typeface="Arial"/>
              </a:rPr>
              <a:t>PROTOTYPE / DEMONSTRATION DATA ONLY</a:t>
            </a:r>
          </a:p>
        </p:txBody>
      </p:sp>
      <p:sp>
        <p:nvSpPr>
          <p:cNvPr id="6" name="">
            <a:extLst xmlns:a="http://schemas.openxmlformats.org/drawingml/2006/main">
              <a:ext uri="{FF2B5EF4-FFF2-40B4-BE49-F238E27FC236}">
                <a16:creationId xmlns:a16="http://schemas.microsoft.com/office/drawing/2014/main" id="{4E8A1466-70AF-4406-A416-E30D2599B2C4}"/>
              </a:ext>
            </a:extLst>
          </p:cNvPr>
          <p:cNvSpPr>
            <a:spLocks xmlns:a="http://schemas.openxmlformats.org/drawingml/2006/main" noGrp="1"/>
          </p:cNvSpPr>
          <p:nvPr/>
        </p:nvSpPr>
        <p:spPr>
          <a:xfrm xmlns:a="http://schemas.openxmlformats.org/drawingml/2006/main">
            <a:off x="438150" y="1276350"/>
            <a:ext cx="7820025" cy="4991100"/>
          </a:xfrm>
          <a:prstGeom xmlns:a="http://schemas.openxmlformats.org/drawingml/2006/main" prst="roundRect">
            <a:avLst>
              <a:gd name="adj" fmla="val 3435"/>
            </a:avLst>
          </a:prstGeom>
          <a:solidFill xmlns:a="http://schemas.openxmlformats.org/drawingml/2006/main">
            <a:srgbClr val="FFFFFF"/>
          </a:solidFill>
          <a:ln xmlns:a="http://schemas.openxmlformats.org/drawingml/2006/main" w="9525">
            <a:solidFill>
              <a:srgbClr val="D4E0E7"/>
            </a:solidFill>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076896cf79864a07"/>
          <a:stretch xmlns:a="http://schemas.openxmlformats.org/drawingml/2006/main"/>
        </p:blipFill>
        <p:spPr>
          <a:xfrm xmlns:a="http://schemas.openxmlformats.org/drawingml/2006/main">
            <a:off x="1181013" y="1352550"/>
            <a:ext cx="6334298" cy="4838700"/>
          </a:xfrm>
          <a:prstGeom xmlns:a="http://schemas.openxmlformats.org/drawingml/2006/main" prst="roundRect">
            <a:avLst>
              <a:gd name="adj" fmla="val 2362"/>
            </a:avLst>
          </a:prstGeom>
        </p:spPr>
      </p:pic>
      <p:sp>
        <p:nvSpPr>
          <p:cNvPr id="8" name="">
            <a:extLst xmlns:a="http://schemas.openxmlformats.org/drawingml/2006/main">
              <a:ext uri="{FF2B5EF4-FFF2-40B4-BE49-F238E27FC236}">
                <a16:creationId xmlns:a16="http://schemas.microsoft.com/office/drawing/2014/main" id="{3C54B5D0-2C70-4647-849C-0BCE5D82F7B3}"/>
              </a:ext>
            </a:extLst>
          </p:cNvPr>
          <p:cNvSpPr>
            <a:spLocks xmlns:a="http://schemas.openxmlformats.org/drawingml/2006/main" noGrp="1"/>
          </p:cNvSpPr>
          <p:nvPr/>
        </p:nvSpPr>
        <p:spPr>
          <a:xfrm xmlns:a="http://schemas.openxmlformats.org/drawingml/2006/main">
            <a:off x="8696325" y="15240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At a glance</a:t>
            </a:r>
          </a:p>
        </p:txBody>
      </p:sp>
      <p:sp>
        <p:nvSpPr>
          <p:cNvPr id="9" name="">
            <a:extLst xmlns:a="http://schemas.openxmlformats.org/drawingml/2006/main">
              <a:ext uri="{FF2B5EF4-FFF2-40B4-BE49-F238E27FC236}">
                <a16:creationId xmlns:a16="http://schemas.microsoft.com/office/drawing/2014/main" id="{2EA61B50-3A78-406F-9570-BB240919B2F5}"/>
              </a:ext>
            </a:extLst>
          </p:cNvPr>
          <p:cNvSpPr>
            <a:spLocks xmlns:a="http://schemas.openxmlformats.org/drawingml/2006/main" noGrp="1"/>
          </p:cNvSpPr>
          <p:nvPr/>
        </p:nvSpPr>
        <p:spPr>
          <a:xfrm xmlns:a="http://schemas.openxmlformats.org/drawingml/2006/main">
            <a:off x="8743950" y="2314575"/>
            <a:ext cx="104775" cy="104775"/>
          </a:xfrm>
          <a:prstGeom xmlns:a="http://schemas.openxmlformats.org/drawingml/2006/main" prst="ellipse">
            <a:avLst/>
          </a:prstGeom>
          <a:solidFill xmlns:a="http://schemas.openxmlformats.org/drawingml/2006/main">
            <a:srgbClr val="39B7A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3B3D465-A1C3-47C8-A7F1-31BAC96CD972}"/>
              </a:ext>
            </a:extLst>
          </p:cNvPr>
          <p:cNvSpPr>
            <a:spLocks xmlns:a="http://schemas.openxmlformats.org/drawingml/2006/main" noGrp="1"/>
          </p:cNvSpPr>
          <p:nvPr/>
        </p:nvSpPr>
        <p:spPr>
          <a:xfrm xmlns:a="http://schemas.openxmlformats.org/drawingml/2006/main">
            <a:off x="8972550" y="2247900"/>
            <a:ext cx="2533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Expected discharges</a:t>
            </a:r>
          </a:p>
        </p:txBody>
      </p:sp>
      <p:sp>
        <p:nvSpPr>
          <p:cNvPr id="11" name="">
            <a:extLst xmlns:a="http://schemas.openxmlformats.org/drawingml/2006/main">
              <a:ext uri="{FF2B5EF4-FFF2-40B4-BE49-F238E27FC236}">
                <a16:creationId xmlns:a16="http://schemas.microsoft.com/office/drawing/2014/main" id="{ECF9A83E-E677-468D-B050-61F4D0E9F49B}"/>
              </a:ext>
            </a:extLst>
          </p:cNvPr>
          <p:cNvSpPr>
            <a:spLocks xmlns:a="http://schemas.openxmlformats.org/drawingml/2006/main" noGrp="1"/>
          </p:cNvSpPr>
          <p:nvPr/>
        </p:nvSpPr>
        <p:spPr>
          <a:xfrm xmlns:a="http://schemas.openxmlformats.org/drawingml/2006/main">
            <a:off x="8743950" y="2895600"/>
            <a:ext cx="104775" cy="104775"/>
          </a:xfrm>
          <a:prstGeom xmlns:a="http://schemas.openxmlformats.org/drawingml/2006/main" prst="ellipse">
            <a:avLst/>
          </a:prstGeom>
          <a:solidFill xmlns:a="http://schemas.openxmlformats.org/drawingml/2006/main">
            <a:srgbClr val="39B7A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76675D4-B1C2-4D4F-95A9-B16E05B1D45B}"/>
              </a:ext>
            </a:extLst>
          </p:cNvPr>
          <p:cNvSpPr>
            <a:spLocks xmlns:a="http://schemas.openxmlformats.org/drawingml/2006/main" noGrp="1"/>
          </p:cNvSpPr>
          <p:nvPr/>
        </p:nvSpPr>
        <p:spPr>
          <a:xfrm xmlns:a="http://schemas.openxmlformats.org/drawingml/2006/main">
            <a:off x="8972550" y="2828925"/>
            <a:ext cx="2533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Current barrier and owner</a:t>
            </a:r>
          </a:p>
        </p:txBody>
      </p:sp>
      <p:sp>
        <p:nvSpPr>
          <p:cNvPr id="13" name="">
            <a:extLst xmlns:a="http://schemas.openxmlformats.org/drawingml/2006/main">
              <a:ext uri="{FF2B5EF4-FFF2-40B4-BE49-F238E27FC236}">
                <a16:creationId xmlns:a16="http://schemas.microsoft.com/office/drawing/2014/main" id="{E81EB363-98BF-40EF-8E10-211EA6DD5EBE}"/>
              </a:ext>
            </a:extLst>
          </p:cNvPr>
          <p:cNvSpPr>
            <a:spLocks xmlns:a="http://schemas.openxmlformats.org/drawingml/2006/main" noGrp="1"/>
          </p:cNvSpPr>
          <p:nvPr/>
        </p:nvSpPr>
        <p:spPr>
          <a:xfrm xmlns:a="http://schemas.openxmlformats.org/drawingml/2006/main">
            <a:off x="8743950" y="3476625"/>
            <a:ext cx="104775" cy="104775"/>
          </a:xfrm>
          <a:prstGeom xmlns:a="http://schemas.openxmlformats.org/drawingml/2006/main" prst="ellipse">
            <a:avLst/>
          </a:prstGeom>
          <a:solidFill xmlns:a="http://schemas.openxmlformats.org/drawingml/2006/main">
            <a:srgbClr val="39B7A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B905904-6D1F-4150-989A-81FE509DD86D}"/>
              </a:ext>
            </a:extLst>
          </p:cNvPr>
          <p:cNvSpPr>
            <a:spLocks xmlns:a="http://schemas.openxmlformats.org/drawingml/2006/main" noGrp="1"/>
          </p:cNvSpPr>
          <p:nvPr/>
        </p:nvSpPr>
        <p:spPr>
          <a:xfrm xmlns:a="http://schemas.openxmlformats.org/drawingml/2006/main">
            <a:off x="8972550" y="3409950"/>
            <a:ext cx="2533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Target completion time</a:t>
            </a:r>
          </a:p>
        </p:txBody>
      </p:sp>
      <p:sp>
        <p:nvSpPr>
          <p:cNvPr id="15" name="">
            <a:extLst xmlns:a="http://schemas.openxmlformats.org/drawingml/2006/main">
              <a:ext uri="{FF2B5EF4-FFF2-40B4-BE49-F238E27FC236}">
                <a16:creationId xmlns:a16="http://schemas.microsoft.com/office/drawing/2014/main" id="{438151F5-D03D-40B1-A874-CD276F546866}"/>
              </a:ext>
            </a:extLst>
          </p:cNvPr>
          <p:cNvSpPr>
            <a:spLocks xmlns:a="http://schemas.openxmlformats.org/drawingml/2006/main" noGrp="1"/>
          </p:cNvSpPr>
          <p:nvPr/>
        </p:nvSpPr>
        <p:spPr>
          <a:xfrm xmlns:a="http://schemas.openxmlformats.org/drawingml/2006/main">
            <a:off x="8743950" y="4057650"/>
            <a:ext cx="104775" cy="104775"/>
          </a:xfrm>
          <a:prstGeom xmlns:a="http://schemas.openxmlformats.org/drawingml/2006/main" prst="ellipse">
            <a:avLst/>
          </a:prstGeom>
          <a:solidFill xmlns:a="http://schemas.openxmlformats.org/drawingml/2006/main">
            <a:srgbClr val="39B7A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37EA042-25BA-4FE4-B708-6C839CD65AEB}"/>
              </a:ext>
            </a:extLst>
          </p:cNvPr>
          <p:cNvSpPr>
            <a:spLocks xmlns:a="http://schemas.openxmlformats.org/drawingml/2006/main" noGrp="1"/>
          </p:cNvSpPr>
          <p:nvPr/>
        </p:nvSpPr>
        <p:spPr>
          <a:xfrm xmlns:a="http://schemas.openxmlformats.org/drawingml/2006/main">
            <a:off x="8972550" y="3990975"/>
            <a:ext cx="25336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Family readiness</a:t>
            </a:r>
          </a:p>
        </p:txBody>
      </p:sp>
      <p:sp>
        <p:nvSpPr>
          <p:cNvPr id="17" name="">
            <a:extLst xmlns:a="http://schemas.openxmlformats.org/drawingml/2006/main">
              <a:ext uri="{FF2B5EF4-FFF2-40B4-BE49-F238E27FC236}">
                <a16:creationId xmlns:a16="http://schemas.microsoft.com/office/drawing/2014/main" id="{890BAC36-6C2C-4C97-BEC7-825F3D419BCB}"/>
              </a:ext>
            </a:extLst>
          </p:cNvPr>
          <p:cNvSpPr>
            <a:spLocks xmlns:a="http://schemas.openxmlformats.org/drawingml/2006/main" noGrp="1"/>
          </p:cNvSpPr>
          <p:nvPr/>
        </p:nvSpPr>
        <p:spPr>
          <a:xfrm xmlns:a="http://schemas.openxmlformats.org/drawingml/2006/main">
            <a:off x="8734425" y="4953000"/>
            <a:ext cx="2076450" cy="285750"/>
          </a:xfrm>
          <a:prstGeom xmlns:a="http://schemas.openxmlformats.org/drawingml/2006/main" prst="roundRect">
            <a:avLst>
              <a:gd name="adj" fmla="val 26667"/>
            </a:avLst>
          </a:prstGeom>
          <a:solidFill xmlns:a="http://schemas.openxmlformats.org/drawingml/2006/main">
            <a:srgbClr val="EEF1F3"/>
          </a:solidFill>
          <a:ln xmlns:a="http://schemas.openxmlformats.org/drawingml/2006/main" w="9525">
            <a:solidFill>
              <a:srgbClr val="B8C1C7"/>
            </a:solidFill>
          </a:ln>
        </p:spPr>
        <p:txBody>
          <a:bodyPr xmlns:a="http://schemas.openxmlformats.org/drawingml/2006/main" lIns="57150" tIns="19050" rIns="57150" bIns="19050" anchor="ctr">
            <a:normAutofit fontScale="100000"/>
          </a:bodyPr>
          <a:lstStyle xmlns:a="http://schemas.openxmlformats.org/drawingml/2006/main"/>
          <a:p xmlns:a="http://schemas.openxmlformats.org/drawingml/2006/main">
            <a:pPr algn="ctr">
              <a:defRPr sz="788" b="1">
                <a:solidFill>
                  <a:srgbClr val="6F7E88"/>
                </a:solidFill>
                <a:latin typeface="Arial"/>
                <a:ea typeface="Arial"/>
                <a:cs typeface="Arial"/>
              </a:defRPr>
            </a:pPr>
            <a:r>
              <a:rPr sz="788" b="1">
                <a:solidFill>
                  <a:srgbClr val="6F7E88"/>
                </a:solidFill>
                <a:latin typeface="Arial"/>
                <a:ea typeface="Arial"/>
                <a:cs typeface="Arial"/>
              </a:rPr>
              <a:t>NO FULL PATIENT NAMES</a:t>
            </a:r>
          </a:p>
        </p:txBody>
      </p:sp>
      <p:sp>
        <p:nvSpPr>
          <p:cNvPr id="18" name="">
            <a:extLst xmlns:a="http://schemas.openxmlformats.org/drawingml/2006/main">
              <a:ext uri="{FF2B5EF4-FFF2-40B4-BE49-F238E27FC236}">
                <a16:creationId xmlns:a16="http://schemas.microsoft.com/office/drawing/2014/main" id="{3DBFD719-0CDC-44AD-A298-7ACE43CE7C70}"/>
              </a:ext>
            </a:extLst>
          </p:cNvPr>
          <p:cNvSpPr>
            <a:spLocks xmlns:a="http://schemas.openxmlformats.org/drawingml/2006/main" noGrp="1"/>
          </p:cNvSpPr>
          <p:nvPr/>
        </p:nvSpPr>
        <p:spPr>
          <a:xfrm xmlns:a="http://schemas.openxmlformats.org/drawingml/2006/main">
            <a:off x="8743950" y="5429250"/>
            <a:ext cx="2724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C7DCE8"/>
                </a:solidFill>
                <a:latin typeface="Arial"/>
                <a:ea typeface="Arial"/>
                <a:cs typeface="Arial"/>
              </a:defRPr>
            </a:pPr>
            <a:r>
              <a:rPr sz="1200" b="0">
                <a:solidFill>
                  <a:srgbClr val="C7DCE8"/>
                </a:solidFill>
                <a:latin typeface="Arial"/>
                <a:ea typeface="Arial"/>
                <a:cs typeface="Arial"/>
              </a:rPr>
              <a:t>Proposed sources: OPTICA and HomeFlow</a:t>
            </a:r>
          </a:p>
        </p:txBody>
      </p:sp>
      <p:sp>
        <p:nvSpPr>
          <p:cNvPr id="19" name="">
            <a:extLst xmlns:a="http://schemas.openxmlformats.org/drawingml/2006/main">
              <a:ext uri="{FF2B5EF4-FFF2-40B4-BE49-F238E27FC236}">
                <a16:creationId xmlns:a16="http://schemas.microsoft.com/office/drawing/2014/main" id="{226B9D12-4571-43A6-ADD9-F2BA74B8690A}"/>
              </a:ext>
            </a:extLst>
          </p:cNvPr>
          <p:cNvSpPr>
            <a:spLocks xmlns:a="http://schemas.openxmlformats.org/drawingml/2006/main" noGrp="1"/>
          </p:cNvSpPr>
          <p:nvPr/>
        </p:nvSpPr>
        <p:spPr>
          <a:xfrm xmlns:a="http://schemas.openxmlformats.org/drawingml/2006/main">
            <a:off x="514350" y="6515100"/>
            <a:ext cx="11163300" cy="0"/>
          </a:xfrm>
          <a:prstGeom xmlns:a="http://schemas.openxmlformats.org/drawingml/2006/main" prst="line">
            <a:avLst/>
          </a:prstGeom>
          <a:noFill xmlns:a="http://schemas.openxmlformats.org/drawingml/2006/main"/>
          <a:ln xmlns:a="http://schemas.openxmlformats.org/drawingml/2006/main" w="9525">
            <a:solidFill>
              <a:srgbClr val="54718A"/>
            </a:solidFill>
          </a:ln>
        </p:spPr>
      </p:sp>
      <p:sp>
        <p:nvSpPr>
          <p:cNvPr id="20" name="">
            <a:extLst xmlns:a="http://schemas.openxmlformats.org/drawingml/2006/main">
              <a:ext uri="{FF2B5EF4-FFF2-40B4-BE49-F238E27FC236}">
                <a16:creationId xmlns:a16="http://schemas.microsoft.com/office/drawing/2014/main" id="{32D50DEA-669A-48A4-9058-1828CD73DB00}"/>
              </a:ext>
            </a:extLst>
          </p:cNvPr>
          <p:cNvSpPr>
            <a:spLocks xmlns:a="http://schemas.openxmlformats.org/drawingml/2006/main" noGrp="1"/>
          </p:cNvSpPr>
          <p:nvPr/>
        </p:nvSpPr>
        <p:spPr>
          <a:xfrm xmlns:a="http://schemas.openxmlformats.org/drawingml/2006/main">
            <a:off x="514350" y="659130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FFFFF"/>
                </a:solidFill>
                <a:latin typeface="Arial"/>
                <a:ea typeface="Arial"/>
                <a:cs typeface="Arial"/>
              </a:defRPr>
            </a:pPr>
            <a:r>
              <a:rPr sz="825" b="1">
                <a:solidFill>
                  <a:srgbClr val="FFFFFF"/>
                </a:solidFill>
                <a:latin typeface="Arial"/>
                <a:ea typeface="Arial"/>
                <a:cs typeface="Arial"/>
              </a:rPr>
              <a:t>HomeFlow</a:t>
            </a:r>
          </a:p>
        </p:txBody>
      </p:sp>
      <p:sp>
        <p:nvSpPr>
          <p:cNvPr id="21" name="">
            <a:extLst xmlns:a="http://schemas.openxmlformats.org/drawingml/2006/main">
              <a:ext uri="{FF2B5EF4-FFF2-40B4-BE49-F238E27FC236}">
                <a16:creationId xmlns:a16="http://schemas.microsoft.com/office/drawing/2014/main" id="{2CD1899F-213E-44F2-9B3B-5AC6F80BE565}"/>
              </a:ext>
            </a:extLst>
          </p:cNvPr>
          <p:cNvSpPr>
            <a:spLocks xmlns:a="http://schemas.openxmlformats.org/drawingml/2006/main" noGrp="1"/>
          </p:cNvSpPr>
          <p:nvPr/>
        </p:nvSpPr>
        <p:spPr>
          <a:xfrm xmlns:a="http://schemas.openxmlformats.org/drawingml/2006/main">
            <a:off x="1657350" y="65913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D1E2EC"/>
                </a:solidFill>
                <a:latin typeface="Arial"/>
                <a:ea typeface="Arial"/>
                <a:cs typeface="Arial"/>
              </a:defRPr>
            </a:pPr>
            <a:r>
              <a:rPr sz="750" b="0">
                <a:solidFill>
                  <a:srgbClr val="D1E2EC"/>
                </a:solidFill>
                <a:latin typeface="Arial"/>
                <a:ea typeface="Arial"/>
                <a:cs typeface="Arial"/>
              </a:rPr>
              <a:t>Independent innovation concept</a:t>
            </a:r>
          </a:p>
        </p:txBody>
      </p:sp>
      <p:sp>
        <p:nvSpPr>
          <p:cNvPr id="22" name="">
            <a:extLst xmlns:a="http://schemas.openxmlformats.org/drawingml/2006/main">
              <a:ext uri="{FF2B5EF4-FFF2-40B4-BE49-F238E27FC236}">
                <a16:creationId xmlns:a16="http://schemas.microsoft.com/office/drawing/2014/main" id="{40A7CE6D-1BD7-40D6-911A-25F52500A610}"/>
              </a:ext>
            </a:extLst>
          </p:cNvPr>
          <p:cNvSpPr>
            <a:spLocks xmlns:a="http://schemas.openxmlformats.org/drawingml/2006/main" noGrp="1"/>
          </p:cNvSpPr>
          <p:nvPr/>
        </p:nvSpPr>
        <p:spPr>
          <a:xfrm xmlns:a="http://schemas.openxmlformats.org/drawingml/2006/main">
            <a:off x="11287125" y="6591300"/>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D1E2EC"/>
                </a:solidFill>
                <a:latin typeface="Arial"/>
                <a:ea typeface="Arial"/>
                <a:cs typeface="Arial"/>
              </a:defRPr>
            </a:pPr>
            <a:r>
              <a:rPr sz="750" b="1">
                <a:solidFill>
                  <a:srgbClr val="D1E2EC"/>
                </a:solidFill>
                <a:latin typeface="Arial"/>
                <a:ea typeface="Arial"/>
                <a:cs typeface="Arial"/>
              </a:rPr>
              <a:t>06</a:t>
            </a:r>
          </a:p>
        </p:txBody>
      </p:sp>
    </p:spTree>
    <p:extLst>
      <p:ext uri="{BB962C8B-B14F-4D97-AF65-F5344CB8AC3E}">
        <p14:creationId xmlns:p14="http://schemas.microsoft.com/office/powerpoint/2010/main" val="1886838192"/>
      </p:ext>
    </p:extLst>
  </p:cSld>
</p:sld>
</file>

<file path=ppt/slides/slide7.xml><?xml version="1.0" encoding="utf-8"?>
<p:sld xmlns:p="http://schemas.openxmlformats.org/presentationml/2006/main">
  <p:cSld>
    <p:bg>
      <p:bgPr>
        <a:solidFill xmlns:a="http://schemas.openxmlformats.org/drawingml/2006/main">
          <a:srgbClr val="F1F6F9"/>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BA5372B-E498-4DBF-B826-1609CFE2D18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005EB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A5E3AEC-5E6F-4283-9108-8A09C400911C}"/>
              </a:ext>
            </a:extLst>
          </p:cNvPr>
          <p:cNvSpPr>
            <a:spLocks xmlns:a="http://schemas.openxmlformats.org/drawingml/2006/main" noGrp="1"/>
          </p:cNvSpPr>
          <p:nvPr/>
        </p:nvSpPr>
        <p:spPr>
          <a:xfrm xmlns:a="http://schemas.openxmlformats.org/drawingml/2006/main">
            <a:off x="514350" y="3714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005EB8"/>
                </a:solidFill>
                <a:latin typeface="Arial"/>
                <a:ea typeface="Arial"/>
                <a:cs typeface="Arial"/>
              </a:defRPr>
            </a:pPr>
            <a:r>
              <a:rPr sz="1125" b="1">
                <a:solidFill>
                  <a:srgbClr val="005EB8"/>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CF1BB8F1-87EA-4974-968A-9FC87C5B8168}"/>
              </a:ext>
            </a:extLst>
          </p:cNvPr>
          <p:cNvSpPr>
            <a:spLocks xmlns:a="http://schemas.openxmlformats.org/drawingml/2006/main" noGrp="1"/>
          </p:cNvSpPr>
          <p:nvPr/>
        </p:nvSpPr>
        <p:spPr>
          <a:xfrm xmlns:a="http://schemas.openxmlformats.org/drawingml/2006/main">
            <a:off x="1047750" y="28575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12304A"/>
                </a:solidFill>
                <a:latin typeface="Arial"/>
                <a:ea typeface="Arial"/>
                <a:cs typeface="Arial"/>
              </a:defRPr>
            </a:pPr>
            <a:r>
              <a:rPr sz="2550" b="1">
                <a:solidFill>
                  <a:srgbClr val="12304A"/>
                </a:solidFill>
                <a:latin typeface="Arial"/>
                <a:ea typeface="Arial"/>
                <a:cs typeface="Arial"/>
              </a:rPr>
              <a:t>Pilot and ask</a:t>
            </a:r>
          </a:p>
        </p:txBody>
      </p:sp>
      <p:sp>
        <p:nvSpPr>
          <p:cNvPr id="4" name="">
            <a:extLst xmlns:a="http://schemas.openxmlformats.org/drawingml/2006/main">
              <a:ext uri="{FF2B5EF4-FFF2-40B4-BE49-F238E27FC236}">
                <a16:creationId xmlns:a16="http://schemas.microsoft.com/office/drawing/2014/main" id="{296E33C4-AD27-4463-81C7-BA355EFEF9AD}"/>
              </a:ext>
            </a:extLst>
          </p:cNvPr>
          <p:cNvSpPr>
            <a:spLocks xmlns:a="http://schemas.openxmlformats.org/drawingml/2006/main" noGrp="1"/>
          </p:cNvSpPr>
          <p:nvPr/>
        </p:nvSpPr>
        <p:spPr>
          <a:xfrm xmlns:a="http://schemas.openxmlformats.org/drawingml/2006/main">
            <a:off x="1066800" y="80010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1788A"/>
                </a:solidFill>
                <a:latin typeface="Arial"/>
                <a:ea typeface="Arial"/>
                <a:cs typeface="Arial"/>
              </a:defRPr>
            </a:pPr>
            <a:r>
              <a:rPr sz="1275" b="0">
                <a:solidFill>
                  <a:srgbClr val="61788A"/>
                </a:solidFill>
                <a:latin typeface="Arial"/>
                <a:ea typeface="Arial"/>
                <a:cs typeface="Arial"/>
              </a:rPr>
              <a:t>One ward, 8 to 12 weeks, with clear measures</a:t>
            </a:r>
          </a:p>
        </p:txBody>
      </p:sp>
      <p:sp>
        <p:nvSpPr>
          <p:cNvPr id="5" name="">
            <a:extLst xmlns:a="http://schemas.openxmlformats.org/drawingml/2006/main">
              <a:ext uri="{FF2B5EF4-FFF2-40B4-BE49-F238E27FC236}">
                <a16:creationId xmlns:a16="http://schemas.microsoft.com/office/drawing/2014/main" id="{3CBF8E5B-7019-49DB-A6FB-8588AB1274AB}"/>
              </a:ext>
            </a:extLst>
          </p:cNvPr>
          <p:cNvSpPr>
            <a:spLocks xmlns:a="http://schemas.openxmlformats.org/drawingml/2006/main" noGrp="1"/>
          </p:cNvSpPr>
          <p:nvPr/>
        </p:nvSpPr>
        <p:spPr>
          <a:xfrm xmlns:a="http://schemas.openxmlformats.org/drawingml/2006/main">
            <a:off x="514350" y="1133475"/>
            <a:ext cx="11163300" cy="0"/>
          </a:xfrm>
          <a:prstGeom xmlns:a="http://schemas.openxmlformats.org/drawingml/2006/main" prst="line">
            <a:avLst/>
          </a:prstGeom>
          <a:noFill xmlns:a="http://schemas.openxmlformats.org/drawingml/2006/main"/>
          <a:ln xmlns:a="http://schemas.openxmlformats.org/drawingml/2006/main" w="9525">
            <a:solidFill>
              <a:srgbClr val="D4E0E7"/>
            </a:solidFill>
          </a:ln>
        </p:spPr>
      </p:sp>
      <p:sp>
        <p:nvSpPr>
          <p:cNvPr id="6" name="">
            <a:extLst xmlns:a="http://schemas.openxmlformats.org/drawingml/2006/main">
              <a:ext uri="{FF2B5EF4-FFF2-40B4-BE49-F238E27FC236}">
                <a16:creationId xmlns:a16="http://schemas.microsoft.com/office/drawing/2014/main" id="{DE2EEDF7-6C44-4C73-AA0D-EB4B01237901}"/>
              </a:ext>
            </a:extLst>
          </p:cNvPr>
          <p:cNvSpPr>
            <a:spLocks xmlns:a="http://schemas.openxmlformats.org/drawingml/2006/main" noGrp="1"/>
          </p:cNvSpPr>
          <p:nvPr/>
        </p:nvSpPr>
        <p:spPr>
          <a:xfrm xmlns:a="http://schemas.openxmlformats.org/drawingml/2006/main">
            <a:off x="9477375" y="400050"/>
            <a:ext cx="2190750" cy="285750"/>
          </a:xfrm>
          <a:prstGeom xmlns:a="http://schemas.openxmlformats.org/drawingml/2006/main" prst="roundRect">
            <a:avLst>
              <a:gd name="adj" fmla="val 40000"/>
            </a:avLst>
          </a:prstGeom>
          <a:solidFill xmlns:a="http://schemas.openxmlformats.org/drawingml/2006/main">
            <a:srgbClr val="FFF4CE"/>
          </a:solidFill>
          <a:ln xmlns:a="http://schemas.openxmlformats.org/drawingml/2006/main" w="9525">
            <a:solidFill>
              <a:srgbClr val="E7CA73"/>
            </a:solidFill>
          </a:ln>
        </p:spPr>
        <p:txBody>
          <a:bodyPr xmlns:a="http://schemas.openxmlformats.org/drawingml/2006/main" lIns="76200" tIns="19050" rIns="76200" bIns="19050" anchor="ctr">
            <a:normAutofit fontScale="91137"/>
          </a:bodyPr>
          <a:lstStyle xmlns:a="http://schemas.openxmlformats.org/drawingml/2006/main"/>
          <a:p xmlns:a="http://schemas.openxmlformats.org/drawingml/2006/main">
            <a:pPr algn="ctr">
              <a:defRPr sz="788" b="1">
                <a:solidFill>
                  <a:srgbClr val="665000"/>
                </a:solidFill>
                <a:latin typeface="Arial"/>
                <a:ea typeface="Arial"/>
                <a:cs typeface="Arial"/>
              </a:defRPr>
            </a:pPr>
            <a:r>
              <a:rPr sz="788" b="1">
                <a:solidFill>
                  <a:srgbClr val="665000"/>
                </a:solidFill>
                <a:latin typeface="Arial"/>
                <a:ea typeface="Arial"/>
                <a:cs typeface="Arial"/>
              </a:rPr>
              <a:t>PROTOTYPE / DEMONSTRATION DATA ONLY</a:t>
            </a:r>
          </a:p>
        </p:txBody>
      </p:sp>
      <p:sp>
        <p:nvSpPr>
          <p:cNvPr id="7" name="">
            <a:extLst xmlns:a="http://schemas.openxmlformats.org/drawingml/2006/main">
              <a:ext uri="{FF2B5EF4-FFF2-40B4-BE49-F238E27FC236}">
                <a16:creationId xmlns:a16="http://schemas.microsoft.com/office/drawing/2014/main" id="{2457D959-44BD-4534-9B9A-24C53E82FD5D}"/>
              </a:ext>
            </a:extLst>
          </p:cNvPr>
          <p:cNvSpPr>
            <a:spLocks xmlns:a="http://schemas.openxmlformats.org/drawingml/2006/main" noGrp="1"/>
          </p:cNvSpPr>
          <p:nvPr/>
        </p:nvSpPr>
        <p:spPr>
          <a:xfrm xmlns:a="http://schemas.openxmlformats.org/drawingml/2006/main">
            <a:off x="552450" y="1504950"/>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2304A"/>
                </a:solidFill>
                <a:latin typeface="Arial"/>
                <a:ea typeface="Arial"/>
                <a:cs typeface="Arial"/>
              </a:defRPr>
            </a:pPr>
            <a:r>
              <a:rPr sz="1950" b="1">
                <a:solidFill>
                  <a:srgbClr val="12304A"/>
                </a:solidFill>
                <a:latin typeface="Arial"/>
                <a:ea typeface="Arial"/>
                <a:cs typeface="Arial"/>
              </a:rPr>
              <a:t>What we would test</a:t>
            </a:r>
          </a:p>
        </p:txBody>
      </p:sp>
      <p:sp>
        <p:nvSpPr>
          <p:cNvPr id="8" name="">
            <a:extLst xmlns:a="http://schemas.openxmlformats.org/drawingml/2006/main">
              <a:ext uri="{FF2B5EF4-FFF2-40B4-BE49-F238E27FC236}">
                <a16:creationId xmlns:a16="http://schemas.microsoft.com/office/drawing/2014/main" id="{DCB1655B-FC54-4508-887A-A340CA5091E9}"/>
              </a:ext>
            </a:extLst>
          </p:cNvPr>
          <p:cNvSpPr>
            <a:spLocks xmlns:a="http://schemas.openxmlformats.org/drawingml/2006/main" noGrp="1"/>
          </p:cNvSpPr>
          <p:nvPr/>
        </p:nvSpPr>
        <p:spPr>
          <a:xfrm xmlns:a="http://schemas.openxmlformats.org/drawingml/2006/main">
            <a:off x="590550" y="2143125"/>
            <a:ext cx="104775" cy="104775"/>
          </a:xfrm>
          <a:prstGeom xmlns:a="http://schemas.openxmlformats.org/drawingml/2006/main" prst="ellipse">
            <a:avLst/>
          </a:prstGeom>
          <a:solidFill xmlns:a="http://schemas.openxmlformats.org/drawingml/2006/main">
            <a:srgbClr val="005EB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95E8A4E-15DE-4A68-9F4C-745F2338D250}"/>
              </a:ext>
            </a:extLst>
          </p:cNvPr>
          <p:cNvSpPr>
            <a:spLocks xmlns:a="http://schemas.openxmlformats.org/drawingml/2006/main" noGrp="1"/>
          </p:cNvSpPr>
          <p:nvPr/>
        </p:nvSpPr>
        <p:spPr>
          <a:xfrm xmlns:a="http://schemas.openxmlformats.org/drawingml/2006/main">
            <a:off x="819150" y="2076450"/>
            <a:ext cx="3867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13" b="0">
                <a:solidFill>
                  <a:srgbClr val="163247"/>
                </a:solidFill>
                <a:latin typeface="Arial"/>
                <a:ea typeface="Arial"/>
                <a:cs typeface="Arial"/>
              </a:defRPr>
            </a:pPr>
            <a:r>
              <a:rPr sz="1313" b="0">
                <a:solidFill>
                  <a:srgbClr val="163247"/>
                </a:solidFill>
                <a:latin typeface="Arial"/>
                <a:ea typeface="Arial"/>
                <a:cs typeface="Arial"/>
              </a:rPr>
              <a:t>Discharge-ready to leaving time</a:t>
            </a:r>
          </a:p>
        </p:txBody>
      </p:sp>
      <p:sp>
        <p:nvSpPr>
          <p:cNvPr id="10" name="">
            <a:extLst xmlns:a="http://schemas.openxmlformats.org/drawingml/2006/main">
              <a:ext uri="{FF2B5EF4-FFF2-40B4-BE49-F238E27FC236}">
                <a16:creationId xmlns:a16="http://schemas.microsoft.com/office/drawing/2014/main" id="{83141959-653F-4417-9DE5-2D31BBC5F07A}"/>
              </a:ext>
            </a:extLst>
          </p:cNvPr>
          <p:cNvSpPr>
            <a:spLocks xmlns:a="http://schemas.openxmlformats.org/drawingml/2006/main" noGrp="1"/>
          </p:cNvSpPr>
          <p:nvPr/>
        </p:nvSpPr>
        <p:spPr>
          <a:xfrm xmlns:a="http://schemas.openxmlformats.org/drawingml/2006/main">
            <a:off x="590550" y="2619375"/>
            <a:ext cx="104775" cy="104775"/>
          </a:xfrm>
          <a:prstGeom xmlns:a="http://schemas.openxmlformats.org/drawingml/2006/main" prst="ellipse">
            <a:avLst/>
          </a:prstGeom>
          <a:solidFill xmlns:a="http://schemas.openxmlformats.org/drawingml/2006/main">
            <a:srgbClr val="005EB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E5CE1D1-3753-4F62-AA4C-90A1B9142328}"/>
              </a:ext>
            </a:extLst>
          </p:cNvPr>
          <p:cNvSpPr>
            <a:spLocks xmlns:a="http://schemas.openxmlformats.org/drawingml/2006/main" noGrp="1"/>
          </p:cNvSpPr>
          <p:nvPr/>
        </p:nvSpPr>
        <p:spPr>
          <a:xfrm xmlns:a="http://schemas.openxmlformats.org/drawingml/2006/main">
            <a:off x="819150" y="2552700"/>
            <a:ext cx="3867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13" b="0">
                <a:solidFill>
                  <a:srgbClr val="163247"/>
                </a:solidFill>
                <a:latin typeface="Arial"/>
                <a:ea typeface="Arial"/>
                <a:cs typeface="Arial"/>
              </a:defRPr>
            </a:pPr>
            <a:r>
              <a:rPr sz="1313" b="0">
                <a:solidFill>
                  <a:srgbClr val="163247"/>
                </a:solidFill>
                <a:latin typeface="Arial"/>
                <a:ea typeface="Arial"/>
                <a:cs typeface="Arial"/>
              </a:rPr>
              <a:t>Delayed discharges and common barriers</a:t>
            </a:r>
          </a:p>
        </p:txBody>
      </p:sp>
      <p:sp>
        <p:nvSpPr>
          <p:cNvPr id="12" name="">
            <a:extLst xmlns:a="http://schemas.openxmlformats.org/drawingml/2006/main">
              <a:ext uri="{FF2B5EF4-FFF2-40B4-BE49-F238E27FC236}">
                <a16:creationId xmlns:a16="http://schemas.microsoft.com/office/drawing/2014/main" id="{69A24832-6A42-4EE0-91D1-514B4D61E8A8}"/>
              </a:ext>
            </a:extLst>
          </p:cNvPr>
          <p:cNvSpPr>
            <a:spLocks xmlns:a="http://schemas.openxmlformats.org/drawingml/2006/main" noGrp="1"/>
          </p:cNvSpPr>
          <p:nvPr/>
        </p:nvSpPr>
        <p:spPr>
          <a:xfrm xmlns:a="http://schemas.openxmlformats.org/drawingml/2006/main">
            <a:off x="590550" y="3095625"/>
            <a:ext cx="104775" cy="104775"/>
          </a:xfrm>
          <a:prstGeom xmlns:a="http://schemas.openxmlformats.org/drawingml/2006/main" prst="ellipse">
            <a:avLst/>
          </a:prstGeom>
          <a:solidFill xmlns:a="http://schemas.openxmlformats.org/drawingml/2006/main">
            <a:srgbClr val="005EB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CFC0D84-0232-4315-B263-CB700D9E875B}"/>
              </a:ext>
            </a:extLst>
          </p:cNvPr>
          <p:cNvSpPr>
            <a:spLocks xmlns:a="http://schemas.openxmlformats.org/drawingml/2006/main" noGrp="1"/>
          </p:cNvSpPr>
          <p:nvPr/>
        </p:nvSpPr>
        <p:spPr>
          <a:xfrm xmlns:a="http://schemas.openxmlformats.org/drawingml/2006/main">
            <a:off x="819150" y="3028950"/>
            <a:ext cx="3867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13" b="0">
                <a:solidFill>
                  <a:srgbClr val="163247"/>
                </a:solidFill>
                <a:latin typeface="Arial"/>
                <a:ea typeface="Arial"/>
                <a:cs typeface="Arial"/>
              </a:defRPr>
            </a:pPr>
            <a:r>
              <a:rPr sz="1313" b="0">
                <a:solidFill>
                  <a:srgbClr val="163247"/>
                </a:solidFill>
                <a:latin typeface="Arial"/>
                <a:ea typeface="Arial"/>
                <a:cs typeface="Arial"/>
              </a:rPr>
              <a:t>Discharge time of day</a:t>
            </a:r>
          </a:p>
        </p:txBody>
      </p:sp>
      <p:sp>
        <p:nvSpPr>
          <p:cNvPr id="14" name="">
            <a:extLst xmlns:a="http://schemas.openxmlformats.org/drawingml/2006/main">
              <a:ext uri="{FF2B5EF4-FFF2-40B4-BE49-F238E27FC236}">
                <a16:creationId xmlns:a16="http://schemas.microsoft.com/office/drawing/2014/main" id="{5C7494C1-B294-4C7F-BBC0-C2615402ABF6}"/>
              </a:ext>
            </a:extLst>
          </p:cNvPr>
          <p:cNvSpPr>
            <a:spLocks xmlns:a="http://schemas.openxmlformats.org/drawingml/2006/main" noGrp="1"/>
          </p:cNvSpPr>
          <p:nvPr/>
        </p:nvSpPr>
        <p:spPr>
          <a:xfrm xmlns:a="http://schemas.openxmlformats.org/drawingml/2006/main">
            <a:off x="590550" y="3571875"/>
            <a:ext cx="104775" cy="104775"/>
          </a:xfrm>
          <a:prstGeom xmlns:a="http://schemas.openxmlformats.org/drawingml/2006/main" prst="ellipse">
            <a:avLst/>
          </a:prstGeom>
          <a:solidFill xmlns:a="http://schemas.openxmlformats.org/drawingml/2006/main">
            <a:srgbClr val="005EB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84A6FD7-A835-469A-B58F-C8AA3DB2D15C}"/>
              </a:ext>
            </a:extLst>
          </p:cNvPr>
          <p:cNvSpPr>
            <a:spLocks xmlns:a="http://schemas.openxmlformats.org/drawingml/2006/main" noGrp="1"/>
          </p:cNvSpPr>
          <p:nvPr/>
        </p:nvSpPr>
        <p:spPr>
          <a:xfrm xmlns:a="http://schemas.openxmlformats.org/drawingml/2006/main">
            <a:off x="819150" y="3505200"/>
            <a:ext cx="3867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13" b="0">
                <a:solidFill>
                  <a:srgbClr val="163247"/>
                </a:solidFill>
                <a:latin typeface="Arial"/>
                <a:ea typeface="Arial"/>
                <a:cs typeface="Arial"/>
              </a:defRPr>
            </a:pPr>
            <a:r>
              <a:rPr sz="1313" b="0">
                <a:solidFill>
                  <a:srgbClr val="163247"/>
                </a:solidFill>
                <a:latin typeface="Arial"/>
                <a:ea typeface="Arial"/>
                <a:cs typeface="Arial"/>
              </a:rPr>
              <a:t>Family readiness</a:t>
            </a:r>
          </a:p>
        </p:txBody>
      </p:sp>
      <p:sp>
        <p:nvSpPr>
          <p:cNvPr id="16" name="">
            <a:extLst xmlns:a="http://schemas.openxmlformats.org/drawingml/2006/main">
              <a:ext uri="{FF2B5EF4-FFF2-40B4-BE49-F238E27FC236}">
                <a16:creationId xmlns:a16="http://schemas.microsoft.com/office/drawing/2014/main" id="{652AD83B-0642-46F6-807F-1FDAA66A3C09}"/>
              </a:ext>
            </a:extLst>
          </p:cNvPr>
          <p:cNvSpPr>
            <a:spLocks xmlns:a="http://schemas.openxmlformats.org/drawingml/2006/main" noGrp="1"/>
          </p:cNvSpPr>
          <p:nvPr/>
        </p:nvSpPr>
        <p:spPr>
          <a:xfrm xmlns:a="http://schemas.openxmlformats.org/drawingml/2006/main">
            <a:off x="590550" y="4048125"/>
            <a:ext cx="104775" cy="104775"/>
          </a:xfrm>
          <a:prstGeom xmlns:a="http://schemas.openxmlformats.org/drawingml/2006/main" prst="ellipse">
            <a:avLst/>
          </a:prstGeom>
          <a:solidFill xmlns:a="http://schemas.openxmlformats.org/drawingml/2006/main">
            <a:srgbClr val="005EB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CACE00E-791D-427B-BAC9-AF53C39346C1}"/>
              </a:ext>
            </a:extLst>
          </p:cNvPr>
          <p:cNvSpPr>
            <a:spLocks xmlns:a="http://schemas.openxmlformats.org/drawingml/2006/main" noGrp="1"/>
          </p:cNvSpPr>
          <p:nvPr/>
        </p:nvSpPr>
        <p:spPr>
          <a:xfrm xmlns:a="http://schemas.openxmlformats.org/drawingml/2006/main">
            <a:off x="819150" y="3981450"/>
            <a:ext cx="3867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13" b="0">
                <a:solidFill>
                  <a:srgbClr val="163247"/>
                </a:solidFill>
                <a:latin typeface="Arial"/>
                <a:ea typeface="Arial"/>
                <a:cs typeface="Arial"/>
              </a:defRPr>
            </a:pPr>
            <a:r>
              <a:rPr sz="1313" b="0">
                <a:solidFill>
                  <a:srgbClr val="163247"/>
                </a:solidFill>
                <a:latin typeface="Arial"/>
                <a:ea typeface="Arial"/>
                <a:cs typeface="Arial"/>
              </a:rPr>
              <a:t>Staff feedback</a:t>
            </a:r>
          </a:p>
        </p:txBody>
      </p:sp>
      <p:sp>
        <p:nvSpPr>
          <p:cNvPr id="18" name="">
            <a:extLst xmlns:a="http://schemas.openxmlformats.org/drawingml/2006/main">
              <a:ext uri="{FF2B5EF4-FFF2-40B4-BE49-F238E27FC236}">
                <a16:creationId xmlns:a16="http://schemas.microsoft.com/office/drawing/2014/main" id="{E75FEDC0-C1A0-4B28-ACA2-67595BE5CD45}"/>
              </a:ext>
            </a:extLst>
          </p:cNvPr>
          <p:cNvSpPr>
            <a:spLocks xmlns:a="http://schemas.openxmlformats.org/drawingml/2006/main" noGrp="1"/>
          </p:cNvSpPr>
          <p:nvPr/>
        </p:nvSpPr>
        <p:spPr>
          <a:xfrm xmlns:a="http://schemas.openxmlformats.org/drawingml/2006/main">
            <a:off x="552450" y="4819650"/>
            <a:ext cx="4238625" cy="1190625"/>
          </a:xfrm>
          <a:prstGeom xmlns:a="http://schemas.openxmlformats.org/drawingml/2006/main" prst="roundRect">
            <a:avLst>
              <a:gd name="adj" fmla="val 11200"/>
            </a:avLst>
          </a:prstGeom>
          <a:solidFill xmlns:a="http://schemas.openxmlformats.org/drawingml/2006/main">
            <a:srgbClr val="12304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68105BC-F331-494F-A2F3-178CCB05D643}"/>
              </a:ext>
            </a:extLst>
          </p:cNvPr>
          <p:cNvSpPr>
            <a:spLocks xmlns:a="http://schemas.openxmlformats.org/drawingml/2006/main" noGrp="1"/>
          </p:cNvSpPr>
          <p:nvPr/>
        </p:nvSpPr>
        <p:spPr>
          <a:xfrm xmlns:a="http://schemas.openxmlformats.org/drawingml/2006/main">
            <a:off x="800100" y="5048250"/>
            <a:ext cx="95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39B7A0"/>
                </a:solidFill>
                <a:latin typeface="Arial"/>
                <a:ea typeface="Arial"/>
                <a:cs typeface="Arial"/>
              </a:defRPr>
            </a:pPr>
            <a:r>
              <a:rPr sz="975" b="1">
                <a:solidFill>
                  <a:srgbClr val="39B7A0"/>
                </a:solidFill>
                <a:latin typeface="Arial"/>
                <a:ea typeface="Arial"/>
                <a:cs typeface="Arial"/>
              </a:rPr>
              <a:t>THE ASK</a:t>
            </a:r>
          </a:p>
        </p:txBody>
      </p:sp>
      <p:sp>
        <p:nvSpPr>
          <p:cNvPr id="20" name="">
            <a:extLst xmlns:a="http://schemas.openxmlformats.org/drawingml/2006/main">
              <a:ext uri="{FF2B5EF4-FFF2-40B4-BE49-F238E27FC236}">
                <a16:creationId xmlns:a16="http://schemas.microsoft.com/office/drawing/2014/main" id="{AB6029F4-4D45-412E-B189-84356CA22D96}"/>
              </a:ext>
            </a:extLst>
          </p:cNvPr>
          <p:cNvSpPr>
            <a:spLocks xmlns:a="http://schemas.openxmlformats.org/drawingml/2006/main" noGrp="1"/>
          </p:cNvSpPr>
          <p:nvPr/>
        </p:nvSpPr>
        <p:spPr>
          <a:xfrm xmlns:a="http://schemas.openxmlformats.org/drawingml/2006/main">
            <a:off x="800100" y="5353050"/>
            <a:ext cx="371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Support a small HomeFlow pilot with Digital, discharge teams and ward staff</a:t>
            </a:r>
          </a:p>
        </p:txBody>
      </p:sp>
      <p:sp>
        <p:nvSpPr>
          <p:cNvPr id="21" name="">
            <a:extLst xmlns:a="http://schemas.openxmlformats.org/drawingml/2006/main">
              <a:ext uri="{FF2B5EF4-FFF2-40B4-BE49-F238E27FC236}">
                <a16:creationId xmlns:a16="http://schemas.microsoft.com/office/drawing/2014/main" id="{60D39746-6701-4BB7-BA75-96815798ED2D}"/>
              </a:ext>
            </a:extLst>
          </p:cNvPr>
          <p:cNvSpPr>
            <a:spLocks xmlns:a="http://schemas.openxmlformats.org/drawingml/2006/main" noGrp="1"/>
          </p:cNvSpPr>
          <p:nvPr/>
        </p:nvSpPr>
        <p:spPr>
          <a:xfrm xmlns:a="http://schemas.openxmlformats.org/drawingml/2006/main">
            <a:off x="5143500" y="1390650"/>
            <a:ext cx="6610350" cy="4724400"/>
          </a:xfrm>
          <a:prstGeom xmlns:a="http://schemas.openxmlformats.org/drawingml/2006/main" prst="roundRect">
            <a:avLst>
              <a:gd name="adj" fmla="val 3629"/>
            </a:avLst>
          </a:prstGeom>
          <a:solidFill xmlns:a="http://schemas.openxmlformats.org/drawingml/2006/main">
            <a:srgbClr val="FFFFFF"/>
          </a:solidFill>
          <a:ln xmlns:a="http://schemas.openxmlformats.org/drawingml/2006/main" w="9525">
            <a:solidFill>
              <a:srgbClr val="D4E0E7"/>
            </a:solidFill>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717f2d18dcc14a64"/>
          <a:srcRect xmlns:a="http://schemas.openxmlformats.org/drawingml/2006/main" l="0" t="3660" r="0" b="3660"/>
          <a:stretch xmlns:a="http://schemas.openxmlformats.org/drawingml/2006/main">
            <a:fillRect l="0" t="0" r="0" b="0"/>
          </a:stretch>
        </p:blipFill>
        <p:spPr>
          <a:xfrm xmlns:a="http://schemas.openxmlformats.org/drawingml/2006/main">
            <a:off x="5219700" y="1466850"/>
            <a:ext cx="6457950" cy="4572000"/>
          </a:xfrm>
          <a:prstGeom xmlns:a="http://schemas.openxmlformats.org/drawingml/2006/main" prst="roundRect">
            <a:avLst>
              <a:gd name="adj" fmla="val 2500"/>
            </a:avLst>
          </a:prstGeom>
        </p:spPr>
      </p:pic>
      <p:sp>
        <p:nvSpPr>
          <p:cNvPr id="23" name="">
            <a:extLst xmlns:a="http://schemas.openxmlformats.org/drawingml/2006/main">
              <a:ext uri="{FF2B5EF4-FFF2-40B4-BE49-F238E27FC236}">
                <a16:creationId xmlns:a16="http://schemas.microsoft.com/office/drawing/2014/main" id="{A09268C9-11CC-4851-BB36-3337191A7214}"/>
              </a:ext>
            </a:extLst>
          </p:cNvPr>
          <p:cNvSpPr>
            <a:spLocks xmlns:a="http://schemas.openxmlformats.org/drawingml/2006/main" noGrp="1"/>
          </p:cNvSpPr>
          <p:nvPr/>
        </p:nvSpPr>
        <p:spPr>
          <a:xfrm xmlns:a="http://schemas.openxmlformats.org/drawingml/2006/main">
            <a:off x="8286750" y="5657850"/>
            <a:ext cx="3028950" cy="285750"/>
          </a:xfrm>
          <a:prstGeom xmlns:a="http://schemas.openxmlformats.org/drawingml/2006/main" prst="roundRect">
            <a:avLst>
              <a:gd name="adj" fmla="val 26667"/>
            </a:avLst>
          </a:prstGeom>
          <a:solidFill xmlns:a="http://schemas.openxmlformats.org/drawingml/2006/main">
            <a:srgbClr val="EAF4FB"/>
          </a:solidFill>
          <a:ln xmlns:a="http://schemas.openxmlformats.org/drawingml/2006/main" w="9525">
            <a:solidFill>
              <a:srgbClr val="8DBCDC"/>
            </a:solidFill>
          </a:ln>
        </p:spPr>
        <p:txBody>
          <a:bodyPr xmlns:a="http://schemas.openxmlformats.org/drawingml/2006/main" lIns="57150" tIns="19050" rIns="57150" bIns="19050" anchor="ctr">
            <a:normAutofit fontScale="100000"/>
          </a:bodyPr>
          <a:lstStyle xmlns:a="http://schemas.openxmlformats.org/drawingml/2006/main"/>
          <a:p xmlns:a="http://schemas.openxmlformats.org/drawingml/2006/main">
            <a:pPr algn="ctr">
              <a:defRPr sz="788" b="1">
                <a:solidFill>
                  <a:srgbClr val="005EB8"/>
                </a:solidFill>
                <a:latin typeface="Arial"/>
                <a:ea typeface="Arial"/>
                <a:cs typeface="Arial"/>
              </a:defRPr>
            </a:pPr>
            <a:r>
              <a:rPr sz="788" b="1">
                <a:solidFill>
                  <a:srgbClr val="005EB8"/>
                </a:solidFill>
                <a:latin typeface="Arial"/>
                <a:ea typeface="Arial"/>
                <a:cs typeface="Arial"/>
              </a:rPr>
              <a:t>USE EXISTING TECHNOLOGY WHERE POSSIBLE</a:t>
            </a:r>
          </a:p>
        </p:txBody>
      </p:sp>
      <p:sp>
        <p:nvSpPr>
          <p:cNvPr id="24" name="">
            <a:extLst xmlns:a="http://schemas.openxmlformats.org/drawingml/2006/main">
              <a:ext uri="{FF2B5EF4-FFF2-40B4-BE49-F238E27FC236}">
                <a16:creationId xmlns:a16="http://schemas.microsoft.com/office/drawing/2014/main" id="{839ADF14-9731-440F-A039-DF8DD7013E92}"/>
              </a:ext>
            </a:extLst>
          </p:cNvPr>
          <p:cNvSpPr>
            <a:spLocks xmlns:a="http://schemas.openxmlformats.org/drawingml/2006/main" noGrp="1"/>
          </p:cNvSpPr>
          <p:nvPr/>
        </p:nvSpPr>
        <p:spPr>
          <a:xfrm xmlns:a="http://schemas.openxmlformats.org/drawingml/2006/main">
            <a:off x="514350" y="6515100"/>
            <a:ext cx="11163300" cy="0"/>
          </a:xfrm>
          <a:prstGeom xmlns:a="http://schemas.openxmlformats.org/drawingml/2006/main" prst="line">
            <a:avLst/>
          </a:prstGeom>
          <a:noFill xmlns:a="http://schemas.openxmlformats.org/drawingml/2006/main"/>
          <a:ln xmlns:a="http://schemas.openxmlformats.org/drawingml/2006/main" w="9525">
            <a:solidFill>
              <a:srgbClr val="D4E0E7"/>
            </a:solidFill>
          </a:ln>
        </p:spPr>
      </p:sp>
      <p:sp>
        <p:nvSpPr>
          <p:cNvPr id="25" name="">
            <a:extLst xmlns:a="http://schemas.openxmlformats.org/drawingml/2006/main">
              <a:ext uri="{FF2B5EF4-FFF2-40B4-BE49-F238E27FC236}">
                <a16:creationId xmlns:a16="http://schemas.microsoft.com/office/drawing/2014/main" id="{A7D0F0B5-8ED2-4F24-88A1-5985F06B9A30}"/>
              </a:ext>
            </a:extLst>
          </p:cNvPr>
          <p:cNvSpPr>
            <a:spLocks xmlns:a="http://schemas.openxmlformats.org/drawingml/2006/main" noGrp="1"/>
          </p:cNvSpPr>
          <p:nvPr/>
        </p:nvSpPr>
        <p:spPr>
          <a:xfrm xmlns:a="http://schemas.openxmlformats.org/drawingml/2006/main">
            <a:off x="514350" y="659130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005EB8"/>
                </a:solidFill>
                <a:latin typeface="Arial"/>
                <a:ea typeface="Arial"/>
                <a:cs typeface="Arial"/>
              </a:defRPr>
            </a:pPr>
            <a:r>
              <a:rPr sz="825" b="1">
                <a:solidFill>
                  <a:srgbClr val="005EB8"/>
                </a:solidFill>
                <a:latin typeface="Arial"/>
                <a:ea typeface="Arial"/>
                <a:cs typeface="Arial"/>
              </a:rPr>
              <a:t>HomeFlow</a:t>
            </a:r>
          </a:p>
        </p:txBody>
      </p:sp>
      <p:sp>
        <p:nvSpPr>
          <p:cNvPr id="26" name="">
            <a:extLst xmlns:a="http://schemas.openxmlformats.org/drawingml/2006/main">
              <a:ext uri="{FF2B5EF4-FFF2-40B4-BE49-F238E27FC236}">
                <a16:creationId xmlns:a16="http://schemas.microsoft.com/office/drawing/2014/main" id="{8AD0FF90-88BC-4537-B30D-0F2288ACB1E3}"/>
              </a:ext>
            </a:extLst>
          </p:cNvPr>
          <p:cNvSpPr>
            <a:spLocks xmlns:a="http://schemas.openxmlformats.org/drawingml/2006/main" noGrp="1"/>
          </p:cNvSpPr>
          <p:nvPr/>
        </p:nvSpPr>
        <p:spPr>
          <a:xfrm xmlns:a="http://schemas.openxmlformats.org/drawingml/2006/main">
            <a:off x="1657350" y="65913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1788A"/>
                </a:solidFill>
                <a:latin typeface="Arial"/>
                <a:ea typeface="Arial"/>
                <a:cs typeface="Arial"/>
              </a:defRPr>
            </a:pPr>
            <a:r>
              <a:rPr sz="750" b="0">
                <a:solidFill>
                  <a:srgbClr val="61788A"/>
                </a:solidFill>
                <a:latin typeface="Arial"/>
                <a:ea typeface="Arial"/>
                <a:cs typeface="Arial"/>
              </a:rPr>
              <a:t>Independent innovation concept</a:t>
            </a:r>
          </a:p>
        </p:txBody>
      </p:sp>
      <p:sp>
        <p:nvSpPr>
          <p:cNvPr id="27" name="">
            <a:extLst xmlns:a="http://schemas.openxmlformats.org/drawingml/2006/main">
              <a:ext uri="{FF2B5EF4-FFF2-40B4-BE49-F238E27FC236}">
                <a16:creationId xmlns:a16="http://schemas.microsoft.com/office/drawing/2014/main" id="{1925AEF2-FF7A-4EA3-8161-CD19FBD25328}"/>
              </a:ext>
            </a:extLst>
          </p:cNvPr>
          <p:cNvSpPr>
            <a:spLocks xmlns:a="http://schemas.openxmlformats.org/drawingml/2006/main" noGrp="1"/>
          </p:cNvSpPr>
          <p:nvPr/>
        </p:nvSpPr>
        <p:spPr>
          <a:xfrm xmlns:a="http://schemas.openxmlformats.org/drawingml/2006/main">
            <a:off x="11287125" y="6591300"/>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1">
                <a:solidFill>
                  <a:srgbClr val="61788A"/>
                </a:solidFill>
                <a:latin typeface="Arial"/>
                <a:ea typeface="Arial"/>
                <a:cs typeface="Arial"/>
              </a:defRPr>
            </a:pPr>
            <a:r>
              <a:rPr sz="750" b="1">
                <a:solidFill>
                  <a:srgbClr val="61788A"/>
                </a:solidFill>
                <a:latin typeface="Arial"/>
                <a:ea typeface="Arial"/>
                <a:cs typeface="Arial"/>
              </a:rPr>
              <a:t>07</a:t>
            </a:r>
          </a:p>
        </p:txBody>
      </p:sp>
    </p:spTree>
    <p:extLst>
      <p:ext uri="{BB962C8B-B14F-4D97-AF65-F5344CB8AC3E}">
        <p14:creationId xmlns:p14="http://schemas.microsoft.com/office/powerpoint/2010/main" val="4854656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2026-10-02T23:32:03.6200000Z</dcterms:created>
  <dcterms:modified xsi:type="dcterms:W3CDTF">2026-10-02T23:32:03.6200000Z</dcterms:modified>
</coreProperties>
</file>